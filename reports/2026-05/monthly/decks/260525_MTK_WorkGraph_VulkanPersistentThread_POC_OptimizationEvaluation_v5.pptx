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Segoe UI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Segoe UI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Segoe UI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Segoe UI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Segoe UI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Segoe UI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Segoe UI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Segoe UI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Segoe UI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411480"/>
            <a:ext cx="2834640" cy="21031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000" b="1">
                <a:solidFill>
                  <a:srgbClr val="1F77B4"/>
                </a:solidFill>
                <a:latin typeface="Bahnschrift"/>
              </a:defRPr>
            </a:pPr>
            <a:r>
              <a:t>MONTHLY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68680"/>
            <a:ext cx="8503920" cy="98755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4200" b="1">
                <a:solidFill>
                  <a:srgbClr val="111111"/>
                </a:solidFill>
                <a:latin typeface="Bahnschrift"/>
              </a:defRPr>
            </a:pPr>
            <a:r>
              <a:t>Vulkan Persistent Thread</a:t>
            </a:r>
            <a:br/>
            <a:r>
              <a:t>WorkGraph POC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148840"/>
            <a:ext cx="996696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800" b="1">
                <a:solidFill>
                  <a:srgbClr val="333333"/>
                </a:solidFill>
                <a:latin typeface="Bahnschrift"/>
              </a:defRPr>
            </a:pPr>
            <a:r>
              <a:t>May 2026 evaluation: queue atomics set the bottleneck, and sharding removes it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2971800"/>
            <a:ext cx="2240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2971800"/>
            <a:ext cx="2240280" cy="73152"/>
          </a:xfrm>
          <a:prstGeom prst="rect">
            <a:avLst/>
          </a:prstGeom>
          <a:solidFill>
            <a:srgbClr val="D97000"/>
          </a:solidFill>
          <a:ln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3136392"/>
            <a:ext cx="209397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D97000"/>
                </a:solidFill>
                <a:latin typeface="Bahnschrift"/>
              </a:defRPr>
            </a:pPr>
            <a:r>
              <a:t>30.75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75304"/>
            <a:ext cx="205740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Starting median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67912"/>
            <a:ext cx="205740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Segoe UI"/>
              </a:defRPr>
            </a:pPr>
            <a:r>
              <a:t>clean timestamp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971800"/>
            <a:ext cx="2240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46120" y="2971800"/>
            <a:ext cx="224028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9272" y="3136392"/>
            <a:ext cx="209397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Bahnschrift"/>
              </a:defRPr>
            </a:pPr>
            <a:r>
              <a:t>0.99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3575304"/>
            <a:ext cx="205740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Final repeat median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867912"/>
            <a:ext cx="205740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Segoe UI"/>
              </a:defRPr>
            </a:pPr>
            <a:r>
              <a:t>main defaults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06440" y="2971800"/>
            <a:ext cx="224028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06440" y="2971800"/>
            <a:ext cx="224028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79592" y="3136392"/>
            <a:ext cx="209397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Bahnschrift"/>
              </a:defRPr>
            </a:pPr>
            <a:r>
              <a:t>31.0x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97879" y="3575304"/>
            <a:ext cx="205740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Median speedup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79" y="3867912"/>
            <a:ext cx="205740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Segoe UI"/>
              </a:defRPr>
            </a:pPr>
            <a:r>
              <a:t>same workload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4663440"/>
            <a:ext cx="9921240" cy="65836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500" b="0">
                <a:solidFill>
                  <a:srgbClr val="333333"/>
                </a:solidFill>
                <a:latin typeface="Segoe UI"/>
              </a:defRPr>
            </a:pPr>
            <a:r>
              <a:t>Adopt Q1/Q2 sharding and lane-based Q1 pop. Keep request batching out of the main path because the default 256-shard suite regresses.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6263640"/>
            <a:ext cx="2926080" cy="1828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Segoe UI"/>
              </a:defRPr>
            </a:pPr>
            <a:r>
              <a:t>AMD RX 7900 XTX / RDNA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Segoe UI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Bahnschrift"/>
              </a:defRPr>
            </a:pPr>
            <a:r>
              <a:t>Queue atomics explain the measured gains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94360" y="1325880"/>
            <a:ext cx="2468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58952" y="1517904"/>
            <a:ext cx="1143000" cy="256032"/>
          </a:xfrm>
          <a:prstGeom prst="rect">
            <a:avLst/>
          </a:prstGeom>
          <a:solidFill>
            <a:srgbClr val="D97000"/>
          </a:solidFill>
          <a:ln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54533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965960"/>
            <a:ext cx="210312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600" b="1">
                <a:solidFill>
                  <a:srgbClr val="D97000"/>
                </a:solidFill>
                <a:latin typeface="Bahnschrift"/>
              </a:defRPr>
            </a:pPr>
            <a:r>
              <a:t>Bottleneck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87168"/>
            <a:ext cx="2103120" cy="1463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Clean median falls when a change reduces shared Q1/Q2 queue pressure.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83279" y="1325880"/>
            <a:ext cx="2468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547872" y="1517904"/>
            <a:ext cx="1143000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47872" y="154533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1965960"/>
            <a:ext cx="210312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600" b="1">
                <a:solidFill>
                  <a:srgbClr val="1F77B4"/>
                </a:solidFill>
                <a:latin typeface="Bahnschrift"/>
              </a:defRPr>
            </a:pPr>
            <a:r>
              <a:t>Boundary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66160" y="2487168"/>
            <a:ext cx="2103120" cy="1463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Timestamp-only runs carry duration. Counter runs explain CAS, backlog, and ready-spin.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1325880"/>
            <a:ext cx="2468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6792" y="1517904"/>
            <a:ext cx="1143000" cy="2560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36792" y="154533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ADOPT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1965960"/>
            <a:ext cx="210312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600" b="1">
                <a:solidFill>
                  <a:srgbClr val="2E7D32"/>
                </a:solidFill>
                <a:latin typeface="Bahnschrift"/>
              </a:defRPr>
            </a:pPr>
            <a:r>
              <a:t>Adopt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2487168"/>
            <a:ext cx="2103120" cy="1463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Q1 shards, Q2 shards, and lane-based Q1 pop reach about 0.99 ms median.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19" y="1325880"/>
            <a:ext cx="24688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125711" y="1517904"/>
            <a:ext cx="1143000" cy="256032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25711" y="1545336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REJECT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3999" y="1965960"/>
            <a:ext cx="210312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600" b="1">
                <a:solidFill>
                  <a:srgbClr val="C62828"/>
                </a:solidFill>
                <a:latin typeface="Bahnschrift"/>
              </a:defRPr>
            </a:pPr>
            <a:r>
              <a:t>Reject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3999" y="2487168"/>
            <a:ext cx="2103120" cy="1463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Segoe UI"/>
              </a:defRPr>
            </a:pPr>
            <a:r>
              <a:t>Q2 request batching pushes the default 256-shard suite into the 11 ms band.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892040"/>
            <a:ext cx="10698480" cy="53035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Bahnschrift"/>
              </a:defRPr>
            </a:pPr>
            <a:r>
              <a:t>The adopted path moves 30.75 ms to 0.99 ms without using shader counters in the timing run.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Segoe UI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Bahnschrift"/>
              </a:defRPr>
            </a:pPr>
            <a:r>
              <a:t>Only Q1/Q2 handoff points are shared global queue state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594360" y="1828800"/>
            <a:ext cx="123444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938528"/>
            <a:ext cx="108813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Bahnschrift"/>
              </a:defRPr>
            </a:pPr>
            <a:r>
              <a:t>Node 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240280"/>
            <a:ext cx="108813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Segoe UI"/>
              </a:defRPr>
            </a:pPr>
            <a:r>
              <a:t>Seed edges once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1828800"/>
            <a:ext cx="150876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13432" y="1938528"/>
            <a:ext cx="13624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Bahnschrift"/>
              </a:defRPr>
            </a:pPr>
            <a:r>
              <a:t>Q1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13432" y="2240280"/>
            <a:ext cx="136245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Segoe UI"/>
              </a:defRPr>
            </a:pPr>
            <a:r>
              <a:t>atomic count/head/tail</a:t>
            </a:r>
            <a:br/>
            <a:r>
              <a:t>ready flag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828800"/>
            <a:ext cx="141732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33672" y="1938528"/>
            <a:ext cx="127101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Bahnschrift"/>
              </a:defRPr>
            </a:pPr>
            <a:r>
              <a:t>Node 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33672" y="2240280"/>
            <a:ext cx="127101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Segoe UI"/>
              </a:defRPr>
            </a:pPr>
            <a:r>
              <a:t>Subdivide work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1828800"/>
            <a:ext cx="150876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62472" y="1938528"/>
            <a:ext cx="13624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Bahnschrift"/>
              </a:defRPr>
            </a:pPr>
            <a:r>
              <a:t>Q2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2240280"/>
            <a:ext cx="136245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Segoe UI"/>
              </a:defRPr>
            </a:pPr>
            <a:r>
              <a:t>atomic count/head/tail</a:t>
            </a:r>
            <a:br/>
            <a:r>
              <a:t>ready flag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09560" y="1828800"/>
            <a:ext cx="141732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82712" y="1938528"/>
            <a:ext cx="127101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Bahnschrift"/>
              </a:defRPr>
            </a:pPr>
            <a:r>
              <a:t>Node 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82712" y="2240280"/>
            <a:ext cx="127101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Segoe UI"/>
              </a:defRPr>
            </a:pPr>
            <a:r>
              <a:t>Write vertices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38360" y="1828800"/>
            <a:ext cx="1508760" cy="77724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11512" y="1938528"/>
            <a:ext cx="13624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Bahnschrift"/>
              </a:defRPr>
            </a:pPr>
            <a:r>
              <a:t>VB Render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11512" y="2240280"/>
            <a:ext cx="1362456" cy="32004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Segoe UI"/>
              </a:defRPr>
            </a:pPr>
            <a:r>
              <a:t>Deterministic draw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828800" y="2212848"/>
            <a:ext cx="411480" cy="0"/>
          </a:xfrm>
          <a:prstGeom prst="line">
            <a:avLst/>
          </a:prstGeom>
          <a:ln w="20320">
            <a:solidFill>
              <a:srgbClr val="6E6E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3749039" y="2212848"/>
            <a:ext cx="411481" cy="0"/>
          </a:xfrm>
          <a:prstGeom prst="line">
            <a:avLst/>
          </a:prstGeom>
          <a:ln w="20320">
            <a:solidFill>
              <a:srgbClr val="6E6E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5577840" y="2212848"/>
            <a:ext cx="411480" cy="0"/>
          </a:xfrm>
          <a:prstGeom prst="line">
            <a:avLst/>
          </a:prstGeom>
          <a:ln w="20320">
            <a:solidFill>
              <a:srgbClr val="6E6E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498079" y="2212848"/>
            <a:ext cx="411481" cy="0"/>
          </a:xfrm>
          <a:prstGeom prst="line">
            <a:avLst/>
          </a:prstGeom>
          <a:ln w="20320">
            <a:solidFill>
              <a:srgbClr val="6E6E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326880" y="2212848"/>
            <a:ext cx="411480" cy="0"/>
          </a:xfrm>
          <a:prstGeom prst="line">
            <a:avLst/>
          </a:prstGeom>
          <a:ln w="20320">
            <a:solidFill>
              <a:srgbClr val="6E6E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594360" y="333756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520440"/>
            <a:ext cx="4480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550" b="1">
                <a:solidFill>
                  <a:srgbClr val="D97000"/>
                </a:solidFill>
                <a:latin typeface="Bahnschrift"/>
              </a:defRPr>
            </a:pPr>
            <a:r>
              <a:t>Shared fields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913632"/>
            <a:ext cx="44805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- Q1/Q2 count, head, tail, and ready flags synchronize cross-workgroup handoff.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- Many lanes and workgroups touch the same fields before sharding.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72200" y="3337560"/>
            <a:ext cx="5074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3520440"/>
            <a:ext cx="4480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550" b="1">
                <a:solidFill>
                  <a:srgbClr val="1F77B4"/>
                </a:solidFill>
                <a:latin typeface="Bahnschrift"/>
              </a:defRPr>
            </a:pPr>
            <a:r>
              <a:t>Test question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3913632"/>
            <a:ext cx="448056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- Candidate changes must reduce clean duration, queue contention, or both.</a:t>
            </a:r>
          </a:p>
          <a:p>
            <a:pPr>
              <a:spcAft>
                <a:spcPts val="500"/>
              </a:spcAft>
              <a:defRPr sz="1200">
                <a:solidFill>
                  <a:srgbClr val="333333"/>
                </a:solidFill>
                <a:latin typeface="Segoe UI"/>
              </a:defRPr>
            </a:pPr>
            <a:r>
              <a:t>- Reject cost shifts into polling or ready-spin.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Segoe UI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Bahnschrift"/>
              </a:defRPr>
            </a:pPr>
            <a:r>
              <a:t>Clean timing plus counters define the adoption rule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325880"/>
            <a:ext cx="5074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572768"/>
            <a:ext cx="1143000" cy="256032"/>
          </a:xfrm>
          <a:prstGeom prst="rect">
            <a:avLst/>
          </a:prstGeom>
          <a:solidFill>
            <a:srgbClr val="6E6E6E"/>
          </a:solidFill>
          <a:ln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60020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PRIOR REPORT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993392"/>
            <a:ext cx="4480560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800" b="1">
                <a:solidFill>
                  <a:srgbClr val="111111"/>
                </a:solidFill>
                <a:latin typeface="Bahnschrift"/>
              </a:defRPr>
            </a:pPr>
            <a:r>
              <a:t>Before May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389120" cy="1417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Segoe UI"/>
              </a:defRPr>
            </a:pPr>
            <a:r>
              <a:t>- The POC produced correct deterministic output.</a:t>
            </a:r>
          </a:p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Segoe UI"/>
              </a:defRPr>
            </a:pPr>
            <a:r>
              <a:t>- Persistent workers exchanged work through global atomic queues.</a:t>
            </a:r>
          </a:p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Segoe UI"/>
              </a:defRPr>
            </a:pPr>
            <a:r>
              <a:t>- Duration runs still carried diagnostic counters.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5074920" cy="38862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629400" y="1572768"/>
            <a:ext cx="1143000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600200"/>
            <a:ext cx="11430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RULE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1993392"/>
            <a:ext cx="4480560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800" b="1">
                <a:solidFill>
                  <a:srgbClr val="1F77B4"/>
                </a:solidFill>
                <a:latin typeface="Bahnschrift"/>
              </a:defRPr>
            </a:pPr>
            <a:r>
              <a:t>Decision rule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2514600"/>
            <a:ext cx="4389120" cy="141732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Segoe UI"/>
              </a:defRPr>
            </a:pPr>
            <a:r>
              <a:t>- Clean timestamp runs set the performance number.</a:t>
            </a:r>
          </a:p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Segoe UI"/>
              </a:defRPr>
            </a:pPr>
            <a:r>
              <a:t>- Counter-enabled runs diagnose CAS retries, backlog, and polling.</a:t>
            </a:r>
          </a:p>
          <a:p>
            <a:pPr>
              <a:spcAft>
                <a:spcPts val="500"/>
              </a:spcAft>
              <a:defRPr sz="1350">
                <a:solidFill>
                  <a:srgbClr val="333333"/>
                </a:solidFill>
                <a:latin typeface="Segoe UI"/>
              </a:defRPr>
            </a:pPr>
            <a:r>
              <a:t>- Adopt clean-timing improvements.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77840"/>
            <a:ext cx="10332720" cy="502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11111"/>
                </a:solidFill>
                <a:latin typeface="Bahnschrift"/>
              </a:defRPr>
            </a:pPr>
            <a:r>
              <a:t>The conclusion rests on a narrow rule: duration proves impact; counters explain the mechanism.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Segoe UI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Bahnschrift"/>
              </a:defRPr>
            </a:pPr>
            <a:r>
              <a:t>Timing and counters answer different questions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325880"/>
          <a:ext cx="108356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920240"/>
                <a:gridCol w="3291840"/>
                <a:gridCol w="3611880"/>
              </a:tblGrid>
              <a:tr h="51435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Run type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Purpose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Primary readout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What it supports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Clean timestamp runs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Performance claim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Median compute_ms after warmup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Duration, speedup, adoption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Counter-enabled runs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Mechanism check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CAS fail ratio, backlog, ready-spin, empty-pop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Queue contention diagnosis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RGP occupancy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Context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Wavefront view and event timing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Profiler boundary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" y="388620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3886200"/>
            <a:ext cx="329184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4050791"/>
            <a:ext cx="31455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Bahnschrift"/>
              </a:defRPr>
            </a:pPr>
            <a:r>
              <a:t>Adopt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4489704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Clean runs decide if a change stays.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388620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34840" y="3886200"/>
            <a:ext cx="3291840" cy="73152"/>
          </a:xfrm>
          <a:prstGeom prst="rect">
            <a:avLst/>
          </a:prstGeom>
          <a:solidFill>
            <a:srgbClr val="D97000"/>
          </a:solidFill>
          <a:ln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07992" y="4050791"/>
            <a:ext cx="31455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D97000"/>
                </a:solidFill>
                <a:latin typeface="Bahnschrift"/>
              </a:defRPr>
            </a:pPr>
            <a:r>
              <a:t>Diagnose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79" y="4489704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Counters identify the queue failure mode.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92440" y="3886200"/>
            <a:ext cx="3291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3886200"/>
            <a:ext cx="3291840" cy="73152"/>
          </a:xfrm>
          <a:prstGeom prst="rect">
            <a:avLst/>
          </a:prstGeom>
          <a:solidFill>
            <a:srgbClr val="6E6E6E"/>
          </a:solidFill>
          <a:ln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4050791"/>
            <a:ext cx="31455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6E6E6E"/>
                </a:solidFill>
                <a:latin typeface="Bahnschrift"/>
              </a:defRPr>
            </a:pPr>
            <a:r>
              <a:t>Bound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83879" y="4489704"/>
            <a:ext cx="31089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RGP views set scope; timing carries proof.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440680"/>
            <a:ext cx="10332720" cy="502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Bahnschrift"/>
              </a:defRPr>
            </a:pPr>
            <a:r>
              <a:t>Separating run types keeps counter instrumentation out of the performance result.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Segoe UI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Bahnschrift"/>
              </a:defRPr>
            </a:pPr>
            <a:r>
              <a:t>Each atomic metric maps to a queue failure mode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101852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4023360"/>
                <a:gridCol w="4754880"/>
              </a:tblGrid>
              <a:tr h="548640"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Metric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Interpretation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Decision use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CAS fail per success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Lanes or workgroups retry the same queue state.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High contention; sharding should reduce the retry rate.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Attempts vs success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The control path burns operations without throughput.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Detects wasted polling.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Queue high-water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Backlog exposes producer/consumer imbalance.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Guides B/C balance and Q2 pressure checks.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Ready-spin / empty-pop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Consumers claim or probe before useful work is ready.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Explains request batching regressions.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Clean vs counter runs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The run type separates duration from diagnosis.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8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Keeps cause analysis out of headline timing.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4892040"/>
            <a:ext cx="10607040" cy="594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11111"/>
                </a:solidFill>
                <a:latin typeface="Bahnschrift"/>
              </a:defRPr>
            </a:pPr>
            <a:r>
              <a:t>A change earns confidence when clean duration improves and the relevant counter pressure moves in the same direction.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Segoe UI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Bahnschrift"/>
              </a:defRPr>
            </a:pPr>
            <a:r>
              <a:t>Queue-locality changes drove a 31.0x median speedup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timeline_median_comp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143000"/>
            <a:ext cx="5715000" cy="1944634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720840" y="1216152"/>
            <a:ext cx="2148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720840" y="1216152"/>
            <a:ext cx="2148840" cy="73152"/>
          </a:xfrm>
          <a:prstGeom prst="rect">
            <a:avLst/>
          </a:prstGeom>
          <a:solidFill>
            <a:srgbClr val="D97000"/>
          </a:solidFill>
          <a:ln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93992" y="1380744"/>
            <a:ext cx="20025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D97000"/>
                </a:solidFill>
                <a:latin typeface="Bahnschrift"/>
              </a:defRPr>
            </a:pPr>
            <a:r>
              <a:t>30.75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79" y="1819656"/>
            <a:ext cx="19659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Starting median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12279" y="2112264"/>
            <a:ext cx="196596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Segoe UI"/>
              </a:defRPr>
            </a:pPr>
            <a:r>
              <a:t>clean timestamp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0" y="1216152"/>
            <a:ext cx="2148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0" y="1216152"/>
            <a:ext cx="21488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217152" y="1380744"/>
            <a:ext cx="20025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Bahnschrift"/>
              </a:defRPr>
            </a:pPr>
            <a:r>
              <a:t>0.99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35440" y="1819656"/>
            <a:ext cx="19659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Final repeat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112264"/>
            <a:ext cx="196596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Segoe UI"/>
              </a:defRPr>
            </a:pPr>
            <a:r>
              <a:t>main defaults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36992" y="2578608"/>
            <a:ext cx="214884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36992" y="2578608"/>
            <a:ext cx="214884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10144" y="2743200"/>
            <a:ext cx="20025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Bahnschrift"/>
              </a:defRPr>
            </a:pPr>
            <a:r>
              <a:t>31.0x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3182112"/>
            <a:ext cx="19659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Median speedup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28431" y="3474720"/>
            <a:ext cx="1965960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Segoe UI"/>
              </a:defRPr>
            </a:pPr>
            <a:r>
              <a:t>same workload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58368" y="4434840"/>
            <a:ext cx="1664208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19" y="4553712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30" b="1">
                <a:solidFill>
                  <a:srgbClr val="D97000"/>
                </a:solidFill>
                <a:latin typeface="Segoe UI"/>
              </a:defRPr>
            </a:pPr>
            <a:r>
              <a:t>Baseline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19" y="4800600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19" b="1">
                <a:solidFill>
                  <a:srgbClr val="111111"/>
                </a:solidFill>
                <a:latin typeface="Segoe UI"/>
              </a:defRPr>
            </a:pPr>
            <a:r>
              <a:t>30.7499 ms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32887" y="4434840"/>
            <a:ext cx="1664208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606039" y="4553712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30" b="1">
                <a:solidFill>
                  <a:srgbClr val="1F77B4"/>
                </a:solidFill>
                <a:latin typeface="Segoe UI"/>
              </a:defRPr>
            </a:pPr>
            <a:r>
              <a:t>B/C ratio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06039" y="4800600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19" b="1">
                <a:solidFill>
                  <a:srgbClr val="111111"/>
                </a:solidFill>
                <a:latin typeface="Segoe UI"/>
              </a:defRPr>
            </a:pPr>
            <a:r>
              <a:t>27.8938 ms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07407" y="4434840"/>
            <a:ext cx="1664208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59" y="4553712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30" b="1">
                <a:solidFill>
                  <a:srgbClr val="2E7D32"/>
                </a:solidFill>
                <a:latin typeface="Segoe UI"/>
              </a:defRPr>
            </a:pPr>
            <a:r>
              <a:t>Q1 sharding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59" y="4800600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19" b="1">
                <a:solidFill>
                  <a:srgbClr val="111111"/>
                </a:solidFill>
                <a:latin typeface="Segoe UI"/>
              </a:defRPr>
            </a:pPr>
            <a:r>
              <a:t>13.7416 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81927" y="4434840"/>
            <a:ext cx="1664208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79" y="4553712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30" b="1">
                <a:solidFill>
                  <a:srgbClr val="2E7D32"/>
                </a:solidFill>
                <a:latin typeface="Segoe UI"/>
              </a:defRPr>
            </a:pPr>
            <a:r>
              <a:t>Q2 sharding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79" y="4800600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19" b="1">
                <a:solidFill>
                  <a:srgbClr val="111111"/>
                </a:solidFill>
                <a:latin typeface="Segoe UI"/>
              </a:defRPr>
            </a:pPr>
            <a:r>
              <a:t>5.5708 ms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56448" y="4434840"/>
            <a:ext cx="1664208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0" y="4553712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30" b="1">
                <a:solidFill>
                  <a:srgbClr val="2E7D32"/>
                </a:solidFill>
                <a:latin typeface="Segoe UI"/>
              </a:defRPr>
            </a:pPr>
            <a:r>
              <a:t>Q1 lane-pop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800600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19" b="1">
                <a:solidFill>
                  <a:srgbClr val="111111"/>
                </a:solidFill>
                <a:latin typeface="Segoe UI"/>
              </a:defRPr>
            </a:pPr>
            <a:r>
              <a:t>3.8509 ms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030968" y="4434840"/>
            <a:ext cx="1664208" cy="768096"/>
          </a:xfrm>
          <a:prstGeom prst="rect">
            <a:avLst/>
          </a:prstGeom>
          <a:solidFill>
            <a:srgbClr val="FFFFFF"/>
          </a:solidFill>
          <a:ln w="15875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04120" y="4553712"/>
            <a:ext cx="1517904" cy="182880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30" b="1">
                <a:solidFill>
                  <a:srgbClr val="2E7D32"/>
                </a:solidFill>
                <a:latin typeface="Segoe UI"/>
              </a:defRPr>
            </a:pPr>
            <a:r>
              <a:t>High shard scaling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04120" y="4800600"/>
            <a:ext cx="1517904" cy="201168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19" b="1">
                <a:solidFill>
                  <a:srgbClr val="111111"/>
                </a:solidFill>
                <a:latin typeface="Segoe UI"/>
              </a:defRPr>
            </a:pPr>
            <a:r>
              <a:t>0.9868 ms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85800" y="5532120"/>
            <a:ext cx="10332720" cy="502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2E7D32"/>
                </a:solidFill>
                <a:latin typeface="Bahnschrift"/>
              </a:defRPr>
            </a:pPr>
            <a:r>
              <a:t>Every large drop follows a queue split or scan-diversification step; request batching stays outside the adopted path.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Segoe UI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Bahnschrift"/>
              </a:defRPr>
            </a:pPr>
            <a:r>
              <a:t>C/B tuning reduces backlog; sharding remains necessary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325880"/>
          <a:ext cx="37490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325880"/>
                <a:gridCol w="1325880"/>
              </a:tblGrid>
              <a:tr h="37338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C/B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Median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Avg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24/72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30.7499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30.3533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32/64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28.5262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28.4431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40/56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27.8938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27.9742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48/48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28.5412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28.5873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64/32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30.2860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30.2509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74920" y="1325880"/>
            <a:ext cx="6172200" cy="2057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0" y="1554480"/>
            <a:ext cx="914400" cy="25603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581912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READOUT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0" y="1965960"/>
            <a:ext cx="5440680" cy="329184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Bahnschrift"/>
              </a:defRPr>
            </a:pPr>
            <a:r>
              <a:t>Writer balance is a setup fix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0" y="2423160"/>
            <a:ext cx="5440680" cy="82296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50">
                <a:solidFill>
                  <a:srgbClr val="333333"/>
                </a:solidFill>
                <a:latin typeface="Segoe UI"/>
              </a:defRPr>
            </a:pPr>
            <a:r>
              <a:t>- C=40/B=56 lowers Q2 high-water from about 50k to about 9k.</a:t>
            </a:r>
          </a:p>
          <a:p>
            <a:pPr>
              <a:spcAft>
                <a:spcPts val="500"/>
              </a:spcAft>
              <a:defRPr sz="1250">
                <a:solidFill>
                  <a:srgbClr val="333333"/>
                </a:solidFill>
                <a:latin typeface="Segoe UI"/>
              </a:defRPr>
            </a:pPr>
            <a:r>
              <a:t>- Median improves by 2.86 ms, but the queue remains a shared atomic hotspot.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160520"/>
            <a:ext cx="2331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160520"/>
            <a:ext cx="233172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325112"/>
            <a:ext cx="21854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Bahnschrift"/>
              </a:defRPr>
            </a:pPr>
            <a:r>
              <a:t>50k -&gt; 9k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764024"/>
            <a:ext cx="21488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Q2 high-water trend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5056631"/>
            <a:ext cx="2148839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Segoe UI"/>
              </a:defRPr>
            </a:pPr>
            <a:r>
              <a:t>counter-enabled runs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4160520"/>
            <a:ext cx="23317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74720" y="4160520"/>
            <a:ext cx="233172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7872" y="4325112"/>
            <a:ext cx="21854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Bahnschrift"/>
              </a:defRPr>
            </a:pPr>
            <a:r>
              <a:t>30.75 -&gt; 27.89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66160" y="4764024"/>
            <a:ext cx="21488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Median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056631"/>
            <a:ext cx="2148839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Segoe UI"/>
              </a:defRPr>
            </a:pPr>
            <a:r>
              <a:t>clean runs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40" y="4315968"/>
            <a:ext cx="4663440" cy="7315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Bahnschrift"/>
              </a:defRPr>
            </a:pPr>
            <a:r>
              <a:t>Set C=40/B=56 before testing structural queue changes.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Segoe UI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Bahnschrift"/>
              </a:defRPr>
            </a:pPr>
            <a:r>
              <a:t>Q1 sharding cuts median to 13.74 ms and exposes Q2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457200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960120"/>
                <a:gridCol w="1234440"/>
                <a:gridCol w="1234440"/>
              </a:tblGrid>
              <a:tr h="434340"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Q1 shards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C/B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Median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Avg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40/56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23.3164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23.2366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40/56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17.9518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17.9043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36/60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13.9788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13.9523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38/58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13.7416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13.7046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40/56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14.1297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14.084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943600" y="1417320"/>
            <a:ext cx="1737360" cy="86868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016752" y="1527048"/>
            <a:ext cx="15910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Bahnschrift"/>
              </a:defRPr>
            </a:pPr>
            <a:r>
              <a:t>Before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16752" y="1828800"/>
            <a:ext cx="1591056" cy="411479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Segoe UI"/>
              </a:defRPr>
            </a:pPr>
            <a:r>
              <a:t>Single Q1 queue</a:t>
            </a:r>
            <a:br/>
            <a:r>
              <a:t>hot count/head/tail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818120" y="1847088"/>
            <a:ext cx="640080" cy="0"/>
          </a:xfrm>
          <a:prstGeom prst="line">
            <a:avLst/>
          </a:prstGeom>
          <a:ln w="20320">
            <a:solidFill>
              <a:srgbClr val="6E6E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8641080" y="1417320"/>
            <a:ext cx="2194560" cy="868680"/>
          </a:xfrm>
          <a:prstGeom prst="rect">
            <a:avLst/>
          </a:prstGeom>
          <a:solidFill>
            <a:srgbClr val="FFFFFF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14232" y="1527048"/>
            <a:ext cx="2048255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2E7D32"/>
                </a:solidFill>
                <a:latin typeface="Bahnschrift"/>
              </a:defRPr>
            </a:pPr>
            <a: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14232" y="1828800"/>
            <a:ext cx="2048255" cy="411479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Segoe UI"/>
              </a:defRPr>
            </a:pPr>
            <a:r>
              <a:t>Q1 split across shards</a:t>
            </a:r>
            <a:br/>
            <a:r>
              <a:t>same queue protocol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2743200"/>
            <a:ext cx="5029200" cy="123444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30">
                <a:solidFill>
                  <a:srgbClr val="333333"/>
                </a:solidFill>
                <a:latin typeface="Segoe UI"/>
              </a:defRPr>
            </a:pPr>
            <a:r>
              <a:t>- Q1 sharding turns one global atomic queue into 16 smaller queues.</a:t>
            </a:r>
          </a:p>
          <a:p>
            <a:pPr>
              <a:spcAft>
                <a:spcPts val="500"/>
              </a:spcAft>
              <a:defRPr sz="1230">
                <a:solidFill>
                  <a:srgbClr val="333333"/>
                </a:solidFill>
                <a:latin typeface="Segoe UI"/>
              </a:defRPr>
            </a:pPr>
            <a:r>
              <a:t>- After Q1 pressure drops, Q2 count/head/tail becomes the next bottleneck target.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343400"/>
            <a:ext cx="2423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" y="4343400"/>
            <a:ext cx="242316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507992"/>
            <a:ext cx="227685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Bahnschrift"/>
              </a:defRPr>
            </a:pPr>
            <a:r>
              <a:t>13.74 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46904"/>
            <a:ext cx="224027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Q1s16/Q2s1 median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498848"/>
            <a:ext cx="7132320" cy="594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Bahnschrift"/>
              </a:defRPr>
            </a:pPr>
            <a:r>
              <a:t>The result stacks with B/C tuning, so the gain tracks queue contention instead of an unrelated shader change.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Segoe UI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Bahnschrift"/>
              </a:defRPr>
            </a:pPr>
            <a:r>
              <a:t>Q2 sharding removes the second global queue wall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438912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143000"/>
                <a:gridCol w="1143000"/>
                <a:gridCol w="1051560"/>
              </a:tblGrid>
              <a:tr h="434340"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Q2 shards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Median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Avg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Speedup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16.9962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16.9529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10.2455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10.2431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1.655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8.3799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8.3824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2.022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6.8738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6.8656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2.469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6.0924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6.0839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6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2.787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486400" y="1234440"/>
            <a:ext cx="5669280" cy="2423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0" y="1490472"/>
            <a:ext cx="914400" cy="2560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15000" y="1517904"/>
            <a:ext cx="91440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15000" y="1901952"/>
            <a:ext cx="502920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700" b="1">
                <a:solidFill>
                  <a:srgbClr val="2E7D32"/>
                </a:solidFill>
                <a:latin typeface="Bahnschrift"/>
              </a:defRPr>
            </a:pPr>
            <a:r>
              <a:t>Shard Q2 before batching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2377440"/>
            <a:ext cx="5029200" cy="91440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230">
                <a:solidFill>
                  <a:srgbClr val="333333"/>
                </a:solidFill>
                <a:latin typeface="Segoe UI"/>
              </a:defRPr>
            </a:pPr>
            <a:r>
              <a:t>- Q2 median improves from 1 to 16 shards.</a:t>
            </a:r>
          </a:p>
          <a:p>
            <a:pPr>
              <a:spcAft>
                <a:spcPts val="500"/>
              </a:spcAft>
              <a:defRPr sz="1230">
                <a:solidFill>
                  <a:srgbClr val="333333"/>
                </a:solidFill>
                <a:latin typeface="Segoe UI"/>
              </a:defRPr>
            </a:pPr>
            <a:r>
              <a:t>- After B/C rebalance, Q1s16/Q2s16 reaches about 5.57 ms median.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4343400"/>
            <a:ext cx="2423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2960" y="4343400"/>
            <a:ext cx="242316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4507992"/>
            <a:ext cx="227685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Bahnschrift"/>
              </a:defRPr>
            </a:pPr>
            <a:r>
              <a:t>5.57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946904"/>
            <a:ext cx="224027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Q1s16/Q2s16 median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4343400"/>
            <a:ext cx="242316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66160" y="4343400"/>
            <a:ext cx="242316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39312" y="4507992"/>
            <a:ext cx="227685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Bahnschrift"/>
              </a:defRPr>
            </a:pPr>
            <a:r>
              <a:t>2.79x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4946904"/>
            <a:ext cx="224027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vs Q2s1 in sweep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4480560"/>
            <a:ext cx="4663440" cy="594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Bahnschrift"/>
              </a:defRPr>
            </a:pPr>
            <a:r>
              <a:t>The same pattern repeats: split the shared queue state, then retune worker balance.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Segoe UI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Bahnschrift"/>
              </a:defRPr>
            </a:pPr>
            <a:r>
              <a:t>Lane-pop removes same-shard starts inside a workgroup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54864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914400"/>
                <a:gridCol w="822960"/>
                <a:gridCol w="777240"/>
              </a:tblGrid>
              <a:tr h="537210"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Mode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Median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Avg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Min ms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lane-pop off, C=16/B=80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5.60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6.01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5.54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lane-pop on, C=16/B=80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4.00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4.39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3.90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37210"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lane-pop on, C=24/B=72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3.8509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3.8526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3.7292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583680" y="1234440"/>
            <a:ext cx="470916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12280" y="1508760"/>
            <a:ext cx="4160520" cy="329184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Bahnschrift"/>
              </a:defRPr>
            </a:pPr>
            <a:r>
              <a:t>Scan-start rule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920240"/>
            <a:ext cx="4069080" cy="4114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200" b="1">
                <a:solidFill>
                  <a:srgbClr val="D97000"/>
                </a:solidFill>
                <a:latin typeface="Bahnschrift"/>
              </a:defRPr>
            </a:pPr>
            <a:r>
              <a:t>Old: wgId % Q1_QUEUE_SHARDS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12280" y="2395728"/>
            <a:ext cx="4069080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100" b="1">
                <a:solidFill>
                  <a:srgbClr val="2E7D32"/>
                </a:solidFill>
                <a:latin typeface="Bahnschrift"/>
              </a:defRPr>
            </a:pPr>
            <a:r>
              <a:t>New: (wgId * local_size_x + localId) % Q1_QUEUE_SHARDS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39"/>
            <a:ext cx="10424160" cy="8229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11111"/>
                </a:solidFill>
                <a:latin typeface="Bahnschrift"/>
              </a:defRPr>
            </a:pPr>
            <a:r>
              <a:t>Lane-pop keeps the queue protocol intact. It changes where each lane begins scanning, so the improvement isolates shard-selection pressure.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Segoe UI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Bahnschrift"/>
              </a:defRPr>
            </a:pPr>
            <a:r>
              <a:t>256/256 is the measured knee of the shard-count tradeoff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Picture 4" descr="high_shard_scaling_medi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6400800" cy="216780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52360" y="1234440"/>
          <a:ext cx="36118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1280160"/>
                <a:gridCol w="1280160"/>
              </a:tblGrid>
              <a:tr h="335280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Q1/Q2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Median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P90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3.8509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3.8998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2.4002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2.4205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64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1.5427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1.5572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128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1.1372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1.1545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192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1.0808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1.0969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0.9868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1.0068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1.0478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1.0688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512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1.1178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1.1342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68680" y="4892040"/>
            <a:ext cx="23774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68680" y="48920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5056631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Bahnschrift"/>
              </a:defRPr>
            </a:pPr>
            <a:r>
              <a:t>256 / 256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54955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Adopted default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4983480"/>
            <a:ext cx="7223760" cy="6858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Bahnschrift"/>
              </a:defRPr>
            </a:pPr>
            <a:r>
              <a:t>The 256-shard point has the best median in the sweep; 384 and 512 add probe/index cost without improving the tail.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Segoe UI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Bahnschrift"/>
              </a:defRPr>
            </a:pPr>
            <a:r>
              <a:t>Request batching targets dequeue CAS first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85800" y="1417320"/>
            <a:ext cx="205740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527048"/>
            <a:ext cx="1911095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Bahnschrift"/>
              </a:defRPr>
            </a:pPr>
            <a:r>
              <a:t>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828800"/>
            <a:ext cx="1911095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Segoe UI"/>
              </a:defRPr>
            </a:pPr>
            <a:r>
              <a:t>Per-item dequeue CAS</a:t>
            </a:r>
            <a:br/>
            <a:r>
              <a:t>creates heavy retry traffic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926080" y="1874519"/>
            <a:ext cx="731520" cy="0"/>
          </a:xfrm>
          <a:prstGeom prst="line">
            <a:avLst/>
          </a:prstGeom>
          <a:ln w="20320">
            <a:solidFill>
              <a:srgbClr val="6E6E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794760" y="1417320"/>
            <a:ext cx="205740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67912" y="1527048"/>
            <a:ext cx="1911095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1F77B4"/>
                </a:solidFill>
                <a:latin typeface="Bahnschrift"/>
              </a:defRPr>
            </a:pPr>
            <a:r>
              <a:t>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67912" y="1828800"/>
            <a:ext cx="1911095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Segoe UI"/>
              </a:defRPr>
            </a:pPr>
            <a:r>
              <a:t>One subgroup claim</a:t>
            </a:r>
            <a:br/>
            <a:r>
              <a:t>reserves multiple slots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035040" y="1874519"/>
            <a:ext cx="731520" cy="0"/>
          </a:xfrm>
          <a:prstGeom prst="line">
            <a:avLst/>
          </a:prstGeom>
          <a:ln w="20320">
            <a:solidFill>
              <a:srgbClr val="6E6E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903720" y="1417320"/>
            <a:ext cx="205740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76872" y="1527048"/>
            <a:ext cx="1911095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2E7D32"/>
                </a:solidFill>
                <a:latin typeface="Bahnschrift"/>
              </a:defRPr>
            </a:pPr>
            <a:r>
              <a:t>Expected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76872" y="1828800"/>
            <a:ext cx="1911095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Segoe UI"/>
              </a:defRPr>
            </a:pPr>
            <a:r>
              <a:t>Fewer CAS attempts</a:t>
            </a:r>
            <a:br/>
            <a:r>
              <a:t>per consumed item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44000" y="1874519"/>
            <a:ext cx="731520" cy="0"/>
          </a:xfrm>
          <a:prstGeom prst="line">
            <a:avLst/>
          </a:prstGeom>
          <a:ln w="20320">
            <a:solidFill>
              <a:srgbClr val="6E6E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10012680" y="1417320"/>
            <a:ext cx="1508760" cy="914400"/>
          </a:xfrm>
          <a:prstGeom prst="rect">
            <a:avLst/>
          </a:prstGeom>
          <a:solidFill>
            <a:srgbClr val="FFFFFF"/>
          </a:solidFill>
          <a:ln w="17780">
            <a:solidFill>
              <a:srgbClr val="D97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85832" y="1527048"/>
            <a:ext cx="136245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D97000"/>
                </a:solidFill>
                <a:latin typeface="Bahnschrift"/>
              </a:defRPr>
            </a:pPr>
            <a:r>
              <a:t>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85832" y="1828800"/>
            <a:ext cx="1362456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Segoe UI"/>
              </a:defRPr>
            </a:pPr>
            <a:r>
              <a:t>More ready-spin</a:t>
            </a:r>
            <a:br/>
            <a:r>
              <a:t>or empty slots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246120"/>
            <a:ext cx="106984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3520440"/>
            <a:ext cx="10058400" cy="34747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700" b="1">
                <a:solidFill>
                  <a:srgbClr val="1F77B4"/>
                </a:solidFill>
                <a:latin typeface="Bahnschrift"/>
              </a:defRPr>
            </a:pPr>
            <a:r>
              <a:t>Adoption test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950208"/>
            <a:ext cx="9966960" cy="4572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350" b="1">
                <a:solidFill>
                  <a:srgbClr val="111111"/>
                </a:solidFill>
                <a:latin typeface="Bahnschrift"/>
              </a:defRPr>
            </a:pPr>
            <a:r>
              <a:t>A batch claim must lower clean median and P90 in the default 256-shard suite without moving cost into ready-spin or empty-slot 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Segoe UI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Bahnschrift"/>
              </a:defRPr>
            </a:pPr>
            <a:r>
              <a:t>Default 256-shard batching regresses, so it stays out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85800" y="11430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43000"/>
            <a:ext cx="2651760" cy="73152"/>
          </a:xfrm>
          <a:prstGeom prst="rect">
            <a:avLst/>
          </a:prstGeom>
          <a:solidFill>
            <a:srgbClr val="6E6E6E"/>
          </a:solidFill>
          <a:ln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307592"/>
            <a:ext cx="250545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6E6E6E"/>
                </a:solidFill>
                <a:latin typeface="Bahnschrift"/>
              </a:defRPr>
            </a:pPr>
            <a:r>
              <a:t>1.9432 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46504"/>
            <a:ext cx="246887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Default off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39112"/>
            <a:ext cx="2468879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Segoe UI"/>
              </a:defRPr>
            </a:pPr>
            <a:r>
              <a:t>suite-local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143000"/>
            <a:ext cx="2651760" cy="1051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1143000"/>
            <a:ext cx="2651760" cy="73152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30752" y="1307592"/>
            <a:ext cx="250545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C62828"/>
                </a:solidFill>
                <a:latin typeface="Bahnschrift"/>
              </a:defRPr>
            </a:pPr>
            <a:r>
              <a:t>11 ms range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1746504"/>
            <a:ext cx="246887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Default batching result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039112"/>
            <a:ext cx="2468879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50" b="0">
                <a:solidFill>
                  <a:srgbClr val="666666"/>
                </a:solidFill>
                <a:latin typeface="Segoe UI"/>
              </a:defRPr>
            </a:pPr>
            <a:r>
              <a:t>L8/L16/L32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12280" y="1207008"/>
            <a:ext cx="4297680" cy="8686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Bahnschrift"/>
              </a:defRPr>
            </a:pPr>
            <a:r>
              <a:t>Stress cases can improve, but the default path moves from 1.94 ms off-baseline into the 11 ms band.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2788920"/>
          <a:ext cx="525780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960120"/>
                <a:gridCol w="1371600"/>
                <a:gridCol w="1371600"/>
              </a:tblGrid>
              <a:tr h="280035"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Default 256 suite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Samples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Median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P90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off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1.9432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1.9691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11.7109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11.7553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11.4284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11.4658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354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11.2778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11.3034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280035"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no samples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55080" y="2788920"/>
          <a:ext cx="49377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1554480"/>
              </a:tblGrid>
              <a:tr h="320040"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Stress 16 suite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Median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P90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off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4.2442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4.9059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4.2553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4.6734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4.1737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5.1022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4.2623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5.3898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l32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4.1165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4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5.2635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749808" y="5394960"/>
            <a:ext cx="10149840" cy="4114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C62828"/>
                </a:solidFill>
                <a:latin typeface="Bahnschrift"/>
              </a:defRPr>
            </a:pPr>
            <a:r>
              <a:t>Decision: reject batching for the current main protocol; revisit it only after the queue protocol changes.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Segoe UI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Bahnschrift"/>
              </a:defRPr>
            </a:pPr>
            <a:r>
              <a:t>The main path encodes the proven queue changes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77240" y="12344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2344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" y="1399032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Bahnschrift"/>
              </a:defRPr>
            </a:pPr>
            <a:r>
              <a:t>256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8379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Q1 shards</a:t>
            </a:r>
          </a:p>
        </p:txBody>
      </p:sp>
      <p:sp>
        <p:nvSpPr>
          <p:cNvPr id="9" name="Rectangle 8"/>
          <p:cNvSpPr/>
          <p:nvPr/>
        </p:nvSpPr>
        <p:spPr>
          <a:xfrm>
            <a:off x="3429000" y="12344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2344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1399032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Bahnschrift"/>
              </a:defRPr>
            </a:pPr>
            <a:r>
              <a:t>256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18379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Q2 shards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12344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12344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3912" y="1399032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Bahnschrift"/>
              </a:defRPr>
            </a:pPr>
            <a:r>
              <a:t>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18379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Q1 lane-pop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1234440"/>
            <a:ext cx="23774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732520" y="1234440"/>
            <a:ext cx="237744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5672" y="1399032"/>
            <a:ext cx="2231136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Bahnschrift"/>
              </a:defRPr>
            </a:pPr>
            <a:r>
              <a:t>24 / 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60" y="1837944"/>
            <a:ext cx="2194560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C/B workers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22960" y="2971800"/>
          <a:ext cx="48463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1737360"/>
              </a:tblGrid>
              <a:tr h="342900"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Setting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Value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MAX_QUEUE_SHARDS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Q1_QUEUE_SHARDS_DEFAULT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Q2_QUEUE_SHARDS_DEFAULT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256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ENABLE_Q1_LANE_POP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default on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NODE_C_START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19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72, so C=24/B=72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6400800" y="3154680"/>
            <a:ext cx="4663440" cy="8229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11111"/>
                </a:solidFill>
                <a:latin typeface="Bahnschrift"/>
              </a:defRPr>
            </a:pPr>
            <a:r>
              <a:t>The defaults preserve the measured mechanisms: split both queues, diversify Q1 scan starts, and keep the B/C mix from the best clean run.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Segoe UI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Bahnschrift"/>
              </a:defRPr>
            </a:pPr>
            <a:r>
              <a:t>Four clean repeats keep median and P90 near 1 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34440"/>
          <a:ext cx="978408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371600"/>
                <a:gridCol w="1645920"/>
                <a:gridCol w="1645920"/>
                <a:gridCol w="1645920"/>
                <a:gridCol w="1645920"/>
              </a:tblGrid>
              <a:tr h="448056"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Run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Samples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Median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P10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P90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Min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repeat 1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1836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0.9904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0.9804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1.0036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0.9659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repeat 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1867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0.9916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0.9819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1.0053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0.9657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repeat 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1868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0.9907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0.9810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1.0042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0.9593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448056"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repeat 4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1866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0.9903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0.9807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1.0038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0.9615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68680" y="416052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4160520"/>
            <a:ext cx="256032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4325112"/>
            <a:ext cx="24140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Bahnschrift"/>
              </a:defRPr>
            </a:pPr>
            <a:r>
              <a:t>~0.99 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4764024"/>
            <a:ext cx="23774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Median band across repeats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86200" y="4160520"/>
            <a:ext cx="25603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886200" y="4160520"/>
            <a:ext cx="256032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59352" y="4325112"/>
            <a:ext cx="24140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Bahnschrift"/>
              </a:defRPr>
            </a:pPr>
            <a:r>
              <a:t>~1.00 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39" y="4764024"/>
            <a:ext cx="23774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P90 band across repeats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4343400"/>
            <a:ext cx="4206240" cy="7315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111111"/>
                </a:solidFill>
                <a:latin typeface="Bahnschrift"/>
              </a:defRPr>
            </a:pPr>
            <a:r>
              <a:t>The confirmation set keeps median within a 0.0014 ms band and P90 near 1.00 ms across four runs.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Segoe UI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Bahnschrift"/>
              </a:defRPr>
            </a:pPr>
            <a:r>
              <a:t>Next experiment: reduce global spill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68680" y="132588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1325880"/>
            <a:ext cx="2788920" cy="73152"/>
          </a:xfrm>
          <a:prstGeom prst="rect">
            <a:avLst/>
          </a:prstGeom>
          <a:solidFill>
            <a:srgbClr val="1F77B4"/>
          </a:solidFill>
          <a:ln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490472"/>
            <a:ext cx="26426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1F77B4"/>
                </a:solidFill>
                <a:latin typeface="Bahnschrift"/>
              </a:defRPr>
            </a:pPr>
            <a:r>
              <a:t>Proven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929384"/>
            <a:ext cx="26060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Shared queue atomics drove the measured bottleneck.</a:t>
            </a:r>
          </a:p>
        </p:txBody>
      </p:sp>
      <p:sp>
        <p:nvSpPr>
          <p:cNvPr id="9" name="Rectangle 8"/>
          <p:cNvSpPr/>
          <p:nvPr/>
        </p:nvSpPr>
        <p:spPr>
          <a:xfrm>
            <a:off x="3977639" y="132588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7639" y="1325880"/>
            <a:ext cx="2788920" cy="7315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50791" y="1490472"/>
            <a:ext cx="26426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2E7D32"/>
                </a:solidFill>
                <a:latin typeface="Bahnschrift"/>
              </a:defRPr>
            </a:pPr>
            <a:r>
              <a:t>Kept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79" y="1929384"/>
            <a:ext cx="26060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Q1/Q2 sharding plus Q1 lane-pop stays in main.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086600" y="1325880"/>
            <a:ext cx="278892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1325880"/>
            <a:ext cx="2788920" cy="73152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9752" y="1490472"/>
            <a:ext cx="2642615" cy="38404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2500" b="1">
                <a:solidFill>
                  <a:srgbClr val="C62828"/>
                </a:solidFill>
                <a:latin typeface="Bahnschrift"/>
              </a:defRPr>
            </a:pPr>
            <a:r>
              <a:t>Dropped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1929384"/>
            <a:ext cx="2606039" cy="29260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050" b="1">
                <a:solidFill>
                  <a:srgbClr val="333333"/>
                </a:solidFill>
                <a:latin typeface="Bahnschrift"/>
              </a:defRPr>
            </a:pPr>
            <a:r>
              <a:t>Q2 request batching fails the default-suite test.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3337560"/>
            <a:ext cx="101498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3611880"/>
            <a:ext cx="9601200" cy="50292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550" b="1">
                <a:solidFill>
                  <a:srgbClr val="111111"/>
                </a:solidFill>
                <a:latin typeface="Bahnschrift"/>
              </a:defRPr>
            </a:pPr>
            <a:r>
              <a:t>The current architecture reaches about 0.99 ms median. The next useful experiment should reduce trips to global queues before revisiting batch claims.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Segoe UI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Bahnschrift"/>
              </a:defRPr>
            </a:pPr>
            <a:r>
              <a:t>Wave-local retention should measure global spill reduction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777240" y="1463040"/>
            <a:ext cx="2743200" cy="1097280"/>
          </a:xfrm>
          <a:prstGeom prst="rect">
            <a:avLst/>
          </a:prstGeom>
          <a:solidFill>
            <a:srgbClr val="FFFFFF"/>
          </a:solidFill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0392" y="1572768"/>
            <a:ext cx="259689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2E7D32"/>
                </a:solidFill>
                <a:latin typeface="Bahnschrift"/>
              </a:defRPr>
            </a:pPr>
            <a:r>
              <a:t>Current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74520"/>
            <a:ext cx="2596896" cy="640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Segoe UI"/>
              </a:defRPr>
            </a:pPr>
            <a:r>
              <a:t>Global sharded queues</a:t>
            </a:r>
            <a:br/>
            <a:r>
              <a:t>Q1/Q2 = 256/256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703320" y="2011680"/>
            <a:ext cx="731520" cy="0"/>
          </a:xfrm>
          <a:prstGeom prst="line">
            <a:avLst/>
          </a:prstGeom>
          <a:ln w="20320">
            <a:solidFill>
              <a:srgbClr val="6E6E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4572000" y="1463040"/>
            <a:ext cx="2743200" cy="1097280"/>
          </a:xfrm>
          <a:prstGeom prst="rect">
            <a:avLst/>
          </a:prstGeom>
          <a:solidFill>
            <a:srgbClr val="FFFFFF"/>
          </a:solidFill>
          <a:ln w="17780">
            <a:solidFill>
              <a:srgbClr val="1F77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45152" y="1572768"/>
            <a:ext cx="259689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1F77B4"/>
                </a:solidFill>
                <a:latin typeface="Bahnschrift"/>
              </a:defRPr>
            </a:pPr>
            <a:r>
              <a:t>Prototype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45152" y="1874520"/>
            <a:ext cx="2596896" cy="640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Segoe UI"/>
              </a:defRPr>
            </a:pPr>
            <a:r>
              <a:t>Wave-local retention</a:t>
            </a:r>
            <a:br/>
            <a:r>
              <a:t>spill fallback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498079" y="2011680"/>
            <a:ext cx="731521" cy="0"/>
          </a:xfrm>
          <a:prstGeom prst="line">
            <a:avLst/>
          </a:prstGeom>
          <a:ln w="20320">
            <a:solidFill>
              <a:srgbClr val="6E6E6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366760" y="1463040"/>
            <a:ext cx="2743200" cy="1097280"/>
          </a:xfrm>
          <a:prstGeom prst="rect">
            <a:avLst/>
          </a:prstGeom>
          <a:solidFill>
            <a:srgbClr val="FFFFFF"/>
          </a:solidFill>
          <a:ln w="17780">
            <a:solidFill>
              <a:srgbClr val="6E6E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9912" y="1572768"/>
            <a:ext cx="2596896" cy="22860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1150" b="1">
                <a:solidFill>
                  <a:srgbClr val="6E6E6E"/>
                </a:solidFill>
                <a:latin typeface="Bahnschrift"/>
              </a:defRPr>
            </a:pPr>
            <a:r>
              <a:t>Compare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9912" y="1874520"/>
            <a:ext cx="2596896" cy="64008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ctr">
              <a:defRPr sz="869" b="0">
                <a:solidFill>
                  <a:srgbClr val="333333"/>
                </a:solidFill>
                <a:latin typeface="Segoe UI"/>
              </a:defRPr>
            </a:pPr>
            <a:r>
              <a:t>global atomic count</a:t>
            </a:r>
            <a:br/>
            <a:r>
              <a:t>spill ratio</a:t>
            </a:r>
            <a:br/>
            <a:r>
              <a:t>P90/tail stability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429000"/>
            <a:ext cx="466344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- Use the 256-shard main path as the baseline.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- Measure global atomic count, wave-local handoff count, spill ratio, and clean duration.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3429000"/>
            <a:ext cx="466344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normAutofit/>
          </a:bodyPr>
          <a:lstStyle/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- Bring request batching back after a queue-protocol change.</a:t>
            </a:r>
          </a:p>
          <a:p>
            <a:pPr>
              <a:spcAft>
                <a:spcPts val="500"/>
              </a:spcAft>
              <a:defRPr sz="1300">
                <a:solidFill>
                  <a:srgbClr val="333333"/>
                </a:solidFill>
                <a:latin typeface="Segoe UI"/>
              </a:defRPr>
            </a:pPr>
            <a:r>
              <a:t>- Keep timing and atomic-counter diagnosis split in the next run.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Segoe UI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Bahnschrift"/>
              </a:defRPr>
            </a:pPr>
            <a:r>
              <a:t>Appendix: code surfaces behind each decision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640080" y="1234440"/>
            <a:ext cx="3429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4671" y="1444752"/>
            <a:ext cx="1417320" cy="2560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1" y="147218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SHARD PUSH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1" y="1856231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Bahnschrift"/>
              </a:defRPr>
            </a:pPr>
            <a:r>
              <a:t>Adopted: shard selection plus ready publish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1" y="2331720"/>
            <a:ext cx="310896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>
                <a:solidFill>
                  <a:srgbClr val="111111"/>
                </a:solidFill>
                <a:latin typeface="Cascadia Mono"/>
              </a:defRPr>
            </a:pPr>
            <a:r>
              <a:t>uint shard = mixHash(h) % Q1_QUEUE_SHARDS;</a:t>
            </a:r>
            <a:br/>
            <a:r>
              <a:t>if (atomicCompSwap(control.q1[shard].count, cur, cur + 1u) == cur) {</a:t>
            </a:r>
            <a:br/>
            <a:r>
              <a:t>    uint localSlot = atomicAdd(control.q1[shard].tail, 1u) % capacity;</a:t>
            </a:r>
            <a:br/>
            <a:r>
              <a:t>    atomicExchange(queue1.tasks[slot].payload[5], 1u);</a:t>
            </a:r>
            <a:br/>
            <a:r>
              <a:t>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34840" y="1234440"/>
            <a:ext cx="3429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99432" y="1444752"/>
            <a:ext cx="1417320" cy="256032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47218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Q1 LANE-POP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1856231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2E7D32"/>
                </a:solidFill>
                <a:latin typeface="Bahnschrift"/>
              </a:defRPr>
            </a:pPr>
            <a:r>
              <a:t>Adopted: lane-based Q1 scan start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2331720"/>
            <a:ext cx="310896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>
                <a:solidFill>
                  <a:srgbClr val="111111"/>
                </a:solidFill>
                <a:latin typeface="Cascadia Mono"/>
              </a:defRPr>
            </a:pPr>
            <a:r>
              <a:t>uint worker = wgId * local_size_x + localId;</a:t>
            </a:r>
            <a:br/>
            <a:r>
              <a:t>uint homeShard =</a:t>
            </a:r>
            <a:br/>
            <a:r>
              <a:t>    (ENABLE_Q1_LANE_POP != 0u)</a:t>
            </a:r>
            <a:br/>
            <a:r>
              <a:t>        ? (worker % Q1_QUEUE_SHARDS)</a:t>
            </a:r>
            <a:br/>
            <a:r>
              <a:t>        : (wgId % Q1_QUEUE_SHARDS);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34440"/>
            <a:ext cx="342900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94192" y="1444752"/>
            <a:ext cx="1417320" cy="256032"/>
          </a:xfrm>
          <a:prstGeom prst="rect">
            <a:avLst/>
          </a:prstGeom>
          <a:solidFill>
            <a:srgbClr val="C62828"/>
          </a:solidFill>
          <a:ln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94192" y="1472184"/>
            <a:ext cx="1417320" cy="164592"/>
          </a:xfrm>
          <a:prstGeom prst="rect">
            <a:avLst/>
          </a:prstGeom>
          <a:noFill/>
        </p:spPr>
        <p:txBody>
          <a:bodyPr wrap="square" lIns="0" rIns="0" tIns="0" bIns="0">
            <a:norm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Segoe UI"/>
              </a:defRPr>
            </a:pPr>
            <a:r>
              <a:t>Q2 BATCH CAS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1856231"/>
            <a:ext cx="3063240" cy="3657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Bahnschrift"/>
              </a:defRPr>
            </a:pPr>
            <a:r>
              <a:t>Rejected: subgroup batch claim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94192" y="2331720"/>
            <a:ext cx="3108960" cy="26517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880">
                <a:solidFill>
                  <a:srgbClr val="111111"/>
                </a:solidFill>
                <a:latin typeface="Cascadia Mono"/>
              </a:defRPr>
            </a:pPr>
            <a:r>
              <a:t>uint claim = min(available, Q2_DEQUEUE_BATCH_LIMIT);</a:t>
            </a:r>
            <a:br/>
            <a:r>
              <a:t>if (atomicCompSwap(control.q2[shard].count, cur, cur - claim) == cur) {</a:t>
            </a:r>
            <a:br/>
            <a:r>
              <a:t>    baseHead = atomicAdd(control.q2[shard].head, claim);</a:t>
            </a:r>
            <a:br/>
            <a:r>
              <a:t>}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19456"/>
            <a:ext cx="7498079" cy="164592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850" b="1">
                <a:solidFill>
                  <a:srgbClr val="666666"/>
                </a:solidFill>
                <a:latin typeface="Segoe UI"/>
              </a:defRPr>
            </a:pPr>
            <a:r>
              <a:t>Vulkan Persistent Thread WorkGraph POC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393192"/>
            <a:ext cx="9875520" cy="475488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2600" b="1">
                <a:solidFill>
                  <a:srgbClr val="111111"/>
                </a:solidFill>
                <a:latin typeface="Bahnschrift"/>
              </a:defRPr>
            </a:pPr>
            <a:r>
              <a:t>Appendix: numeric source table and provenance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11480" y="896112"/>
            <a:ext cx="11365992" cy="0"/>
          </a:xfrm>
          <a:prstGeom prst="line">
            <a:avLst/>
          </a:prstGeom>
          <a:ln w="9525">
            <a:solidFill>
              <a:srgbClr val="D9D9D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34440"/>
          <a:ext cx="10972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8046720"/>
              </a:tblGrid>
              <a:tr h="548640"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Artifact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 b="1">
                          <a:solidFill>
                            <a:srgbClr val="111111"/>
                          </a:solidFill>
                          <a:latin typeface="Bahnschrift"/>
                        </a:defRPr>
                      </a:pPr>
                      <a:r>
                        <a:t>Path</a:t>
                      </a:r>
                    </a:p>
                  </a:txBody>
                  <a:tcPr marL="36576" marR="36576" marT="27432" marB="27432">
                    <a:solidFill>
                      <a:srgbClr val="F7F7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Normalized measurements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reports/2026-05/metrics/monthly_v5_normalized_measurements_20260525.csv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Measurement notes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reports/2026-05/metrics/monthly_v5_measurement_notes_20260525.md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Main backbone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reports/2026-05/metrics/q2_shards_20260510/research_backbone_20260510.md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Request batching summary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30">
                          <a:solidFill>
                            <a:srgbClr val="333333"/>
                          </a:solidFill>
                          <a:latin typeface="Segoe UI"/>
                        </a:defRPr>
                      </a:pPr>
                      <a:r>
                        <a:t>reports/2026-05/metrics/request_batching_validation_20260525/request_batching_validation_summary.csv</a:t>
                      </a:r>
                    </a:p>
                  </a:txBody>
                  <a:tcPr marL="36576" marR="36576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" y="4617720"/>
            <a:ext cx="10332720" cy="594360"/>
          </a:xfrm>
          <a:prstGeom prst="rect">
            <a:avLst/>
          </a:prstGeom>
          <a:noFill/>
        </p:spPr>
        <p:txBody>
          <a:bodyPr wrap="square" lIns="45720" rIns="45720">
            <a:normAutofit/>
          </a:bodyPr>
          <a:lstStyle/>
          <a:p>
            <a:pPr algn="l">
              <a:defRPr sz="1450" b="1">
                <a:solidFill>
                  <a:srgbClr val="1F77B4"/>
                </a:solidFill>
                <a:latin typeface="Bahnschrift"/>
              </a:defRPr>
            </a:pPr>
            <a:r>
              <a:t>Use the normalized table for headline numbers; use the notes file for warmup rules and source-file mapping.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Segoe UI"/>
        <a:font script="Hebr" typeface="Segoe U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Segoe UI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