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ab5ff2c88a46c1" /><Relationship Type="http://schemas.openxmlformats.org/officeDocument/2006/relationships/extended-properties" Target="/docProps/app.xml" Id="R4968135ac3ba4c61" /><Relationship Type="http://schemas.openxmlformats.org/officeDocument/2006/relationships/officeDocument" Target="/ppt/presentation.xml" Id="R47dd1c629f5449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52c63b479740a1"/>
  </p:sldMasterIdLst>
  <p:notesMasterIdLst>
    <p:notesMasterId xmlns:r="http://schemas.openxmlformats.org/officeDocument/2006/relationships" r:id="R0b31a96855304ab7"/>
  </p:notesMasterIdLst>
  <p:sldIdLst>
    <p:sldId xmlns:r="http://schemas.openxmlformats.org/officeDocument/2006/relationships" id="256" r:id="Re79a56713eaf4c8d"/>
    <p:sldId xmlns:r="http://schemas.openxmlformats.org/officeDocument/2006/relationships" id="257" r:id="R96e33939008341dc"/>
    <p:sldId xmlns:r="http://schemas.openxmlformats.org/officeDocument/2006/relationships" id="258" r:id="R1a6280c058274169"/>
    <p:sldId xmlns:r="http://schemas.openxmlformats.org/officeDocument/2006/relationships" id="259" r:id="Rc4966dadfe4442b2"/>
    <p:sldId xmlns:r="http://schemas.openxmlformats.org/officeDocument/2006/relationships" id="260" r:id="R7cf1a3cde9f34678"/>
    <p:sldId xmlns:r="http://schemas.openxmlformats.org/officeDocument/2006/relationships" id="261" r:id="R431d73a4d3fc4a76"/>
    <p:sldId xmlns:r="http://schemas.openxmlformats.org/officeDocument/2006/relationships" id="262" r:id="R00dceec69d304149"/>
    <p:sldId xmlns:r="http://schemas.openxmlformats.org/officeDocument/2006/relationships" id="263" r:id="R3f1f133af783467f"/>
    <p:sldId xmlns:r="http://schemas.openxmlformats.org/officeDocument/2006/relationships" id="264" r:id="Rc983a94fd2164d6c"/>
    <p:sldId xmlns:r="http://schemas.openxmlformats.org/officeDocument/2006/relationships" id="265" r:id="R05ccdfd1169345cf"/>
    <p:sldId xmlns:r="http://schemas.openxmlformats.org/officeDocument/2006/relationships" id="266" r:id="R53bff0da497943b4"/>
    <p:sldId xmlns:r="http://schemas.openxmlformats.org/officeDocument/2006/relationships" id="267" r:id="R83c48534f1ae478b"/>
    <p:sldId xmlns:r="http://schemas.openxmlformats.org/officeDocument/2006/relationships" id="268" r:id="Rc4c307bd0d294ea0"/>
    <p:sldId xmlns:r="http://schemas.openxmlformats.org/officeDocument/2006/relationships" id="269" r:id="Rb59fe061c1df4119"/>
    <p:sldId xmlns:r="http://schemas.openxmlformats.org/officeDocument/2006/relationships" id="270" r:id="R6ae827f874a643ae"/>
    <p:sldId xmlns:r="http://schemas.openxmlformats.org/officeDocument/2006/relationships" id="271" r:id="R2fdb7e75845a46b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2c63b479740a1" /><Relationship Type="http://schemas.openxmlformats.org/officeDocument/2006/relationships/theme" Target="/ppt/theme/theme1.xml" Id="Rbbf43105fa384594" /><Relationship Type="http://schemas.openxmlformats.org/officeDocument/2006/relationships/notesMaster" Target="/ppt/notesMasters/notesMaster1.xml" Id="R0b31a96855304ab7" /><Relationship Type="http://schemas.openxmlformats.org/officeDocument/2006/relationships/presProps" Target="/ppt/presProps.xml" Id="R78f3bb528bf64e13" /><Relationship Type="http://schemas.openxmlformats.org/officeDocument/2006/relationships/viewProps" Target="/ppt/viewProps.xml" Id="Rede797daf7db479d" /><Relationship Type="http://schemas.openxmlformats.org/officeDocument/2006/relationships/tableStyles" Target="/ppt/tableStyles.xml" Id="Re4c4cd41dbe74c37" /><Relationship Type="http://schemas.openxmlformats.org/officeDocument/2006/relationships/slide" Target="/ppt/slides/slide1.xml" Id="Re79a56713eaf4c8d" /><Relationship Type="http://schemas.openxmlformats.org/officeDocument/2006/relationships/slide" Target="/ppt/slides/slide2.xml" Id="R96e33939008341dc" /><Relationship Type="http://schemas.openxmlformats.org/officeDocument/2006/relationships/slide" Target="/ppt/slides/slide3.xml" Id="R1a6280c058274169" /><Relationship Type="http://schemas.openxmlformats.org/officeDocument/2006/relationships/slide" Target="/ppt/slides/slide4.xml" Id="Rc4966dadfe4442b2" /><Relationship Type="http://schemas.openxmlformats.org/officeDocument/2006/relationships/slide" Target="/ppt/slides/slide5.xml" Id="R7cf1a3cde9f34678" /><Relationship Type="http://schemas.openxmlformats.org/officeDocument/2006/relationships/slide" Target="/ppt/slides/slide6.xml" Id="R431d73a4d3fc4a76" /><Relationship Type="http://schemas.openxmlformats.org/officeDocument/2006/relationships/slide" Target="/ppt/slides/slide7.xml" Id="R00dceec69d304149" /><Relationship Type="http://schemas.openxmlformats.org/officeDocument/2006/relationships/slide" Target="/ppt/slides/slide8.xml" Id="R3f1f133af783467f" /><Relationship Type="http://schemas.openxmlformats.org/officeDocument/2006/relationships/slide" Target="/ppt/slides/slide9.xml" Id="Rc983a94fd2164d6c" /><Relationship Type="http://schemas.openxmlformats.org/officeDocument/2006/relationships/slide" Target="/ppt/slides/slide10.xml" Id="R05ccdfd1169345cf" /><Relationship Type="http://schemas.openxmlformats.org/officeDocument/2006/relationships/slide" Target="/ppt/slides/slide11.xml" Id="R53bff0da497943b4" /><Relationship Type="http://schemas.openxmlformats.org/officeDocument/2006/relationships/slide" Target="/ppt/slides/slide12.xml" Id="R83c48534f1ae478b" /><Relationship Type="http://schemas.openxmlformats.org/officeDocument/2006/relationships/slide" Target="/ppt/slides/slide13.xml" Id="Rc4c307bd0d294ea0" /><Relationship Type="http://schemas.openxmlformats.org/officeDocument/2006/relationships/slide" Target="/ppt/slides/slide14.xml" Id="Rb59fe061c1df4119" /><Relationship Type="http://schemas.openxmlformats.org/officeDocument/2006/relationships/slide" Target="/ppt/slides/slide15.xml" Id="R6ae827f874a643ae" /><Relationship Type="http://schemas.openxmlformats.org/officeDocument/2006/relationships/slide" Target="/ppt/slides/slide16.xml" Id="R2fdb7e75845a46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648096b57ff40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66f7a8efad4a2f" /><Relationship Type="http://schemas.openxmlformats.org/officeDocument/2006/relationships/notesMaster" Target="/ppt/notesMasters/notesMaster1.xml" Id="R51fddf958fdf44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c037aba3e846c4" /><Relationship Type="http://schemas.openxmlformats.org/officeDocument/2006/relationships/notesMaster" Target="/ppt/notesMasters/notesMaster1.xml" Id="R2bb1aa5cca8544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78cfde414941f5" /><Relationship Type="http://schemas.openxmlformats.org/officeDocument/2006/relationships/notesMaster" Target="/ppt/notesMasters/notesMaster1.xml" Id="Raf8b32bff10d46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3bd1ea73864fb5" /><Relationship Type="http://schemas.openxmlformats.org/officeDocument/2006/relationships/notesMaster" Target="/ppt/notesMasters/notesMaster1.xml" Id="R2d8fd259346348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9b66960fb642e7" /><Relationship Type="http://schemas.openxmlformats.org/officeDocument/2006/relationships/notesMaster" Target="/ppt/notesMasters/notesMaster1.xml" Id="R3a951f1cf11c45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9447b4259b475f" /><Relationship Type="http://schemas.openxmlformats.org/officeDocument/2006/relationships/notesMaster" Target="/ppt/notesMasters/notesMaster1.xml" Id="R1ec0695abe194e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a684ca4cf44d99" /><Relationship Type="http://schemas.openxmlformats.org/officeDocument/2006/relationships/notesMaster" Target="/ppt/notesMasters/notesMaster1.xml" Id="R8f417042f48940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f5e17689a34c86" /><Relationship Type="http://schemas.openxmlformats.org/officeDocument/2006/relationships/notesMaster" Target="/ppt/notesMasters/notesMaster1.xml" Id="R0874b59a711e46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7ec6ebd74d4a8d" /><Relationship Type="http://schemas.openxmlformats.org/officeDocument/2006/relationships/notesMaster" Target="/ppt/notesMasters/notesMaster1.xml" Id="Rfb03aebc22b64c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ef5d4a4e464991" /><Relationship Type="http://schemas.openxmlformats.org/officeDocument/2006/relationships/notesMaster" Target="/ppt/notesMasters/notesMaster1.xml" Id="Rea5c0a932e9b45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6d9955c9f14714" /><Relationship Type="http://schemas.openxmlformats.org/officeDocument/2006/relationships/notesMaster" Target="/ppt/notesMasters/notesMaster1.xml" Id="R95c20ca7da3549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96ffdafadd4583" /><Relationship Type="http://schemas.openxmlformats.org/officeDocument/2006/relationships/notesMaster" Target="/ppt/notesMasters/notesMaster1.xml" Id="R3329852c305648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53e71bd7654ad1" /><Relationship Type="http://schemas.openxmlformats.org/officeDocument/2006/relationships/notesMaster" Target="/ppt/notesMasters/notesMaster1.xml" Id="R2c15476cb0654a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1320a888d14aca" /><Relationship Type="http://schemas.openxmlformats.org/officeDocument/2006/relationships/notesMaster" Target="/ppt/notesMasters/notesMaster1.xml" Id="Rc81ea3def6364f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6b5e357d1541b7" /><Relationship Type="http://schemas.openxmlformats.org/officeDocument/2006/relationships/notesMaster" Target="/ppt/notesMasters/notesMaster1.xml" Id="R73bf76952f724f0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2f42c613cf4352" /><Relationship Type="http://schemas.openxmlformats.org/officeDocument/2006/relationships/notesMaster" Target="/ppt/notesMasters/notesMaster1.xml" Id="R4a88621c86ae4b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3a1a6649c40a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bef5d98a81c4e41" /><Relationship Type="http://schemas.openxmlformats.org/officeDocument/2006/relationships/slideLayout" Target="/ppt/slideLayouts/slideLayout2.xml" Id="Rcfdeae5534c948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deae5534c948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ef0090cf6649ab" /><Relationship Type="http://schemas.openxmlformats.org/officeDocument/2006/relationships/notesSlide" Target="/ppt/notesSlides/notesSlide1.xml" Id="R7ff25ec0444d41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51a399cabc4535" /><Relationship Type="http://schemas.openxmlformats.org/officeDocument/2006/relationships/notesSlide" Target="/ppt/notesSlides/notesSlide2.xml" Id="Re2449e796c5a47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503ecd24fe4af9" /><Relationship Type="http://schemas.openxmlformats.org/officeDocument/2006/relationships/notesSlide" Target="/ppt/notesSlides/notesSlide3.xml" Id="R3edbef39d37c48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b945317f744efd" /><Relationship Type="http://schemas.openxmlformats.org/officeDocument/2006/relationships/notesSlide" Target="/ppt/notesSlides/notesSlide4.xml" Id="R7a598a10ab434d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43d06e880d4661" /><Relationship Type="http://schemas.openxmlformats.org/officeDocument/2006/relationships/notesSlide" Target="/ppt/notesSlides/notesSlide5.xml" Id="Ra77148fed4524c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61b2de3c914c0b" /><Relationship Type="http://schemas.openxmlformats.org/officeDocument/2006/relationships/image" Target="/ppt/media/image.png" Id="R5b8025176afa498e" /><Relationship Type="http://schemas.openxmlformats.org/officeDocument/2006/relationships/notesSlide" Target="/ppt/notesSlides/notesSlide6.xml" Id="Rf48b64d3af1845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961b0d91954a57" /><Relationship Type="http://schemas.openxmlformats.org/officeDocument/2006/relationships/notesSlide" Target="/ppt/notesSlides/notesSlide7.xml" Id="Rc5fbd0d532e545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e83068d8a44200" /><Relationship Type="http://schemas.openxmlformats.org/officeDocument/2006/relationships/notesSlide" Target="/ppt/notesSlides/notesSlide8.xml" Id="Rccbb2f47fd2144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575cd4d27a4ebc" /><Relationship Type="http://schemas.openxmlformats.org/officeDocument/2006/relationships/notesSlide" Target="/ppt/notesSlides/notesSlide9.xml" Id="Ra8ded818de1041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a24282e0dc417f" /><Relationship Type="http://schemas.openxmlformats.org/officeDocument/2006/relationships/notesSlide" Target="/ppt/notesSlides/notesSlide10.xml" Id="R88dc1e8236804a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17efaff60d43dc" /><Relationship Type="http://schemas.openxmlformats.org/officeDocument/2006/relationships/image" Target="/ppt/media/image2.png" Id="Rd37f58f12e154a83" /><Relationship Type="http://schemas.openxmlformats.org/officeDocument/2006/relationships/notesSlide" Target="/ppt/notesSlides/notesSlide11.xml" Id="R5e0c513f7bbf48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a243badb0b44d9" /><Relationship Type="http://schemas.openxmlformats.org/officeDocument/2006/relationships/notesSlide" Target="/ppt/notesSlides/notesSlide12.xml" Id="Rc583dc1f85754a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75f5818f124305" /><Relationship Type="http://schemas.openxmlformats.org/officeDocument/2006/relationships/notesSlide" Target="/ppt/notesSlides/notesSlide13.xml" Id="R5ac0ad1550b742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13929b79e542d8" /><Relationship Type="http://schemas.openxmlformats.org/officeDocument/2006/relationships/notesSlide" Target="/ppt/notesSlides/notesSlide14.xml" Id="R99d6ff57c4e34a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cd7d8d47cf46f7" /><Relationship Type="http://schemas.openxmlformats.org/officeDocument/2006/relationships/notesSlide" Target="/ppt/notesSlides/notesSlide15.xml" Id="Re2783d6c760448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3934685de84b10" /><Relationship Type="http://schemas.openxmlformats.org/officeDocument/2006/relationships/notesSlide" Target="/ppt/notesSlides/notesSlide16.xml" Id="R07b6715be2184f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3506EC-8C5E-479B-AD34-02F35640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C2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FF444-02E0-4956-AFF5-DCC79165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9543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413E7-D39F-4234-AF72-A6EFEAFC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828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Monthly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D37F4-BC1F-4F6A-9079-7A92A853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65354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WorkGraph POC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31E3A-8269-48BE-88C2-2ED7630D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6535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7E3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 月優化歷程：從 queue bottleneck 到 global atomic traffic 結論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1E969-B769-4EB8-8FB5-1A4DBD2A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3397"/>
            <a:ext cx="3670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3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4BECD-04C4-4848-A3B3-37D5F2B2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134100"/>
            <a:ext cx="3257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D0A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30.35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4B418-C909-4738-A5B0-B0393804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76275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7D3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baseline avg compute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08FAE-465A-4598-8CB5-C1D7F4E5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150" y="5843397"/>
            <a:ext cx="3670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34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32D35-FD80-4A91-8919-2F8377D8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134100"/>
            <a:ext cx="3257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A8E6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 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C6CFD-DD85-4156-A7A2-38AC94A0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6275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7D3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main path median compute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30BAF-1DEE-491C-BBB1-0FD01A6D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5843397"/>
            <a:ext cx="3670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A3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D69E8-9205-423F-BB27-3E426881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134100"/>
            <a:ext cx="3257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Wave-local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8A4EF-194B-4C05-8193-91D25600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76275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7D3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next architecture direction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EC842-F358-445C-93FC-8463C64F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600950"/>
            <a:ext cx="16535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7D3C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AMD RX 7900 XTX / RDNA 3 · 2026 / 05 / 25</a:t>
            </a:r>
          </a:p>
        </p:txBody>
      </p:sp>
    </p:spTree>
    <p:extLst>
      <p:ext uri="{BB962C8B-B14F-4D97-AF65-F5344CB8AC3E}">
        <p14:creationId xmlns:p14="http://schemas.microsoft.com/office/powerpoint/2010/main" val="14969374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2-bg">
            <a:extLst xmlns:a="http://schemas.openxmlformats.org/drawingml/2006/main">
              <a:ext uri="{FF2B5EF4-FFF2-40B4-BE49-F238E27FC236}">
                <a16:creationId xmlns:a16="http://schemas.microsoft.com/office/drawing/2014/main" id="{87C1FDB0-ECF0-4B12-B502-D60324DB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A2B75-7D62-4817-91FF-F24ECCCB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E08C2-46C3-4ED1-A79F-F0E86DF4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Recap：上次已完成 correctness-first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38FF3-8FA9-4605-AE46-DDA67735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55CFF-B0FB-4BD4-B1EA-48994EAE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57741-2B87-4758-AE2B-64287B88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1729C-E76A-47BC-8D18-EF6015CF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17D7E-868E-4405-97AF-E87E4476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Node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71217-BED7-47C7-A270-7632E64F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54F96-6DE7-441D-AE44-52B1CE8B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573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F75EF-31A9-4D11-A0C5-DBF4BCBC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57325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DC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98622-583B-4D3F-A581-D7E3AE92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00200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C4FA3-2C23-4A37-BA28-E488ADAE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global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92BB9-5653-44A9-BC1A-758BF455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573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8392E3-80EF-406F-8965-DAF62479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457325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711C6-49FD-4A32-8529-F2C312A3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00200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Node 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973EB-0F73-4818-867C-2BC27B29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2405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Subdivide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A685F-5C24-4688-ACA1-780BF9E3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573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F74C04-3950-4FD7-8408-F908E5B9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457325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DC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D47C83-FDFC-495A-A2DE-BA8883D3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00200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79BC6-0D4D-4688-9AE9-A71E1F98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2405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global queue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FAF85E-3274-4BDC-90D1-8E1F4881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573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29BD6A-BCFA-4808-87C8-5CF9428F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457325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8BCC94-8F40-46B9-B4C6-02BF49F7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600200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Node 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9EA377-C574-4734-A87A-C555BAF4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2405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Write VB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8A90EE-0545-4DA1-BD1F-B1A813E2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16573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D5A3C3-5BB8-49E6-8AB3-BC42CA3A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1457325"/>
            <a:ext cx="1952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660FC-B4B6-432B-BE6F-8A82BAF2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1600200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6AF006-951F-43C8-9B81-399BFA62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192405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Render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9548A9-FD0D-45D3-A8EB-99880F71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E87D30-D73D-4A9E-8CDC-88F1F806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8039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單一 compute dispatch 內，用 persistent threads 模擬 D3D Work Graph producer-consumer network。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427607-91D1-4D2A-8A5D-CC79ABCE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C219C0-4AB7-45E5-A3CC-9F399EDA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8039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Koch Snowflake recursive workload 可 deterministic 輸出。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7D1510-95D0-48C1-AD14-C19B8D31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AE2F0F-83DA-44E3-BCE5-8F4FDA4F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8039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跨 workgroup handoff 使用 atomic ready flag，GPU-side termination 已能完成。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BF0467-C548-4487-A070-DB80498A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214813"/>
            <a:ext cx="8391525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0A44A6-9FE6-4045-A8C9-B98321D7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19650"/>
            <a:ext cx="7829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上次結論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7BC3D8-7039-4BC7-8E05-3E319242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95900"/>
            <a:ext cx="7829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功能已經跑通，但 performance 還在調查中。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A2045F-CF9B-4464-8438-07E5E88B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29300"/>
            <a:ext cx="7829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本月重點：完整追 queue bottleneck 的演進。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E0B158-5DC2-44E9-8C52-929B9C33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24900"/>
            <a:ext cx="1710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27A6E7-2478-4AA9-B44A-2C916651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53A322-3B4B-46A9-9A5C-55359E77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91600"/>
            <a:ext cx="1642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這份月報的重點是完整交代 5 月優化歷程，不是只報一組快參數。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67EB14-201C-4EA3-8E0A-4E9DA3D4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D2E74A-7B1B-4634-A2A4-B4250CD2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7326565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3-bg">
            <a:extLst xmlns:a="http://schemas.openxmlformats.org/drawingml/2006/main">
              <a:ext uri="{FF2B5EF4-FFF2-40B4-BE49-F238E27FC236}">
                <a16:creationId xmlns:a16="http://schemas.microsoft.com/office/drawing/2014/main" id="{12207AAB-AC34-4D19-8173-6987714F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EFB04-392F-4984-A5EF-64BAFAE3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078E9-2368-4287-8DD2-6AFCD494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Recap：上次 profile 留下的問題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A94AE-7A8B-45C6-A54F-841A5F4E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D1E3C-3040-4B14-ACBB-D0D81562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7249A-29B5-4397-A46B-61F47BBD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D904C-01F3-4035-A258-1FD18A32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55372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D3C7B-73DB-45CB-A90F-4160842E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6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5118C-012B-4A63-8F07-0B09923D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16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444C7-78EB-499C-A51E-FD1C1248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50863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/ Q2 queue 的 atomic contention 是否主導？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D6B93-7CC8-4129-8C52-1116BC38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5086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如果是，分散 queue hot spot 應該有明顯效果。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380A0-317A-48CF-B226-81E62DA3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1447800"/>
            <a:ext cx="55372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E22A0-FC51-4AA1-B01A-77D460F6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95450"/>
            <a:ext cx="66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8B40A-6309-43F6-A51A-4B3598D6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716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63B67-0402-4E1A-B5C5-94D9570E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50863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Node B / Node C worker ratio 是否失衡？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B94F5-EF34-4623-AE0B-F9D57172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5086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如果 C writers 不足，Q2 backlog 會推高 enqueue 壓力。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6EDDD6-89C6-4FAD-AA70-3B852CA9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0250" y="1447800"/>
            <a:ext cx="5537200" cy="590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51EDE-BA07-4058-842F-23B1F242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8850" y="1695450"/>
            <a:ext cx="66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9EA45D-8DA8-49FD-8739-AFFA3BE6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17716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4798B-69EA-45BE-9A76-574F5CDF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324100"/>
            <a:ext cx="508635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ready-spin、output writes、queue sizing 是否是主因？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588CC5-B5EB-498C-9D22-6D0A00AE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676650"/>
            <a:ext cx="5086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本月用 ablation 一項一項排除。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3C3C74-57DD-44F6-85B8-01250804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62EBB-6B25-40D7-80DE-528369F9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0615164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4-bg">
            <a:extLst xmlns:a="http://schemas.openxmlformats.org/drawingml/2006/main">
              <a:ext uri="{FF2B5EF4-FFF2-40B4-BE49-F238E27FC236}">
                <a16:creationId xmlns:a16="http://schemas.microsoft.com/office/drawing/2014/main" id="{327A93B4-EC43-47CF-AD1B-9389394B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BB2DA-86AB-42E6-9915-CBFBE758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EC0DA-CA35-47ED-B645-5B28F633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本週成果：整理與整合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A32DF-066F-4DEC-8BFC-21427A4F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03B8B-7870-4CB5-A5BC-82FDB5FF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93664-33A4-4B54-AAAE-764965DE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A44E9-070E-4FF5-9FB9-D56F7EF2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554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87B5B-CF29-488E-B2BA-57F0D898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5124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完整 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990B6-5A0F-4AD3-9022-DBE3DCD9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12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B/C -&gt; Q1 -&gt; Q2 -&gt; lane-pop -&gt; high shards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2EE73-8D8C-4BB4-83B2-C3458B07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050" y="1447800"/>
            <a:ext cx="554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484B5-32F1-4B63-8603-97B2B225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71650"/>
            <a:ext cx="5124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Adopted default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93436F-EFC8-42FC-B892-AEC8F081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512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Q1/Q2=256, lane-pop on, C=24/B=72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4B9FE-917F-45CA-A509-6D8F2AFE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7550" y="1447800"/>
            <a:ext cx="554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04A99-E36A-4F7A-AB5D-025F2E13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1695450"/>
            <a:ext cx="5124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F7D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704862-8389-4C9F-833A-E915AFE9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400300"/>
            <a:ext cx="5124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main path median compute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74326-6554-41B1-B957-E31D8A75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FC31AF-51E5-4EE4-8137-9A2D333F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1674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整理 5 月完整優化 timeline，將每一輪問題、嘗試、結果、解讀串起來。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7A8C2-4CC6-47B0-8571-F74A52A0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470EE-B594-44EC-8A73-188A8680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1674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整合目前主線預設，保留 shard flags 作為後續 ablation controls。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97D80-501C-43B3-B196-BA53385E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CC2DC-A823-4493-8EE1-FCA73172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1674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排除 output writes、Q2 ready-first、C output batching 等非主因。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B40B4-A979-4D29-B015-A1258AA2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297FDA-45DE-4714-8264-3582E930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29350"/>
            <a:ext cx="1674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request batching 目前不納入主線；另派實驗補強資料。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B41DB2-4A1E-4D71-B9A4-C78F8A58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199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5F2E8F-240B-4CF9-9AB6-CC20F862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19900"/>
            <a:ext cx="1674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收斂結論：有效優化幾乎都在降低 queue/global atomic traffic。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EA199E-22D6-46A1-8282-E0C12C66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24900"/>
            <a:ext cx="1710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533C5-F951-4D69-9BBF-D9AA530F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6CF684-B4D4-416B-ACCE-EFD09923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91600"/>
            <a:ext cx="1642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本週不是新增一個神奇參數，而是把整個月的 evidence chain 收斂清楚。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A5CCFA-904A-4AD6-9F06-7FCB20BD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D6C724-17E1-4A2A-81BA-8109A895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2300823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5-bg">
            <a:extLst xmlns:a="http://schemas.openxmlformats.org/drawingml/2006/main">
              <a:ext uri="{FF2B5EF4-FFF2-40B4-BE49-F238E27FC236}">
                <a16:creationId xmlns:a16="http://schemas.microsoft.com/office/drawing/2014/main" id="{EFB39FF1-8467-4871-885F-90F7D0A0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26807-5353-4CEA-AE63-7D8FF415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2828A-9FA1-4A4C-AB70-0B75040D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Bottleneck timeline：瓶頸演進路徑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91A2C-C1EE-401F-858F-07EB32DC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106BA-6A27-4926-AAD9-847C3382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26CD2-8DB6-4C11-958F-CEF3C566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timeline-table-h-0">
            <a:extLst xmlns:a="http://schemas.openxmlformats.org/drawingml/2006/main">
              <a:ext uri="{FF2B5EF4-FFF2-40B4-BE49-F238E27FC236}">
                <a16:creationId xmlns:a16="http://schemas.microsoft.com/office/drawing/2014/main" id="{D6835CE4-5257-4A65-A70D-0DB7966C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2571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階段</a:t>
            </a:r>
          </a:p>
        </p:txBody>
      </p:sp>
      <p:sp>
        <p:nvSpPr>
          <p:cNvPr id="8" name="timeline-table-h-1">
            <a:extLst xmlns:a="http://schemas.openxmlformats.org/drawingml/2006/main">
              <a:ext uri="{FF2B5EF4-FFF2-40B4-BE49-F238E27FC236}">
                <a16:creationId xmlns:a16="http://schemas.microsoft.com/office/drawing/2014/main" id="{403FA8A6-1027-476C-83D2-F46640E2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85900"/>
            <a:ext cx="619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設定</a:t>
            </a:r>
          </a:p>
        </p:txBody>
      </p:sp>
      <p:sp>
        <p:nvSpPr>
          <p:cNvPr id="9" name="timeline-table-h-2">
            <a:extLst xmlns:a="http://schemas.openxmlformats.org/drawingml/2006/main">
              <a:ext uri="{FF2B5EF4-FFF2-40B4-BE49-F238E27FC236}">
                <a16:creationId xmlns:a16="http://schemas.microsoft.com/office/drawing/2014/main" id="{E072E791-5721-4982-BAE8-8EE7F9F7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48590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Compute</a:t>
            </a:r>
          </a:p>
        </p:txBody>
      </p:sp>
      <p:sp>
        <p:nvSpPr>
          <p:cNvPr id="10" name="timeline-table-h-3">
            <a:extLst xmlns:a="http://schemas.openxmlformats.org/drawingml/2006/main">
              <a:ext uri="{FF2B5EF4-FFF2-40B4-BE49-F238E27FC236}">
                <a16:creationId xmlns:a16="http://schemas.microsoft.com/office/drawing/2014/main" id="{1490DEC2-8D04-4292-9CB1-61C30C9D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148590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解讀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6C78D-20DD-4B3B-929C-4245C553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710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  <a:prstDash val="solid"/>
          </a:ln>
        </p:spPr>
      </p:sp>
      <p:sp>
        <p:nvSpPr>
          <p:cNvPr id="12" name="timeline-table-0-0">
            <a:extLst xmlns:a="http://schemas.openxmlformats.org/drawingml/2006/main">
              <a:ext uri="{FF2B5EF4-FFF2-40B4-BE49-F238E27FC236}">
                <a16:creationId xmlns:a16="http://schemas.microsoft.com/office/drawing/2014/main" id="{4606B6AD-5B65-4693-A31D-D7654E30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Baseline</a:t>
            </a:r>
          </a:p>
        </p:txBody>
      </p:sp>
      <p:sp>
        <p:nvSpPr>
          <p:cNvPr id="13" name="timeline-table-0-1">
            <a:extLst xmlns:a="http://schemas.openxmlformats.org/drawingml/2006/main">
              <a:ext uri="{FF2B5EF4-FFF2-40B4-BE49-F238E27FC236}">
                <a16:creationId xmlns:a16="http://schemas.microsoft.com/office/drawing/2014/main" id="{18C35AB6-3E49-4876-AC79-6C482CB4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batch on, Q2 scalar, C=24/B=72</a:t>
            </a:r>
          </a:p>
        </p:txBody>
      </p:sp>
      <p:sp>
        <p:nvSpPr>
          <p:cNvPr id="14" name="timeline-table-0-2">
            <a:extLst xmlns:a="http://schemas.openxmlformats.org/drawingml/2006/main">
              <a:ext uri="{FF2B5EF4-FFF2-40B4-BE49-F238E27FC236}">
                <a16:creationId xmlns:a16="http://schemas.microsoft.com/office/drawing/2014/main" id="{79C0FAB9-24A1-4775-9F8F-4079A9F7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812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30.35 ms</a:t>
            </a:r>
          </a:p>
        </p:txBody>
      </p:sp>
      <p:sp>
        <p:nvSpPr>
          <p:cNvPr id="15" name="timeline-table-0-3">
            <a:extLst xmlns:a="http://schemas.openxmlformats.org/drawingml/2006/main">
              <a:ext uri="{FF2B5EF4-FFF2-40B4-BE49-F238E27FC236}">
                <a16:creationId xmlns:a16="http://schemas.microsoft.com/office/drawing/2014/main" id="{712CD93F-3970-46AF-ACF5-C8A40F8F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19812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queue 壓力很高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83BDD-9D7D-40CA-BDB8-C9429E2C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17" name="timeline-table-1-0">
            <a:extLst xmlns:a="http://schemas.openxmlformats.org/drawingml/2006/main">
              <a:ext uri="{FF2B5EF4-FFF2-40B4-BE49-F238E27FC236}">
                <a16:creationId xmlns:a16="http://schemas.microsoft.com/office/drawing/2014/main" id="{3902DCEC-A661-43E5-9642-E9C494F8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B/C ratio</a:t>
            </a:r>
          </a:p>
        </p:txBody>
      </p:sp>
      <p:sp>
        <p:nvSpPr>
          <p:cNvPr id="18" name="timeline-table-1-1">
            <a:extLst xmlns:a="http://schemas.openxmlformats.org/drawingml/2006/main">
              <a:ext uri="{FF2B5EF4-FFF2-40B4-BE49-F238E27FC236}">
                <a16:creationId xmlns:a16="http://schemas.microsoft.com/office/drawing/2014/main" id="{2E58E3DB-1E0B-47AB-AE07-7E38F29C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C=40/B=56</a:t>
            </a:r>
          </a:p>
        </p:txBody>
      </p:sp>
      <p:sp>
        <p:nvSpPr>
          <p:cNvPr id="19" name="timeline-table-1-2">
            <a:extLst xmlns:a="http://schemas.openxmlformats.org/drawingml/2006/main">
              <a:ext uri="{FF2B5EF4-FFF2-40B4-BE49-F238E27FC236}">
                <a16:creationId xmlns:a16="http://schemas.microsoft.com/office/drawing/2014/main" id="{1BC480E7-8167-460C-9BEE-09A258DB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574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27.97 ms</a:t>
            </a:r>
          </a:p>
        </p:txBody>
      </p:sp>
      <p:sp>
        <p:nvSpPr>
          <p:cNvPr id="20" name="timeline-table-1-3">
            <a:extLst xmlns:a="http://schemas.openxmlformats.org/drawingml/2006/main">
              <a:ext uri="{FF2B5EF4-FFF2-40B4-BE49-F238E27FC236}">
                <a16:creationId xmlns:a16="http://schemas.microsoft.com/office/drawing/2014/main" id="{94D9B596-09E8-40D0-BD44-5BD6E63E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24574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backlog 降低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55414-65F3-4739-AAAD-C7344AF4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28925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22" name="timeline-table-2-0">
            <a:extLst xmlns:a="http://schemas.openxmlformats.org/drawingml/2006/main">
              <a:ext uri="{FF2B5EF4-FFF2-40B4-BE49-F238E27FC236}">
                <a16:creationId xmlns:a16="http://schemas.microsoft.com/office/drawing/2014/main" id="{3D6333A3-A206-458F-A725-BB0DA080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sharding</a:t>
            </a:r>
          </a:p>
        </p:txBody>
      </p:sp>
      <p:sp>
        <p:nvSpPr>
          <p:cNvPr id="23" name="timeline-table-2-1">
            <a:extLst xmlns:a="http://schemas.openxmlformats.org/drawingml/2006/main">
              <a:ext uri="{FF2B5EF4-FFF2-40B4-BE49-F238E27FC236}">
                <a16:creationId xmlns:a16="http://schemas.microsoft.com/office/drawing/2014/main" id="{20274CE8-C86B-48BC-B954-A91DFE0C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Q1s16/Q2s1, C=38/B=58</a:t>
            </a:r>
          </a:p>
        </p:txBody>
      </p:sp>
      <p:sp>
        <p:nvSpPr>
          <p:cNvPr id="24" name="timeline-table-2-2">
            <a:extLst xmlns:a="http://schemas.openxmlformats.org/drawingml/2006/main">
              <a:ext uri="{FF2B5EF4-FFF2-40B4-BE49-F238E27FC236}">
                <a16:creationId xmlns:a16="http://schemas.microsoft.com/office/drawing/2014/main" id="{61D46875-E207-4D63-948F-A9662116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527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13.70 ms</a:t>
            </a:r>
          </a:p>
        </p:txBody>
      </p:sp>
      <p:sp>
        <p:nvSpPr>
          <p:cNvPr id="25" name="timeline-table-2-3">
            <a:extLst xmlns:a="http://schemas.openxmlformats.org/drawingml/2006/main">
              <a:ext uri="{FF2B5EF4-FFF2-40B4-BE49-F238E27FC236}">
                <a16:creationId xmlns:a16="http://schemas.microsoft.com/office/drawing/2014/main" id="{7019D07F-E46A-435C-AC46-C64ADDA6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29527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hot atomic 被分散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8F4D99-7463-44C0-BBEB-84D1C7CF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27" name="timeline-table-3-0">
            <a:extLst xmlns:a="http://schemas.openxmlformats.org/drawingml/2006/main">
              <a:ext uri="{FF2B5EF4-FFF2-40B4-BE49-F238E27FC236}">
                <a16:creationId xmlns:a16="http://schemas.microsoft.com/office/drawing/2014/main" id="{EB0D2D00-E004-44F4-9EE1-14B711FE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sharding</a:t>
            </a:r>
          </a:p>
        </p:txBody>
      </p:sp>
      <p:sp>
        <p:nvSpPr>
          <p:cNvPr id="28" name="timeline-table-3-1">
            <a:extLst xmlns:a="http://schemas.openxmlformats.org/drawingml/2006/main">
              <a:ext uri="{FF2B5EF4-FFF2-40B4-BE49-F238E27FC236}">
                <a16:creationId xmlns:a16="http://schemas.microsoft.com/office/drawing/2014/main" id="{FA9953B0-2CD7-415B-AED6-D08E4FAC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Q1s16/Q2s16, C=16/B=80</a:t>
            </a:r>
          </a:p>
        </p:txBody>
      </p:sp>
      <p:sp>
        <p:nvSpPr>
          <p:cNvPr id="29" name="timeline-table-3-2">
            <a:extLst xmlns:a="http://schemas.openxmlformats.org/drawingml/2006/main">
              <a:ext uri="{FF2B5EF4-FFF2-40B4-BE49-F238E27FC236}">
                <a16:creationId xmlns:a16="http://schemas.microsoft.com/office/drawing/2014/main" id="{2FE9625B-AF98-4059-9952-449F844A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480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5.57 ms</a:t>
            </a:r>
          </a:p>
        </p:txBody>
      </p:sp>
      <p:sp>
        <p:nvSpPr>
          <p:cNvPr id="30" name="timeline-table-3-3">
            <a:extLst xmlns:a="http://schemas.openxmlformats.org/drawingml/2006/main">
              <a:ext uri="{FF2B5EF4-FFF2-40B4-BE49-F238E27FC236}">
                <a16:creationId xmlns:a16="http://schemas.microsoft.com/office/drawing/2014/main" id="{666A2C94-F2B9-4223-B25E-728A44B5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4480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hot atomic 被分散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D8C93D-3BC0-43B8-A159-487A7A1F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32" name="timeline-table-4-0">
            <a:extLst xmlns:a="http://schemas.openxmlformats.org/drawingml/2006/main">
              <a:ext uri="{FF2B5EF4-FFF2-40B4-BE49-F238E27FC236}">
                <a16:creationId xmlns:a16="http://schemas.microsoft.com/office/drawing/2014/main" id="{60F20A07-E13C-4C60-8543-D840FA82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lane-pop</a:t>
            </a:r>
          </a:p>
        </p:txBody>
      </p:sp>
      <p:sp>
        <p:nvSpPr>
          <p:cNvPr id="33" name="timeline-table-4-1">
            <a:extLst xmlns:a="http://schemas.openxmlformats.org/drawingml/2006/main">
              <a:ext uri="{FF2B5EF4-FFF2-40B4-BE49-F238E27FC236}">
                <a16:creationId xmlns:a16="http://schemas.microsoft.com/office/drawing/2014/main" id="{7F2E142E-C39C-4A70-BE43-0A03DDAB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2430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Q1s16/Q2s16, C=24/B=72</a:t>
            </a:r>
          </a:p>
        </p:txBody>
      </p:sp>
      <p:sp>
        <p:nvSpPr>
          <p:cNvPr id="34" name="timeline-table-4-2">
            <a:extLst xmlns:a="http://schemas.openxmlformats.org/drawingml/2006/main">
              <a:ext uri="{FF2B5EF4-FFF2-40B4-BE49-F238E27FC236}">
                <a16:creationId xmlns:a16="http://schemas.microsoft.com/office/drawing/2014/main" id="{759619A8-42A7-45FB-957A-4D8FDC8D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243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3.84 ms</a:t>
            </a:r>
          </a:p>
        </p:txBody>
      </p:sp>
      <p:sp>
        <p:nvSpPr>
          <p:cNvPr id="35" name="timeline-table-4-3">
            <a:extLst xmlns:a="http://schemas.openxmlformats.org/drawingml/2006/main">
              <a:ext uri="{FF2B5EF4-FFF2-40B4-BE49-F238E27FC236}">
                <a16:creationId xmlns:a16="http://schemas.microsoft.com/office/drawing/2014/main" id="{79208743-180E-4835-B2C6-70F580EA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9243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shard 起掃策略改善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CA46E7-0263-4E4B-A61A-0C7623A4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37" name="timeline-table-5-0">
            <a:extLst xmlns:a="http://schemas.openxmlformats.org/drawingml/2006/main">
              <a:ext uri="{FF2B5EF4-FFF2-40B4-BE49-F238E27FC236}">
                <a16:creationId xmlns:a16="http://schemas.microsoft.com/office/drawing/2014/main" id="{7A3D4D59-C72C-4AFC-9758-51464845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High shards</a:t>
            </a:r>
          </a:p>
        </p:txBody>
      </p:sp>
      <p:sp>
        <p:nvSpPr>
          <p:cNvPr id="38" name="timeline-table-5-1">
            <a:extLst xmlns:a="http://schemas.openxmlformats.org/drawingml/2006/main">
              <a:ext uri="{FF2B5EF4-FFF2-40B4-BE49-F238E27FC236}">
                <a16:creationId xmlns:a16="http://schemas.microsoft.com/office/drawing/2014/main" id="{A4ECB777-7DC7-49A3-AC76-55C68F4E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1960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Q1s256/Q2s256, C=24/B=72</a:t>
            </a:r>
          </a:p>
        </p:txBody>
      </p:sp>
      <p:sp>
        <p:nvSpPr>
          <p:cNvPr id="39" name="timeline-table-5-2">
            <a:extLst xmlns:a="http://schemas.openxmlformats.org/drawingml/2006/main">
              <a:ext uri="{FF2B5EF4-FFF2-40B4-BE49-F238E27FC236}">
                <a16:creationId xmlns:a16="http://schemas.microsoft.com/office/drawing/2014/main" id="{338DC790-2449-4B58-A292-FD41EEAD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196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 ms</a:t>
            </a:r>
          </a:p>
        </p:txBody>
      </p:sp>
      <p:sp>
        <p:nvSpPr>
          <p:cNvPr id="40" name="timeline-table-5-3">
            <a:extLst xmlns:a="http://schemas.openxmlformats.org/drawingml/2006/main">
              <a:ext uri="{FF2B5EF4-FFF2-40B4-BE49-F238E27FC236}">
                <a16:creationId xmlns:a16="http://schemas.microsoft.com/office/drawing/2014/main" id="{69E6855D-E239-483F-96E9-20FFC5E4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44196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global contention 大幅下降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E8EC1F-7169-4B47-A66D-D531B183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3608"/>
            <a:ext cx="5562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5D7140-B29A-4627-84DD-A7CD9333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0"/>
            <a:ext cx="514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30.35 ms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AA3D47-10D7-4B5B-8DA3-122939CD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151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baseline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C4DAD2-C1BE-472D-A3C2-672E22B6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03608"/>
            <a:ext cx="5562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9B9079-CE46-45DC-A0FE-38D83BC2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286500"/>
            <a:ext cx="514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3.84 ms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5707EC-EEC7-41B6-8BF1-100B35DF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9151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16-shard + lane-pop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CC7020-DC5A-4A1D-BF6D-E0382955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6003608"/>
            <a:ext cx="5562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C7E06B-12AF-465A-BD55-4211277B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286500"/>
            <a:ext cx="5143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F7D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 ms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09B77-8788-408F-8697-819FB37C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9151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256-shard default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6C9679-4CEF-4040-B118-9D442846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24900"/>
            <a:ext cx="1710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867A0C-35AA-4DED-AF7D-92181DBF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7C8FF0B-5C4A-4D35-A2EF-F483BD4E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91600"/>
            <a:ext cx="1642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重點：每次大幅改善，都對應到 queue atomic traffic 被分散或減少。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AE52FB-F591-4216-9CC2-A3095BB5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71D80A-3CBB-4CD5-9155-D8552FEF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6678776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6-bg">
            <a:extLst xmlns:a="http://schemas.openxmlformats.org/drawingml/2006/main">
              <a:ext uri="{FF2B5EF4-FFF2-40B4-BE49-F238E27FC236}">
                <a16:creationId xmlns:a16="http://schemas.microsoft.com/office/drawing/2014/main" id="{9ADBA50A-78A4-4E77-B687-9D1873D7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4DD69-20C5-4A70-B3D1-6944D2F5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257B5-4459-45C7-9E08-09A35585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RDP/RGP occupancy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88D63-0E63-4CBA-BC6A-D3F5CB8A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DD28B-D1D3-4B82-B67C-A443C8A6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161F8-8BD9-4B76-B788-FA3ADF55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D09B0-0B08-445C-B587-3DD9A9B3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965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Wavefront-only RGP crop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025176afa498e"/>
          <a:stretch xmlns:a="http://schemas.openxmlformats.org/drawingml/2006/main"/>
        </p:blipFill>
        <p:spPr>
          <a:xfrm xmlns:a="http://schemas.openxmlformats.org/drawingml/2006/main">
            <a:off x="970677" y="1855470"/>
            <a:ext cx="8890000" cy="5000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9B54E-3C39-4CAA-83D2-C2D2DFD4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991350"/>
            <a:ext cx="9658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這張圖可以輔助觀察，但不能單獨當因果證據。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B578A-90E1-4A83-87D2-21BDA410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00450"/>
            <a:ext cx="71247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wavefront = 0</a:t>
            </a:r>
          </a:p>
          <a:p xmlns:a="http://schemas.openxmlformats.org/drawingml/2006/main">
            <a:pPr>
              <a:defRPr sz="30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不能直接推論 shader 已結束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CD09C-B59A-4D0C-9250-1D069C05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053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52FBA-8A9D-4755-859E-42EDCE31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705350"/>
            <a:ext cx="676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RGP occupancy 圖保留作輔助。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04DA4-29A8-4107-95AE-8C3668D5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2387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92FFE-42C3-4F9A-B8F5-F69AE3C0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238750"/>
            <a:ext cx="676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ALU-only probe 也出現相似型態。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B16E5-2976-4C4D-BE80-55B645C7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4360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972FC-3B5B-47EC-9393-255755D4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791200"/>
            <a:ext cx="6762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後續判斷主要依據：compute time 與 queue counters trend。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B8CBC-235A-4F37-A16C-76177064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4654" y="6623685"/>
            <a:ext cx="7132796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33CA2-0B86-4F04-9B70-84A5A1ED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3254" y="67818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DB5AD-8C33-4876-BBCF-8E41FB9E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858000"/>
            <a:ext cx="6438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這頁只交代 profiler 解讀邊界，不展開細節。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EF56C1-14DE-44EA-B993-7A8EF5C2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ACB16-A7D3-4FA2-9301-C0500437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3774832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7-bg">
            <a:extLst xmlns:a="http://schemas.openxmlformats.org/drawingml/2006/main">
              <a:ext uri="{FF2B5EF4-FFF2-40B4-BE49-F238E27FC236}">
                <a16:creationId xmlns:a16="http://schemas.microsoft.com/office/drawing/2014/main" id="{B3B140F3-3646-4DE6-9706-8D1149CD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4A709-BFB2-4944-8F93-BA4203F5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A5FD1-61F5-4B83-A660-C27C37B9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優化 1：B/C ratio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0C0E9-B99C-47A4-A25F-E0018418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0877E-7D3D-4473-A265-DD6864F6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3E987-16CE-4B8A-9E2B-8EBA7905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evidence-badge-0">
            <a:extLst xmlns:a="http://schemas.openxmlformats.org/drawingml/2006/main">
              <a:ext uri="{FF2B5EF4-FFF2-40B4-BE49-F238E27FC236}">
                <a16:creationId xmlns:a16="http://schemas.microsoft.com/office/drawing/2014/main" id="{57B76E35-883A-4CA0-B11B-305FB6CF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48DC9-CBC3-4665-8AE7-01F2F052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297D2-5270-448B-8776-4A3E3F78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8590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Node C writer 是否不足，造成 Q2 backlog？</a:t>
            </a:r>
          </a:p>
        </p:txBody>
      </p:sp>
      <p:sp>
        <p:nvSpPr>
          <p:cNvPr id="10" name="evidence-badge-1">
            <a:extLst xmlns:a="http://schemas.openxmlformats.org/drawingml/2006/main">
              <a:ext uri="{FF2B5EF4-FFF2-40B4-BE49-F238E27FC236}">
                <a16:creationId xmlns:a16="http://schemas.microsoft.com/office/drawing/2014/main" id="{4EE7F091-3DB2-41AA-B4A9-13365C54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6F5E0-46FE-44E7-8B23-6D73402D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嘗試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32AAF-CD47-435C-9C0D-B14A3992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8120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固定總 workgroups，掃 C/B worker ratio。</a:t>
            </a:r>
          </a:p>
        </p:txBody>
      </p:sp>
      <p:sp>
        <p:nvSpPr>
          <p:cNvPr id="13" name="evidence-badge-2">
            <a:extLst xmlns:a="http://schemas.openxmlformats.org/drawingml/2006/main">
              <a:ext uri="{FF2B5EF4-FFF2-40B4-BE49-F238E27FC236}">
                <a16:creationId xmlns:a16="http://schemas.microsoft.com/office/drawing/2014/main" id="{E72E7F8F-CEA7-4225-8BCD-D9F65362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8550E-2424-4D52-8443-1149E762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BE7F8-8DDB-473B-8235-345C70C6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9555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C=40/B=56 最佳，avg compute 到 27.97 ms。</a:t>
            </a:r>
          </a:p>
        </p:txBody>
      </p:sp>
      <p:sp>
        <p:nvSpPr>
          <p:cNvPr id="16" name="evidence-badge-3">
            <a:extLst xmlns:a="http://schemas.openxmlformats.org/drawingml/2006/main">
              <a:ext uri="{FF2B5EF4-FFF2-40B4-BE49-F238E27FC236}">
                <a16:creationId xmlns:a16="http://schemas.microsoft.com/office/drawing/2014/main" id="{78DCD84B-5D91-443D-9DD4-8234CE25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285BB-3CDF-47CE-AD3E-4719F47F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解讀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F921C-CE90-4B03-9467-F6E2FE88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71800"/>
            <a:ext cx="7886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writer 數量影響 backlog，但真正的大改善仍要處理 queue atomic contention。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83293-D228-4DBC-BF71-21A3EEEA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4963"/>
            <a:ext cx="4301289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EB1C9-112D-4F16-8A60-7E2D4F3C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3886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50k -&gt; 9k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603E5-DF68-4DD2-9B2C-9937A475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24600"/>
            <a:ext cx="388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high-water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E06F8A-98C3-4FDE-A2AE-B745020B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339" y="5414963"/>
            <a:ext cx="4301289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5A245-47B3-4BAF-8992-F9E41BEE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695950"/>
            <a:ext cx="3886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8.5%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3B794-974A-4E32-9EFD-20302C0B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6324600"/>
            <a:ext cx="388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約略改善幅度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44D855-8C9F-4F51-BC0A-A81E074E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24900"/>
            <a:ext cx="8793079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424D60-456E-4B48-BCFE-4D0D377E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46BB5F-C86C-49D4-AE3E-C9BEAF7A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91600"/>
            <a:ext cx="811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B/C ratio 是第一個訊號：queue backlog 會放大 atomic traffic。</a:t>
            </a:r>
          </a:p>
        </p:txBody>
      </p:sp>
      <p:sp>
        <p:nvSpPr>
          <p:cNvPr id="28" name="bc-table-h-0">
            <a:extLst xmlns:a="http://schemas.openxmlformats.org/drawingml/2006/main">
              <a:ext uri="{FF2B5EF4-FFF2-40B4-BE49-F238E27FC236}">
                <a16:creationId xmlns:a16="http://schemas.microsoft.com/office/drawing/2014/main" id="{49671982-055B-4CFF-967D-795954F0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85900"/>
            <a:ext cx="1104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</a:t>
            </a:r>
          </a:p>
        </p:txBody>
      </p:sp>
      <p:sp>
        <p:nvSpPr>
          <p:cNvPr id="29" name="bc-table-h-1">
            <a:extLst xmlns:a="http://schemas.openxmlformats.org/drawingml/2006/main">
              <a:ext uri="{FF2B5EF4-FFF2-40B4-BE49-F238E27FC236}">
                <a16:creationId xmlns:a16="http://schemas.microsoft.com/office/drawing/2014/main" id="{4E0CFC8B-97AE-4E8F-AD9B-65FFC229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485900"/>
            <a:ext cx="1104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</a:t>
            </a:r>
          </a:p>
        </p:txBody>
      </p:sp>
      <p:sp>
        <p:nvSpPr>
          <p:cNvPr id="30" name="bc-table-h-2">
            <a:extLst xmlns:a="http://schemas.openxmlformats.org/drawingml/2006/main">
              <a:ext uri="{FF2B5EF4-FFF2-40B4-BE49-F238E27FC236}">
                <a16:creationId xmlns:a16="http://schemas.microsoft.com/office/drawing/2014/main" id="{EAED2D5D-5C22-47C7-A9D8-43162B3F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1485900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Avg compute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7952DB-4F5C-4855-89F6-5ACD119A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952625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  <a:prstDash val="solid"/>
          </a:ln>
        </p:spPr>
      </p:sp>
      <p:sp>
        <p:nvSpPr>
          <p:cNvPr id="32" name="bc-table-0-0">
            <a:extLst xmlns:a="http://schemas.openxmlformats.org/drawingml/2006/main">
              <a:ext uri="{FF2B5EF4-FFF2-40B4-BE49-F238E27FC236}">
                <a16:creationId xmlns:a16="http://schemas.microsoft.com/office/drawing/2014/main" id="{262B57C9-E906-4AA3-9AAC-AA300CC8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5265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24</a:t>
            </a:r>
          </a:p>
        </p:txBody>
      </p:sp>
      <p:sp>
        <p:nvSpPr>
          <p:cNvPr id="33" name="bc-table-0-1">
            <a:extLst xmlns:a="http://schemas.openxmlformats.org/drawingml/2006/main">
              <a:ext uri="{FF2B5EF4-FFF2-40B4-BE49-F238E27FC236}">
                <a16:creationId xmlns:a16="http://schemas.microsoft.com/office/drawing/2014/main" id="{6CD5E3E3-DC92-4A27-A29F-4164F1F2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15265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72</a:t>
            </a:r>
          </a:p>
        </p:txBody>
      </p:sp>
      <p:sp>
        <p:nvSpPr>
          <p:cNvPr id="34" name="bc-table-0-2">
            <a:extLst xmlns:a="http://schemas.openxmlformats.org/drawingml/2006/main">
              <a:ext uri="{FF2B5EF4-FFF2-40B4-BE49-F238E27FC236}">
                <a16:creationId xmlns:a16="http://schemas.microsoft.com/office/drawing/2014/main" id="{D8F7EF18-5108-46AB-B615-9452639B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15265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30.35 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7CAC60-B091-4952-823A-C8BE1E2B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6700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36" name="bc-table-1-0">
            <a:extLst xmlns:a="http://schemas.openxmlformats.org/drawingml/2006/main">
              <a:ext uri="{FF2B5EF4-FFF2-40B4-BE49-F238E27FC236}">
                <a16:creationId xmlns:a16="http://schemas.microsoft.com/office/drawing/2014/main" id="{C7ECB15C-C135-43B3-BFEC-AE19944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575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32</a:t>
            </a:r>
          </a:p>
        </p:txBody>
      </p:sp>
      <p:sp>
        <p:nvSpPr>
          <p:cNvPr id="37" name="bc-table-1-1">
            <a:extLst xmlns:a="http://schemas.openxmlformats.org/drawingml/2006/main">
              <a:ext uri="{FF2B5EF4-FFF2-40B4-BE49-F238E27FC236}">
                <a16:creationId xmlns:a16="http://schemas.microsoft.com/office/drawing/2014/main" id="{CF314486-795D-467F-B0F2-E796EEDE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64</a:t>
            </a:r>
          </a:p>
        </p:txBody>
      </p:sp>
      <p:sp>
        <p:nvSpPr>
          <p:cNvPr id="38" name="bc-table-1-2">
            <a:extLst xmlns:a="http://schemas.openxmlformats.org/drawingml/2006/main">
              <a:ext uri="{FF2B5EF4-FFF2-40B4-BE49-F238E27FC236}">
                <a16:creationId xmlns:a16="http://schemas.microsoft.com/office/drawing/2014/main" id="{AFE1D114-A132-4BFB-B6C0-3531FCE0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85750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28.44 ms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B77852-17EA-48F4-8581-39E8B143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7185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40" name="bc-table-2-0">
            <a:extLst xmlns:a="http://schemas.openxmlformats.org/drawingml/2006/main">
              <a:ext uri="{FF2B5EF4-FFF2-40B4-BE49-F238E27FC236}">
                <a16:creationId xmlns:a16="http://schemas.microsoft.com/office/drawing/2014/main" id="{5C3B106A-2ACF-4A8A-BBFB-5B80B7BC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6235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40</a:t>
            </a:r>
          </a:p>
        </p:txBody>
      </p:sp>
      <p:sp>
        <p:nvSpPr>
          <p:cNvPr id="41" name="bc-table-2-1">
            <a:extLst xmlns:a="http://schemas.openxmlformats.org/drawingml/2006/main">
              <a:ext uri="{FF2B5EF4-FFF2-40B4-BE49-F238E27FC236}">
                <a16:creationId xmlns:a16="http://schemas.microsoft.com/office/drawing/2014/main" id="{4019A9D0-C215-45A3-B0F5-469C7D84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56235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56</a:t>
            </a:r>
          </a:p>
        </p:txBody>
      </p:sp>
      <p:sp>
        <p:nvSpPr>
          <p:cNvPr id="42" name="bc-table-2-2">
            <a:extLst xmlns:a="http://schemas.openxmlformats.org/drawingml/2006/main">
              <a:ext uri="{FF2B5EF4-FFF2-40B4-BE49-F238E27FC236}">
                <a16:creationId xmlns:a16="http://schemas.microsoft.com/office/drawing/2014/main" id="{464965D9-4041-47E4-A589-6CB17FAF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56235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27.97 ms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81BD94-1E20-45FD-8778-2CECEEE7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67175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44" name="bc-table-3-0">
            <a:extLst xmlns:a="http://schemas.openxmlformats.org/drawingml/2006/main">
              <a:ext uri="{FF2B5EF4-FFF2-40B4-BE49-F238E27FC236}">
                <a16:creationId xmlns:a16="http://schemas.microsoft.com/office/drawing/2014/main" id="{6E05EB1E-34A2-4FAA-B9EA-1909756A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672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48</a:t>
            </a:r>
          </a:p>
        </p:txBody>
      </p:sp>
      <p:sp>
        <p:nvSpPr>
          <p:cNvPr id="45" name="bc-table-3-1">
            <a:extLst xmlns:a="http://schemas.openxmlformats.org/drawingml/2006/main">
              <a:ext uri="{FF2B5EF4-FFF2-40B4-BE49-F238E27FC236}">
                <a16:creationId xmlns:a16="http://schemas.microsoft.com/office/drawing/2014/main" id="{2AC068A6-6707-4EB0-A88F-98108EF9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6720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48</a:t>
            </a:r>
          </a:p>
        </p:txBody>
      </p:sp>
      <p:sp>
        <p:nvSpPr>
          <p:cNvPr id="46" name="bc-table-3-2">
            <a:extLst xmlns:a="http://schemas.openxmlformats.org/drawingml/2006/main">
              <a:ext uri="{FF2B5EF4-FFF2-40B4-BE49-F238E27FC236}">
                <a16:creationId xmlns:a16="http://schemas.microsoft.com/office/drawing/2014/main" id="{0EA03F4F-6194-42CA-AE7D-1BEEB01C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26720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28.59 ms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1BF6D6-9457-4CC8-A850-9E286150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772025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48" name="bc-table-4-0">
            <a:extLst xmlns:a="http://schemas.openxmlformats.org/drawingml/2006/main">
              <a:ext uri="{FF2B5EF4-FFF2-40B4-BE49-F238E27FC236}">
                <a16:creationId xmlns:a16="http://schemas.microsoft.com/office/drawing/2014/main" id="{6A4415BE-7354-4E4B-B4DF-31D5D306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97205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64</a:t>
            </a:r>
          </a:p>
        </p:txBody>
      </p:sp>
      <p:sp>
        <p:nvSpPr>
          <p:cNvPr id="49" name="bc-table-4-1">
            <a:extLst xmlns:a="http://schemas.openxmlformats.org/drawingml/2006/main">
              <a:ext uri="{FF2B5EF4-FFF2-40B4-BE49-F238E27FC236}">
                <a16:creationId xmlns:a16="http://schemas.microsoft.com/office/drawing/2014/main" id="{D16C0653-F544-48D4-AD85-E4CCEAA2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72050"/>
            <a:ext cx="110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32</a:t>
            </a:r>
          </a:p>
        </p:txBody>
      </p:sp>
      <p:sp>
        <p:nvSpPr>
          <p:cNvPr id="50" name="bc-table-4-2">
            <a:extLst xmlns:a="http://schemas.openxmlformats.org/drawingml/2006/main">
              <a:ext uri="{FF2B5EF4-FFF2-40B4-BE49-F238E27FC236}">
                <a16:creationId xmlns:a16="http://schemas.microsoft.com/office/drawing/2014/main" id="{23EE91E8-5CA2-4344-ABA4-903E7134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97205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30.25 ms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7A520F-11B5-4A75-A794-5B47EDBF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588D02-575F-4C98-8089-04858BF5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9759997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8-bg">
            <a:extLst xmlns:a="http://schemas.openxmlformats.org/drawingml/2006/main">
              <a:ext uri="{FF2B5EF4-FFF2-40B4-BE49-F238E27FC236}">
                <a16:creationId xmlns:a16="http://schemas.microsoft.com/office/drawing/2014/main" id="{BFDBC056-5E2D-4C84-ACB4-74A81F1D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B9C30-4322-4B5D-8A5A-638CF305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8067F-DA5B-428E-8264-B535A133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優化 2：Q1 sharding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732A0-DB8D-45B7-870E-F46EF71D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DA221-8504-4D74-8C22-796D59BA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E53D9-A7F2-414C-BFB0-9F2CFF20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evidence-badge-0">
            <a:extLst xmlns:a="http://schemas.openxmlformats.org/drawingml/2006/main">
              <a:ext uri="{FF2B5EF4-FFF2-40B4-BE49-F238E27FC236}">
                <a16:creationId xmlns:a16="http://schemas.microsoft.com/office/drawing/2014/main" id="{D0C1DE5C-F2DE-46E1-86D4-AB3FE76E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C81BC-72B4-4A98-8A63-1D18E2F8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AD5D7-85FD-42C4-8F99-6F34E7C3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859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enqueue/dequeue contention 仍然明顯。</a:t>
            </a:r>
          </a:p>
        </p:txBody>
      </p:sp>
      <p:sp>
        <p:nvSpPr>
          <p:cNvPr id="10" name="evidence-badge-1">
            <a:extLst xmlns:a="http://schemas.openxmlformats.org/drawingml/2006/main">
              <a:ext uri="{FF2B5EF4-FFF2-40B4-BE49-F238E27FC236}">
                <a16:creationId xmlns:a16="http://schemas.microsoft.com/office/drawing/2014/main" id="{3C8DDC91-D210-4234-ABB5-BFDFD52C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AAD65-EF60-4333-8B27-D8D5C961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嘗試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3B638-FFA2-4BD4-8CB1-F1057251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8120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把 Q1 global queue 拆成多個 shards，再重新掃 B/C。</a:t>
            </a:r>
          </a:p>
        </p:txBody>
      </p:sp>
      <p:sp>
        <p:nvSpPr>
          <p:cNvPr id="13" name="evidence-badge-2">
            <a:extLst xmlns:a="http://schemas.openxmlformats.org/drawingml/2006/main">
              <a:ext uri="{FF2B5EF4-FFF2-40B4-BE49-F238E27FC236}">
                <a16:creationId xmlns:a16="http://schemas.microsoft.com/office/drawing/2014/main" id="{0A3E66A1-CBF7-43EA-A59D-943C9E43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06653-F2BB-40B4-B42F-AA55EA99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D6BB9-0580-432C-876A-B6268DA5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9555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Q1s16/Q2s1, C=38/B=58 到 13.70 ms avg。</a:t>
            </a:r>
          </a:p>
        </p:txBody>
      </p:sp>
      <p:sp>
        <p:nvSpPr>
          <p:cNvPr id="16" name="evidence-badge-3">
            <a:extLst xmlns:a="http://schemas.openxmlformats.org/drawingml/2006/main">
              <a:ext uri="{FF2B5EF4-FFF2-40B4-BE49-F238E27FC236}">
                <a16:creationId xmlns:a16="http://schemas.microsoft.com/office/drawing/2014/main" id="{7B82E367-46BB-48B8-BDA2-4FA375AB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99289-7545-4F5B-B8C7-71A06C27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解讀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E9E92-724F-4208-9FE9-9F7A0F18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90850"/>
            <a:ext cx="7658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hot atomic 被分散後改善很大，接著 Q2 壓力自然浮現。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96598-7E83-4CA9-83BE-095BC3C4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29275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DC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6A4D2-B668-4842-98D4-7992BB4F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2552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0B60A-95EA-4B69-AA8B-0A7D1B2C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2552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single hot queue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3DEFA-6059-4D60-A54F-27466E45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2930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0DA0E-25C9-4610-BCE9-9341293B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29275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7636B-B972-4EC3-AD72-27CFA370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772150"/>
            <a:ext cx="2552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shards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F06283-79E6-447B-B206-1B7B2B6E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96000"/>
            <a:ext cx="2552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 queues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0898D2-D0CF-41E2-B5AB-1EDA83CA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24900"/>
            <a:ext cx="856761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A720C9-FF4C-45BC-9FEF-690527E6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9865E5-2C73-4922-9DB9-EAE1C27B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20150"/>
            <a:ext cx="7886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修掉 Q1 後，下一個瓶頸不是結束，而是 Q2 counters 變得更明顯。</a:t>
            </a:r>
          </a:p>
        </p:txBody>
      </p:sp>
      <p:sp>
        <p:nvSpPr>
          <p:cNvPr id="29" name="q1-table-h-0">
            <a:extLst xmlns:a="http://schemas.openxmlformats.org/drawingml/2006/main">
              <a:ext uri="{FF2B5EF4-FFF2-40B4-BE49-F238E27FC236}">
                <a16:creationId xmlns:a16="http://schemas.microsoft.com/office/drawing/2014/main" id="{9FC4F226-AC18-4AAC-9C7D-7B7012D9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859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shards</a:t>
            </a:r>
          </a:p>
        </p:txBody>
      </p:sp>
      <p:sp>
        <p:nvSpPr>
          <p:cNvPr id="30" name="q1-table-h-1">
            <a:extLst xmlns:a="http://schemas.openxmlformats.org/drawingml/2006/main">
              <a:ext uri="{FF2B5EF4-FFF2-40B4-BE49-F238E27FC236}">
                <a16:creationId xmlns:a16="http://schemas.microsoft.com/office/drawing/2014/main" id="{DD05A0FB-294D-48F1-AE0D-38ECCD8F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1485900"/>
            <a:ext cx="1581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C/B</a:t>
            </a:r>
          </a:p>
        </p:txBody>
      </p:sp>
      <p:sp>
        <p:nvSpPr>
          <p:cNvPr id="31" name="q1-table-h-2">
            <a:extLst xmlns:a="http://schemas.openxmlformats.org/drawingml/2006/main">
              <a:ext uri="{FF2B5EF4-FFF2-40B4-BE49-F238E27FC236}">
                <a16:creationId xmlns:a16="http://schemas.microsoft.com/office/drawing/2014/main" id="{7C99BAE0-A294-4BBE-B071-BD824E08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14859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Avg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70F045-BC87-4F9E-ABA3-18F7D939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33575"/>
            <a:ext cx="813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  <a:prstDash val="solid"/>
          </a:ln>
        </p:spPr>
      </p:sp>
      <p:sp>
        <p:nvSpPr>
          <p:cNvPr id="33" name="q1-table-0-0">
            <a:extLst xmlns:a="http://schemas.openxmlformats.org/drawingml/2006/main">
              <a:ext uri="{FF2B5EF4-FFF2-40B4-BE49-F238E27FC236}">
                <a16:creationId xmlns:a16="http://schemas.microsoft.com/office/drawing/2014/main" id="{A2DE1F03-6922-48CD-BFEB-AB92278A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145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</a:t>
            </a:r>
          </a:p>
        </p:txBody>
      </p:sp>
      <p:sp>
        <p:nvSpPr>
          <p:cNvPr id="34" name="q1-table-0-1">
            <a:extLst xmlns:a="http://schemas.openxmlformats.org/drawingml/2006/main">
              <a:ext uri="{FF2B5EF4-FFF2-40B4-BE49-F238E27FC236}">
                <a16:creationId xmlns:a16="http://schemas.microsoft.com/office/drawing/2014/main" id="{8BB4B66F-CB84-4563-BB76-CC6DEBCE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1145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40/56</a:t>
            </a:r>
          </a:p>
        </p:txBody>
      </p:sp>
      <p:sp>
        <p:nvSpPr>
          <p:cNvPr id="35" name="q1-table-0-2">
            <a:extLst xmlns:a="http://schemas.openxmlformats.org/drawingml/2006/main">
              <a:ext uri="{FF2B5EF4-FFF2-40B4-BE49-F238E27FC236}">
                <a16:creationId xmlns:a16="http://schemas.microsoft.com/office/drawing/2014/main" id="{8568D791-FABF-44BC-B941-FBECA943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21145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23.24 ms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266B67-6C02-44F7-A79D-8E98BE14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09850"/>
            <a:ext cx="813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37" name="q1-table-1-0">
            <a:extLst xmlns:a="http://schemas.openxmlformats.org/drawingml/2006/main">
              <a:ext uri="{FF2B5EF4-FFF2-40B4-BE49-F238E27FC236}">
                <a16:creationId xmlns:a16="http://schemas.microsoft.com/office/drawing/2014/main" id="{F9563376-47D9-43A7-B1B6-44EC8925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03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8</a:t>
            </a:r>
          </a:p>
        </p:txBody>
      </p:sp>
      <p:sp>
        <p:nvSpPr>
          <p:cNvPr id="38" name="q1-table-1-1">
            <a:extLst xmlns:a="http://schemas.openxmlformats.org/drawingml/2006/main">
              <a:ext uri="{FF2B5EF4-FFF2-40B4-BE49-F238E27FC236}">
                <a16:creationId xmlns:a16="http://schemas.microsoft.com/office/drawing/2014/main" id="{100B489B-0AA3-481D-BE3A-109D7F9C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28003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40/56</a:t>
            </a:r>
          </a:p>
        </p:txBody>
      </p:sp>
      <p:sp>
        <p:nvSpPr>
          <p:cNvPr id="39" name="q1-table-1-2">
            <a:extLst xmlns:a="http://schemas.openxmlformats.org/drawingml/2006/main">
              <a:ext uri="{FF2B5EF4-FFF2-40B4-BE49-F238E27FC236}">
                <a16:creationId xmlns:a16="http://schemas.microsoft.com/office/drawing/2014/main" id="{9B1365CA-C1D2-4F8C-BC5C-7835FCD9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28003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17.90 ms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871021-81A5-41D1-8DD9-DF687CAE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86125"/>
            <a:ext cx="813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41" name="q1-table-2-0">
            <a:extLst xmlns:a="http://schemas.openxmlformats.org/drawingml/2006/main">
              <a:ext uri="{FF2B5EF4-FFF2-40B4-BE49-F238E27FC236}">
                <a16:creationId xmlns:a16="http://schemas.microsoft.com/office/drawing/2014/main" id="{F3D0AEC5-753B-4370-95F4-76645C6F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671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</a:t>
            </a:r>
          </a:p>
        </p:txBody>
      </p:sp>
      <p:sp>
        <p:nvSpPr>
          <p:cNvPr id="42" name="q1-table-2-1">
            <a:extLst xmlns:a="http://schemas.openxmlformats.org/drawingml/2006/main">
              <a:ext uri="{FF2B5EF4-FFF2-40B4-BE49-F238E27FC236}">
                <a16:creationId xmlns:a16="http://schemas.microsoft.com/office/drawing/2014/main" id="{21C3DA63-11A2-48F2-BA50-868630DF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46710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36/60</a:t>
            </a:r>
          </a:p>
        </p:txBody>
      </p:sp>
      <p:sp>
        <p:nvSpPr>
          <p:cNvPr id="43" name="q1-table-2-2">
            <a:extLst xmlns:a="http://schemas.openxmlformats.org/drawingml/2006/main">
              <a:ext uri="{FF2B5EF4-FFF2-40B4-BE49-F238E27FC236}">
                <a16:creationId xmlns:a16="http://schemas.microsoft.com/office/drawing/2014/main" id="{E8CF45C9-63DA-4DFB-901C-1D20A24A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34671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13.95 ms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46F65E-CC6F-4EC7-A1AB-B0D5AFCB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62400"/>
            <a:ext cx="813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45" name="q1-table-3-0">
            <a:extLst xmlns:a="http://schemas.openxmlformats.org/drawingml/2006/main">
              <a:ext uri="{FF2B5EF4-FFF2-40B4-BE49-F238E27FC236}">
                <a16:creationId xmlns:a16="http://schemas.microsoft.com/office/drawing/2014/main" id="{9D742C51-39CE-4B68-9F50-EE3E4E91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338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</a:t>
            </a:r>
          </a:p>
        </p:txBody>
      </p:sp>
      <p:sp>
        <p:nvSpPr>
          <p:cNvPr id="46" name="q1-table-3-1">
            <a:extLst xmlns:a="http://schemas.openxmlformats.org/drawingml/2006/main">
              <a:ext uri="{FF2B5EF4-FFF2-40B4-BE49-F238E27FC236}">
                <a16:creationId xmlns:a16="http://schemas.microsoft.com/office/drawing/2014/main" id="{9660619D-21C9-4B7B-AE98-2B1388D2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1338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38/58</a:t>
            </a:r>
          </a:p>
        </p:txBody>
      </p:sp>
      <p:sp>
        <p:nvSpPr>
          <p:cNvPr id="47" name="q1-table-3-2">
            <a:extLst xmlns:a="http://schemas.openxmlformats.org/drawingml/2006/main">
              <a:ext uri="{FF2B5EF4-FFF2-40B4-BE49-F238E27FC236}">
                <a16:creationId xmlns:a16="http://schemas.microsoft.com/office/drawing/2014/main" id="{C52731EB-A503-4541-8141-BDC6B7C9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41338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13.70 ms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873636-A2E2-41C1-84CB-FB842EDB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29150"/>
            <a:ext cx="8134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49" name="q1-table-4-0">
            <a:extLst xmlns:a="http://schemas.openxmlformats.org/drawingml/2006/main">
              <a:ext uri="{FF2B5EF4-FFF2-40B4-BE49-F238E27FC236}">
                <a16:creationId xmlns:a16="http://schemas.microsoft.com/office/drawing/2014/main" id="{73BBBC71-9A85-4E1F-B5DD-ECF65AF0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196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</a:t>
            </a:r>
          </a:p>
        </p:txBody>
      </p:sp>
      <p:sp>
        <p:nvSpPr>
          <p:cNvPr id="50" name="q1-table-4-1">
            <a:extLst xmlns:a="http://schemas.openxmlformats.org/drawingml/2006/main">
              <a:ext uri="{FF2B5EF4-FFF2-40B4-BE49-F238E27FC236}">
                <a16:creationId xmlns:a16="http://schemas.microsoft.com/office/drawing/2014/main" id="{AB23CFBF-EE51-4390-A6B4-E4E1FC90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48196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40/56</a:t>
            </a:r>
          </a:p>
        </p:txBody>
      </p:sp>
      <p:sp>
        <p:nvSpPr>
          <p:cNvPr id="51" name="q1-table-4-2">
            <a:extLst xmlns:a="http://schemas.openxmlformats.org/drawingml/2006/main">
              <a:ext uri="{FF2B5EF4-FFF2-40B4-BE49-F238E27FC236}">
                <a16:creationId xmlns:a16="http://schemas.microsoft.com/office/drawing/2014/main" id="{8DEDD7CB-A7AA-4F41-A3FF-DC596F3C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481965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14.08 ms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F5D02F-80A0-4980-9C7E-0CF4BB6E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5C3A15-2E14-4D04-8667-F0D2AF0C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7390903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09-bg">
            <a:extLst xmlns:a="http://schemas.openxmlformats.org/drawingml/2006/main">
              <a:ext uri="{FF2B5EF4-FFF2-40B4-BE49-F238E27FC236}">
                <a16:creationId xmlns:a16="http://schemas.microsoft.com/office/drawing/2014/main" id="{DC3FC6BA-15BD-4588-BE96-7F6FC177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FE241-5D77-4A29-B47A-30A52F14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14A93-9753-4018-AFF3-88F27873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優化 3：Q2 sharding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821D7-E603-43F3-AF85-5FC33A3A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08EB4-4F49-4340-AAE0-781508DA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693F5-29D0-4427-BC3F-0072B9FA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q2-table-h-0">
            <a:extLst xmlns:a="http://schemas.openxmlformats.org/drawingml/2006/main">
              <a:ext uri="{FF2B5EF4-FFF2-40B4-BE49-F238E27FC236}">
                <a16:creationId xmlns:a16="http://schemas.microsoft.com/office/drawing/2014/main" id="{B66A1BB1-2DAE-4D95-96E0-F58EB171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shards</a:t>
            </a:r>
          </a:p>
        </p:txBody>
      </p:sp>
      <p:sp>
        <p:nvSpPr>
          <p:cNvPr id="8" name="q2-table-h-1">
            <a:extLst xmlns:a="http://schemas.openxmlformats.org/drawingml/2006/main">
              <a:ext uri="{FF2B5EF4-FFF2-40B4-BE49-F238E27FC236}">
                <a16:creationId xmlns:a16="http://schemas.microsoft.com/office/drawing/2014/main" id="{30690071-BB79-4CE0-8109-8DFD7556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859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Avg compute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78564-A06F-44F9-A94C-A3F5829B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90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  <a:prstDash val="solid"/>
          </a:ln>
        </p:spPr>
      </p:sp>
      <p:sp>
        <p:nvSpPr>
          <p:cNvPr id="10" name="q2-table-0-0">
            <a:extLst xmlns:a="http://schemas.openxmlformats.org/drawingml/2006/main">
              <a:ext uri="{FF2B5EF4-FFF2-40B4-BE49-F238E27FC236}">
                <a16:creationId xmlns:a16="http://schemas.microsoft.com/office/drawing/2014/main" id="{CC0FFE8B-CDBB-4534-AD43-803117F6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</a:t>
            </a:r>
          </a:p>
        </p:txBody>
      </p:sp>
      <p:sp>
        <p:nvSpPr>
          <p:cNvPr id="11" name="q2-table-0-1">
            <a:extLst xmlns:a="http://schemas.openxmlformats.org/drawingml/2006/main">
              <a:ext uri="{FF2B5EF4-FFF2-40B4-BE49-F238E27FC236}">
                <a16:creationId xmlns:a16="http://schemas.microsoft.com/office/drawing/2014/main" id="{2031BE13-BE6B-4514-9741-D9F623BD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16.95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A3325-FE40-49D9-8737-2DE74ECE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33675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13" name="q2-table-1-0">
            <a:extLst xmlns:a="http://schemas.openxmlformats.org/drawingml/2006/main">
              <a:ext uri="{FF2B5EF4-FFF2-40B4-BE49-F238E27FC236}">
                <a16:creationId xmlns:a16="http://schemas.microsoft.com/office/drawing/2014/main" id="{FD5AE996-24CB-46EE-9766-CD1E7277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</a:t>
            </a:r>
          </a:p>
        </p:txBody>
      </p:sp>
      <p:sp>
        <p:nvSpPr>
          <p:cNvPr id="14" name="q2-table-1-1">
            <a:extLst xmlns:a="http://schemas.openxmlformats.org/drawingml/2006/main">
              <a:ext uri="{FF2B5EF4-FFF2-40B4-BE49-F238E27FC236}">
                <a16:creationId xmlns:a16="http://schemas.microsoft.com/office/drawing/2014/main" id="{5F722D37-E966-4B98-8B07-31720D05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10.24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EAF4E-EF02-4B69-A880-F197102B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16" name="q2-table-2-0">
            <a:extLst xmlns:a="http://schemas.openxmlformats.org/drawingml/2006/main">
              <a:ext uri="{FF2B5EF4-FFF2-40B4-BE49-F238E27FC236}">
                <a16:creationId xmlns:a16="http://schemas.microsoft.com/office/drawing/2014/main" id="{321D2D22-4F8F-4506-B35C-FD8CF3E2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</a:t>
            </a:r>
          </a:p>
        </p:txBody>
      </p:sp>
      <p:sp>
        <p:nvSpPr>
          <p:cNvPr id="17" name="q2-table-2-1">
            <a:extLst xmlns:a="http://schemas.openxmlformats.org/drawingml/2006/main">
              <a:ext uri="{FF2B5EF4-FFF2-40B4-BE49-F238E27FC236}">
                <a16:creationId xmlns:a16="http://schemas.microsoft.com/office/drawing/2014/main" id="{2D3CFE32-9F19-457B-B23B-7031334C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9570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8.38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A0579-A548-4088-9681-0E41382A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19" name="q2-table-3-0">
            <a:extLst xmlns:a="http://schemas.openxmlformats.org/drawingml/2006/main">
              <a:ext uri="{FF2B5EF4-FFF2-40B4-BE49-F238E27FC236}">
                <a16:creationId xmlns:a16="http://schemas.microsoft.com/office/drawing/2014/main" id="{517659E1-605D-4343-A99D-4E6B96EE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8</a:t>
            </a:r>
          </a:p>
        </p:txBody>
      </p:sp>
      <p:sp>
        <p:nvSpPr>
          <p:cNvPr id="20" name="q2-table-3-1">
            <a:extLst xmlns:a="http://schemas.openxmlformats.org/drawingml/2006/main">
              <a:ext uri="{FF2B5EF4-FFF2-40B4-BE49-F238E27FC236}">
                <a16:creationId xmlns:a16="http://schemas.microsoft.com/office/drawing/2014/main" id="{2D7667B8-D97D-4C8C-9BB5-818A3690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6.87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2510A-E4BD-481E-AC75-FCDB0EA5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22" name="q2-table-4-0">
            <a:extLst xmlns:a="http://schemas.openxmlformats.org/drawingml/2006/main">
              <a:ext uri="{FF2B5EF4-FFF2-40B4-BE49-F238E27FC236}">
                <a16:creationId xmlns:a16="http://schemas.microsoft.com/office/drawing/2014/main" id="{22C2A0AF-A64D-4B69-B34D-08A90459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</a:t>
            </a:r>
          </a:p>
        </p:txBody>
      </p:sp>
      <p:sp>
        <p:nvSpPr>
          <p:cNvPr id="23" name="q2-table-4-1">
            <a:extLst xmlns:a="http://schemas.openxmlformats.org/drawingml/2006/main">
              <a:ext uri="{FF2B5EF4-FFF2-40B4-BE49-F238E27FC236}">
                <a16:creationId xmlns:a16="http://schemas.microsoft.com/office/drawing/2014/main" id="{38C9C272-7A07-401F-A919-20A0C4DD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00650"/>
            <a:ext cx="247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6.08 ms</a:t>
            </a:r>
          </a:p>
        </p:txBody>
      </p:sp>
      <p:sp>
        <p:nvSpPr>
          <p:cNvPr id="24" name="evidence-badge-0">
            <a:extLst xmlns:a="http://schemas.openxmlformats.org/drawingml/2006/main">
              <a:ext uri="{FF2B5EF4-FFF2-40B4-BE49-F238E27FC236}">
                <a16:creationId xmlns:a16="http://schemas.microsoft.com/office/drawing/2014/main" id="{DF298057-3D03-4534-AE7D-003371F2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371" y="145732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5A98DE-D530-41EB-80B0-1DDE164E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430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問題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9DE911-E273-4473-890A-46ECD046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8590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sharded 後，Q2 global count/head/tail 成為主要壓力點。</a:t>
            </a:r>
          </a:p>
        </p:txBody>
      </p:sp>
      <p:sp>
        <p:nvSpPr>
          <p:cNvPr id="27" name="evidence-badge-1">
            <a:extLst xmlns:a="http://schemas.openxmlformats.org/drawingml/2006/main">
              <a:ext uri="{FF2B5EF4-FFF2-40B4-BE49-F238E27FC236}">
                <a16:creationId xmlns:a16="http://schemas.microsoft.com/office/drawing/2014/main" id="{E111D016-A716-41BC-9AA9-C1380CB5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371" y="195262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EE2B64-7C0D-406B-A8BD-A74852C5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嘗試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65E48B-706B-436A-A9A0-FE708DD8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8120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加入 Q2 shards，並在 Q2 壓力下降後重掃 B/C。</a:t>
            </a:r>
          </a:p>
        </p:txBody>
      </p:sp>
      <p:sp>
        <p:nvSpPr>
          <p:cNvPr id="30" name="evidence-badge-2">
            <a:extLst xmlns:a="http://schemas.openxmlformats.org/drawingml/2006/main">
              <a:ext uri="{FF2B5EF4-FFF2-40B4-BE49-F238E27FC236}">
                <a16:creationId xmlns:a16="http://schemas.microsoft.com/office/drawing/2014/main" id="{0075F911-8218-46F2-BC67-41DFA36A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371" y="24669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44F137-5984-4085-B79C-DECBD787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結果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E22196-6199-4863-AC02-A2043020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9555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Q1s16/Q2s16, C=16/B=80 到 5.57 ms avg。</a:t>
            </a:r>
          </a:p>
        </p:txBody>
      </p:sp>
      <p:sp>
        <p:nvSpPr>
          <p:cNvPr id="33" name="evidence-badge-3">
            <a:extLst xmlns:a="http://schemas.openxmlformats.org/drawingml/2006/main">
              <a:ext uri="{FF2B5EF4-FFF2-40B4-BE49-F238E27FC236}">
                <a16:creationId xmlns:a16="http://schemas.microsoft.com/office/drawing/2014/main" id="{374C6668-4006-4C21-996D-374371AE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371" y="29622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AA4304-9FF6-4605-BC3C-B879D7A7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解讀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E343EA-AF6C-41E7-B6FF-1BB6076E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9085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第二個大改善仍然是分散 global queue atomic。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569681-42A7-4761-8BB7-4372B9B6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371" y="5310188"/>
            <a:ext cx="4301289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F3CF74-5067-4417-A548-24EC0B70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76900"/>
            <a:ext cx="3886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47.8x / 255.9x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03B51C-0992-495B-9291-524E0846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134100"/>
            <a:ext cx="388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enq/deq fail ratio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1EA083-2A9A-43AD-8989-07F7D7BF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6161" y="5310188"/>
            <a:ext cx="4301289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D2ACB2-090A-4A80-B930-9AD90355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5638800"/>
            <a:ext cx="3886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68k -&gt; 1.5k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B625E5-C350-4061-B56F-3E0A6F82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6172200"/>
            <a:ext cx="388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high-water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EA405A-0AA2-43E3-8D1E-DB9C085E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371" y="8724900"/>
            <a:ext cx="8793079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0257A8-A100-4896-BEB6-1D29DD83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971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B843D5-7C53-44A4-9D11-7D106368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991600"/>
            <a:ext cx="8115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sharding 是第二個主要結構性優化。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0D47FA-EDF9-4F27-AF27-AD4181CF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FB4991-3F14-441F-9C5C-90EF074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5075068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-bg">
            <a:extLst xmlns:a="http://schemas.openxmlformats.org/drawingml/2006/main">
              <a:ext uri="{FF2B5EF4-FFF2-40B4-BE49-F238E27FC236}">
                <a16:creationId xmlns:a16="http://schemas.microsoft.com/office/drawing/2014/main" id="{98EAD23A-7AE4-4816-B5FD-F605F59F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66F2D-6201-4D99-B56F-B56ACB6F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166C6-4791-4DCA-9C09-8678C89C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優化 4：Q1 lane-pop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55BAA-BCB7-479A-BCCF-9C337E19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A8F0E-D8A3-4DF8-A25B-9DEB8330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66E83-9770-4E7F-B52D-FAD80CDB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evidence-badge-0">
            <a:extLst xmlns:a="http://schemas.openxmlformats.org/drawingml/2006/main">
              <a:ext uri="{FF2B5EF4-FFF2-40B4-BE49-F238E27FC236}">
                <a16:creationId xmlns:a16="http://schemas.microsoft.com/office/drawing/2014/main" id="{46D635B8-A996-4AE6-9F6C-837FCFFA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3BD00-E4C0-420F-8DA5-65DE9881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問題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77AE2-E9AF-47B1-91F1-BA5069D6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85900"/>
            <a:ext cx="1621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Q1/Q2 都 16 shards 後，同一 workgroup 內 lane 仍可能從同一 shard 開始 pop。</a:t>
            </a:r>
          </a:p>
        </p:txBody>
      </p:sp>
      <p:sp>
        <p:nvSpPr>
          <p:cNvPr id="10" name="evidence-badge-1">
            <a:extLst xmlns:a="http://schemas.openxmlformats.org/drawingml/2006/main">
              <a:ext uri="{FF2B5EF4-FFF2-40B4-BE49-F238E27FC236}">
                <a16:creationId xmlns:a16="http://schemas.microsoft.com/office/drawing/2014/main" id="{F3F2D008-AA65-48FF-974F-068B3D1B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38ECE-090C-4459-9A1D-EA0D5BC3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嘗試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97B5C-6FD5-42CE-ACEC-7FAF141C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81200"/>
            <a:ext cx="1621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把 Q1 pop 起掃點從 workgroup-level 改成 lane-level。</a:t>
            </a:r>
          </a:p>
        </p:txBody>
      </p:sp>
      <p:sp>
        <p:nvSpPr>
          <p:cNvPr id="13" name="evidence-badge-2">
            <a:extLst xmlns:a="http://schemas.openxmlformats.org/drawingml/2006/main">
              <a:ext uri="{FF2B5EF4-FFF2-40B4-BE49-F238E27FC236}">
                <a16:creationId xmlns:a16="http://schemas.microsoft.com/office/drawing/2014/main" id="{0D483642-4A16-46E6-9F6F-7D329264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D13BE-0AB4-4519-ABA7-1F08785B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F0C48D-5EC8-4ABE-B51B-258E45C4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95550"/>
            <a:ext cx="1621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lane-pop on, C=24/B=72 時 median compute 到 3.84 ms。</a:t>
            </a:r>
          </a:p>
        </p:txBody>
      </p:sp>
      <p:sp>
        <p:nvSpPr>
          <p:cNvPr id="16" name="evidence-badge-3">
            <a:extLst xmlns:a="http://schemas.openxmlformats.org/drawingml/2006/main">
              <a:ext uri="{FF2B5EF4-FFF2-40B4-BE49-F238E27FC236}">
                <a16:creationId xmlns:a16="http://schemas.microsoft.com/office/drawing/2014/main" id="{4717ED85-EE00-4A53-8C58-2B2ED18E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4F302-7CBC-4D16-A40F-2A51FA30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解讀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733F1-27DC-4C95-BF96-5613BB3F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90850"/>
            <a:ext cx="16211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這不是 request batching，而是 shard selection / scan-start strategy。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73568-0628-4A63-A2D0-2C4484FC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8718"/>
            <a:ext cx="8448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DC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D419F-75FF-4A29-8898-923E069A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05DD83-C813-46BE-A513-EDADF261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7772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Old: wgId % Q1_QUEUE_SHARDS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2F1873-EC7F-44AD-B501-015DA9D5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978718"/>
            <a:ext cx="8448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5B2A7-6ADC-49AB-9DB4-8A1DCE52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1625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DE96F-A3CD-4CD4-A177-6B4214D0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57800"/>
            <a:ext cx="7772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New: (wgId * local_size_x + localId) % Q1_QUEUE_SHARDS</a:t>
            </a:r>
          </a:p>
        </p:txBody>
      </p:sp>
      <p:sp>
        <p:nvSpPr>
          <p:cNvPr id="25" name="lanepop-table-h-0">
            <a:extLst xmlns:a="http://schemas.openxmlformats.org/drawingml/2006/main">
              <a:ext uri="{FF2B5EF4-FFF2-40B4-BE49-F238E27FC236}">
                <a16:creationId xmlns:a16="http://schemas.microsoft.com/office/drawing/2014/main" id="{9784B025-0E19-4F19-9D91-BB6CE11E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86650"/>
            <a:ext cx="657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Mode</a:t>
            </a:r>
          </a:p>
        </p:txBody>
      </p:sp>
      <p:sp>
        <p:nvSpPr>
          <p:cNvPr id="26" name="lanepop-table-h-1">
            <a:extLst xmlns:a="http://schemas.openxmlformats.org/drawingml/2006/main">
              <a:ext uri="{FF2B5EF4-FFF2-40B4-BE49-F238E27FC236}">
                <a16:creationId xmlns:a16="http://schemas.microsoft.com/office/drawing/2014/main" id="{A67DCD65-F9AC-4E8B-97BE-7EF15238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74866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Avg</a:t>
            </a:r>
          </a:p>
        </p:txBody>
      </p:sp>
      <p:sp>
        <p:nvSpPr>
          <p:cNvPr id="27" name="lanepop-table-h-2">
            <a:extLst xmlns:a="http://schemas.openxmlformats.org/drawingml/2006/main">
              <a:ext uri="{FF2B5EF4-FFF2-40B4-BE49-F238E27FC236}">
                <a16:creationId xmlns:a16="http://schemas.microsoft.com/office/drawing/2014/main" id="{D40A05F5-CCE5-4ADC-A2C7-1A545E62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4866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Median</a:t>
            </a:r>
          </a:p>
        </p:txBody>
      </p:sp>
      <p:sp>
        <p:nvSpPr>
          <p:cNvPr id="28" name="lanepop-table-h-3">
            <a:extLst xmlns:a="http://schemas.openxmlformats.org/drawingml/2006/main">
              <a:ext uri="{FF2B5EF4-FFF2-40B4-BE49-F238E27FC236}">
                <a16:creationId xmlns:a16="http://schemas.microsoft.com/office/drawing/2014/main" id="{590D059D-3524-4DFE-A77D-C77A3983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74866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23C24E-C499-41F8-A1E0-A4AABFC6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96225"/>
            <a:ext cx="1710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  <a:prstDash val="solid"/>
          </a:ln>
        </p:spPr>
      </p:sp>
      <p:sp>
        <p:nvSpPr>
          <p:cNvPr id="30" name="lanepop-table-0-0">
            <a:extLst xmlns:a="http://schemas.openxmlformats.org/drawingml/2006/main">
              <a:ext uri="{FF2B5EF4-FFF2-40B4-BE49-F238E27FC236}">
                <a16:creationId xmlns:a16="http://schemas.microsoft.com/office/drawing/2014/main" id="{895AB15E-B63E-4A2C-935A-18E99C1E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58150"/>
            <a:ext cx="657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lane-pop off, C=16/B=80</a:t>
            </a:r>
          </a:p>
        </p:txBody>
      </p:sp>
      <p:sp>
        <p:nvSpPr>
          <p:cNvPr id="31" name="lanepop-table-0-1">
            <a:extLst xmlns:a="http://schemas.openxmlformats.org/drawingml/2006/main">
              <a:ext uri="{FF2B5EF4-FFF2-40B4-BE49-F238E27FC236}">
                <a16:creationId xmlns:a16="http://schemas.microsoft.com/office/drawing/2014/main" id="{FA50C30D-F5A6-45B9-8721-5868A93F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05815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6.01 ms</a:t>
            </a:r>
          </a:p>
        </p:txBody>
      </p:sp>
      <p:sp>
        <p:nvSpPr>
          <p:cNvPr id="32" name="lanepop-table-0-2">
            <a:extLst xmlns:a="http://schemas.openxmlformats.org/drawingml/2006/main">
              <a:ext uri="{FF2B5EF4-FFF2-40B4-BE49-F238E27FC236}">
                <a16:creationId xmlns:a16="http://schemas.microsoft.com/office/drawing/2014/main" id="{803056AB-5B6A-4A12-B920-9A2D88B9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805815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5.60 ms</a:t>
            </a:r>
          </a:p>
        </p:txBody>
      </p:sp>
      <p:sp>
        <p:nvSpPr>
          <p:cNvPr id="33" name="lanepop-table-0-3">
            <a:extLst xmlns:a="http://schemas.openxmlformats.org/drawingml/2006/main">
              <a:ext uri="{FF2B5EF4-FFF2-40B4-BE49-F238E27FC236}">
                <a16:creationId xmlns:a16="http://schemas.microsoft.com/office/drawing/2014/main" id="{E10D291A-1C34-48C8-AEEE-864B566C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05815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5.54 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3FFD34-4AC0-4E11-A7DA-2FADCE52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86775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35" name="lanepop-table-1-0">
            <a:extLst xmlns:a="http://schemas.openxmlformats.org/drawingml/2006/main">
              <a:ext uri="{FF2B5EF4-FFF2-40B4-BE49-F238E27FC236}">
                <a16:creationId xmlns:a16="http://schemas.microsoft.com/office/drawing/2014/main" id="{18B98912-F267-4660-85D1-3625BD33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648700"/>
            <a:ext cx="657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lane-pop on, C=16/B=80</a:t>
            </a:r>
          </a:p>
        </p:txBody>
      </p:sp>
      <p:sp>
        <p:nvSpPr>
          <p:cNvPr id="36" name="lanepop-table-1-1">
            <a:extLst xmlns:a="http://schemas.openxmlformats.org/drawingml/2006/main">
              <a:ext uri="{FF2B5EF4-FFF2-40B4-BE49-F238E27FC236}">
                <a16:creationId xmlns:a16="http://schemas.microsoft.com/office/drawing/2014/main" id="{775435A1-20C4-4638-BB23-655ECEE7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6487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4.39 ms</a:t>
            </a:r>
          </a:p>
        </p:txBody>
      </p:sp>
      <p:sp>
        <p:nvSpPr>
          <p:cNvPr id="37" name="lanepop-table-1-2">
            <a:extLst xmlns:a="http://schemas.openxmlformats.org/drawingml/2006/main">
              <a:ext uri="{FF2B5EF4-FFF2-40B4-BE49-F238E27FC236}">
                <a16:creationId xmlns:a16="http://schemas.microsoft.com/office/drawing/2014/main" id="{F50C17A3-9368-4E57-B737-461E6B60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86487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4.00 ms</a:t>
            </a:r>
          </a:p>
        </p:txBody>
      </p:sp>
      <p:sp>
        <p:nvSpPr>
          <p:cNvPr id="38" name="lanepop-table-1-3">
            <a:extLst xmlns:a="http://schemas.openxmlformats.org/drawingml/2006/main">
              <a:ext uri="{FF2B5EF4-FFF2-40B4-BE49-F238E27FC236}">
                <a16:creationId xmlns:a16="http://schemas.microsoft.com/office/drawing/2014/main" id="{6BED5464-EB7B-414F-9741-12A154A1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86487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3.90 ms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DD1889-A993-4EE6-860A-D6390122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67800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40" name="lanepop-table-2-0">
            <a:extLst xmlns:a="http://schemas.openxmlformats.org/drawingml/2006/main">
              <a:ext uri="{FF2B5EF4-FFF2-40B4-BE49-F238E27FC236}">
                <a16:creationId xmlns:a16="http://schemas.microsoft.com/office/drawing/2014/main" id="{6D001798-1FE0-4FE0-A1D8-36F254E5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20200"/>
            <a:ext cx="657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lane-pop on, C=24/B=72</a:t>
            </a:r>
          </a:p>
        </p:txBody>
      </p:sp>
      <p:sp>
        <p:nvSpPr>
          <p:cNvPr id="41" name="lanepop-table-2-1">
            <a:extLst xmlns:a="http://schemas.openxmlformats.org/drawingml/2006/main">
              <a:ext uri="{FF2B5EF4-FFF2-40B4-BE49-F238E27FC236}">
                <a16:creationId xmlns:a16="http://schemas.microsoft.com/office/drawing/2014/main" id="{74D4959C-5F19-4357-ADB3-C1D07203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2202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3.85 ms</a:t>
            </a:r>
          </a:p>
        </p:txBody>
      </p:sp>
      <p:sp>
        <p:nvSpPr>
          <p:cNvPr id="42" name="lanepop-table-2-2">
            <a:extLst xmlns:a="http://schemas.openxmlformats.org/drawingml/2006/main">
              <a:ext uri="{FF2B5EF4-FFF2-40B4-BE49-F238E27FC236}">
                <a16:creationId xmlns:a16="http://schemas.microsoft.com/office/drawing/2014/main" id="{2E17469A-7C8E-470D-B382-76C881F9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92202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3.84 ms</a:t>
            </a:r>
          </a:p>
        </p:txBody>
      </p:sp>
      <p:sp>
        <p:nvSpPr>
          <p:cNvPr id="43" name="lanepop-table-2-3">
            <a:extLst xmlns:a="http://schemas.openxmlformats.org/drawingml/2006/main">
              <a:ext uri="{FF2B5EF4-FFF2-40B4-BE49-F238E27FC236}">
                <a16:creationId xmlns:a16="http://schemas.microsoft.com/office/drawing/2014/main" id="{B23F3843-DB7F-4A4C-B463-36DF9227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922020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3.73 ms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B31896-F2F7-49B2-8992-4E52F453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504720-713E-4B00-BB44-580B0E63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1485626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1-bg">
            <a:extLst xmlns:a="http://schemas.openxmlformats.org/drawingml/2006/main">
              <a:ext uri="{FF2B5EF4-FFF2-40B4-BE49-F238E27FC236}">
                <a16:creationId xmlns:a16="http://schemas.microsoft.com/office/drawing/2014/main" id="{EA8AD838-0AC5-4EAD-8C23-FF07E508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A17D8-0C82-40A8-880C-9C6C5928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462A3-A806-4B78-A048-DB9C4155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優化 5：High shard scaling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05807-2E45-461D-B723-0A65CF5D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5DE79-B83A-45A9-BB10-77C7C6C2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A5849-9C1B-480D-99F4-10A0A842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f58f12e154a83"/>
          <a:stretch xmlns:a="http://schemas.openxmlformats.org/drawingml/2006/main"/>
        </p:blipFill>
        <p:spPr>
          <a:xfrm xmlns:a="http://schemas.openxmlformats.org/drawingml/2006/main">
            <a:off x="590550" y="1872190"/>
            <a:ext cx="10069830" cy="3866095"/>
          </a:xfrm>
          <a:prstGeom xmlns:a="http://schemas.openxmlformats.org/drawingml/2006/main" prst="rect">
            <a:avLst/>
          </a:prstGeom>
        </p:spPr>
      </p:pic>
      <p:sp>
        <p:nvSpPr>
          <p:cNvPr id="8" name="high-shard-table-h-0">
            <a:extLst xmlns:a="http://schemas.openxmlformats.org/drawingml/2006/main">
              <a:ext uri="{FF2B5EF4-FFF2-40B4-BE49-F238E27FC236}">
                <a16:creationId xmlns:a16="http://schemas.microsoft.com/office/drawing/2014/main" id="{A4838DB0-01D9-4015-B242-8F06A47B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</a:t>
            </a:r>
          </a:p>
        </p:txBody>
      </p:sp>
      <p:sp>
        <p:nvSpPr>
          <p:cNvPr id="9" name="high-shard-table-h-1">
            <a:extLst xmlns:a="http://schemas.openxmlformats.org/drawingml/2006/main">
              <a:ext uri="{FF2B5EF4-FFF2-40B4-BE49-F238E27FC236}">
                <a16:creationId xmlns:a16="http://schemas.microsoft.com/office/drawing/2014/main" id="{60E339E7-7C07-4E01-8D1C-195BC961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3436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64</a:t>
            </a:r>
          </a:p>
        </p:txBody>
      </p:sp>
      <p:sp>
        <p:nvSpPr>
          <p:cNvPr id="10" name="high-shard-table-h-2">
            <a:extLst xmlns:a="http://schemas.openxmlformats.org/drawingml/2006/main">
              <a:ext uri="{FF2B5EF4-FFF2-40B4-BE49-F238E27FC236}">
                <a16:creationId xmlns:a16="http://schemas.microsoft.com/office/drawing/2014/main" id="{1D522E8C-1F47-4DF8-AA89-95D41B05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3436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128</a:t>
            </a:r>
          </a:p>
        </p:txBody>
      </p:sp>
      <p:sp>
        <p:nvSpPr>
          <p:cNvPr id="11" name="high-shard-table-h-3">
            <a:extLst xmlns:a="http://schemas.openxmlformats.org/drawingml/2006/main">
              <a:ext uri="{FF2B5EF4-FFF2-40B4-BE49-F238E27FC236}">
                <a16:creationId xmlns:a16="http://schemas.microsoft.com/office/drawing/2014/main" id="{4AA7117D-3802-4694-964E-94D4B1EA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3436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256</a:t>
            </a:r>
          </a:p>
        </p:txBody>
      </p:sp>
      <p:sp>
        <p:nvSpPr>
          <p:cNvPr id="12" name="high-shard-table-h-4">
            <a:extLst xmlns:a="http://schemas.openxmlformats.org/drawingml/2006/main">
              <a:ext uri="{FF2B5EF4-FFF2-40B4-BE49-F238E27FC236}">
                <a16:creationId xmlns:a16="http://schemas.microsoft.com/office/drawing/2014/main" id="{B4F56E14-95F5-44F1-ADD1-752DFA19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3436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512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3C4FA-12D3-49BB-857D-D2D30CFC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96075"/>
            <a:ext cx="10077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  <a:prstDash val="solid"/>
          </a:ln>
        </p:spPr>
      </p:sp>
      <p:sp>
        <p:nvSpPr>
          <p:cNvPr id="14" name="high-shard-table-0-0">
            <a:extLst xmlns:a="http://schemas.openxmlformats.org/drawingml/2006/main">
              <a:ext uri="{FF2B5EF4-FFF2-40B4-BE49-F238E27FC236}">
                <a16:creationId xmlns:a16="http://schemas.microsoft.com/office/drawing/2014/main" id="{F60B1929-DE47-457D-9030-6EBEBDE5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38950"/>
            <a:ext cx="1390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3.86</a:t>
            </a:r>
          </a:p>
        </p:txBody>
      </p:sp>
      <p:sp>
        <p:nvSpPr>
          <p:cNvPr id="15" name="high-shard-table-0-1">
            <a:extLst xmlns:a="http://schemas.openxmlformats.org/drawingml/2006/main">
              <a:ext uri="{FF2B5EF4-FFF2-40B4-BE49-F238E27FC236}">
                <a16:creationId xmlns:a16="http://schemas.microsoft.com/office/drawing/2014/main" id="{42034833-9231-470A-A50D-8CD621D8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838950"/>
            <a:ext cx="1390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1.54</a:t>
            </a:r>
          </a:p>
        </p:txBody>
      </p:sp>
      <p:sp>
        <p:nvSpPr>
          <p:cNvPr id="16" name="high-shard-table-0-2">
            <a:extLst xmlns:a="http://schemas.openxmlformats.org/drawingml/2006/main">
              <a:ext uri="{FF2B5EF4-FFF2-40B4-BE49-F238E27FC236}">
                <a16:creationId xmlns:a16="http://schemas.microsoft.com/office/drawing/2014/main" id="{020F083C-FE78-4488-88F8-03E2DF1C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838950"/>
            <a:ext cx="1390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1.14</a:t>
            </a:r>
          </a:p>
        </p:txBody>
      </p:sp>
      <p:sp>
        <p:nvSpPr>
          <p:cNvPr id="17" name="high-shard-table-0-3">
            <a:extLst xmlns:a="http://schemas.openxmlformats.org/drawingml/2006/main">
              <a:ext uri="{FF2B5EF4-FFF2-40B4-BE49-F238E27FC236}">
                <a16:creationId xmlns:a16="http://schemas.microsoft.com/office/drawing/2014/main" id="{6D38D2ED-943C-4488-8778-4EBA8AF7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838950"/>
            <a:ext cx="1390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</a:t>
            </a:r>
          </a:p>
        </p:txBody>
      </p:sp>
      <p:sp>
        <p:nvSpPr>
          <p:cNvPr id="18" name="high-shard-table-0-4">
            <a:extLst xmlns:a="http://schemas.openxmlformats.org/drawingml/2006/main">
              <a:ext uri="{FF2B5EF4-FFF2-40B4-BE49-F238E27FC236}">
                <a16:creationId xmlns:a16="http://schemas.microsoft.com/office/drawing/2014/main" id="{2C47C075-F96D-4BF9-8AB3-ECE11E5E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838950"/>
            <a:ext cx="1390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1.12</a:t>
            </a:r>
          </a:p>
        </p:txBody>
      </p:sp>
      <p:sp>
        <p:nvSpPr>
          <p:cNvPr id="19" name="evidence-badge-0">
            <a:extLst xmlns:a="http://schemas.openxmlformats.org/drawingml/2006/main">
              <a:ext uri="{FF2B5EF4-FFF2-40B4-BE49-F238E27FC236}">
                <a16:creationId xmlns:a16="http://schemas.microsoft.com/office/drawing/2014/main" id="{E904266C-7815-4549-87F2-94DBF63C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230" y="15525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8A132-6834-4E89-A58F-13A73D5D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6383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問題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7E234-626F-4177-A366-D3DEF478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447800"/>
            <a:ext cx="5810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 shards + lane-pop 後，剩餘成本仍追著 queue contention 走。</a:t>
            </a:r>
          </a:p>
        </p:txBody>
      </p:sp>
      <p:sp>
        <p:nvSpPr>
          <p:cNvPr id="22" name="evidence-badge-1">
            <a:extLst xmlns:a="http://schemas.openxmlformats.org/drawingml/2006/main">
              <a:ext uri="{FF2B5EF4-FFF2-40B4-BE49-F238E27FC236}">
                <a16:creationId xmlns:a16="http://schemas.microsoft.com/office/drawing/2014/main" id="{E9D6E860-0029-48DA-B2A8-C0E37772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230" y="22764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69F573-9FCA-4728-8073-D774DDDE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3622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嘗試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5C9AD-3196-403D-A846-B441E216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171700"/>
            <a:ext cx="5810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掃 Q1/Q2 shard count 到 512，並做 asymmetric 檢查。</a:t>
            </a:r>
          </a:p>
        </p:txBody>
      </p:sp>
      <p:sp>
        <p:nvSpPr>
          <p:cNvPr id="25" name="evidence-badge-2">
            <a:extLst xmlns:a="http://schemas.openxmlformats.org/drawingml/2006/main">
              <a:ext uri="{FF2B5EF4-FFF2-40B4-BE49-F238E27FC236}">
                <a16:creationId xmlns:a16="http://schemas.microsoft.com/office/drawing/2014/main" id="{6D6B4591-C37F-464B-9931-DE59E2E8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230" y="28860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2CD7F1-A6A5-42DF-BB2A-94BE380A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718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BC2799-D05E-48CA-B28C-08423BC4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914650"/>
            <a:ext cx="581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Q1s256/Q2s256, C=24/B=72 約 0.99 ms median。</a:t>
            </a:r>
          </a:p>
        </p:txBody>
      </p:sp>
      <p:sp>
        <p:nvSpPr>
          <p:cNvPr id="28" name="evidence-badge-3">
            <a:extLst xmlns:a="http://schemas.openxmlformats.org/drawingml/2006/main">
              <a:ext uri="{FF2B5EF4-FFF2-40B4-BE49-F238E27FC236}">
                <a16:creationId xmlns:a16="http://schemas.microsoft.com/office/drawing/2014/main" id="{666595CE-36DE-42BF-AEE1-0507B514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230" y="3495675"/>
            <a:ext cx="76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412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1CC3F6-3A38-4ACD-93FA-26025DD4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58140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解讀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619482-99B6-4E96-B2F3-3CDB8BE3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390900"/>
            <a:ext cx="5810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256 接近目前架構有效區間，再加 shard 收益開始被 probing / indexing overhead 抵銷。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8C793C-1228-4414-8851-F29F4CC2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230" y="5576888"/>
            <a:ext cx="671322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8A7843-76E3-4CC8-AEE5-E8D60D5C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886450"/>
            <a:ext cx="6286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256 / 256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47B673-C0F6-42E4-81DB-E55748D9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628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best default candidate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9A281C-DD27-41A6-881D-17AF0679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230" y="8724900"/>
            <a:ext cx="671322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3FB3E8-9362-4C98-977C-822DB592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283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E20325-A81D-4F66-A6B7-3D3E2D5D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8877300"/>
            <a:ext cx="6019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Q1=256/Q2=128 退到 1.955 ms：Q2 shard count 不能太低。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88B00F-3F90-4E81-ADC3-64649975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79C532-B97B-4165-B826-6A4434E2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14378437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2-bg">
            <a:extLst xmlns:a="http://schemas.openxmlformats.org/drawingml/2006/main">
              <a:ext uri="{FF2B5EF4-FFF2-40B4-BE49-F238E27FC236}">
                <a16:creationId xmlns:a16="http://schemas.microsoft.com/office/drawing/2014/main" id="{6C880010-463B-490A-A87C-F4F4795A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84721-5B05-4D3F-80C1-315CE2A4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7856A-F3BE-44CC-81EC-B5E159F7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未採用方案 / 待補驗證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07A2A-EAF9-4663-8B5F-CC3DAF1E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D2C98-00A3-4D58-B999-DBF609EC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60328-03EF-473D-81E3-A44AEB92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ablation-table-h-0">
            <a:extLst xmlns:a="http://schemas.openxmlformats.org/drawingml/2006/main">
              <a:ext uri="{FF2B5EF4-FFF2-40B4-BE49-F238E27FC236}">
                <a16:creationId xmlns:a16="http://schemas.microsoft.com/office/drawing/2014/main" id="{E232520E-356F-415C-9473-6F43AE0B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361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方案</a:t>
            </a:r>
          </a:p>
        </p:txBody>
      </p:sp>
      <p:sp>
        <p:nvSpPr>
          <p:cNvPr id="8" name="ablation-table-h-1">
            <a:extLst xmlns:a="http://schemas.openxmlformats.org/drawingml/2006/main">
              <a:ext uri="{FF2B5EF4-FFF2-40B4-BE49-F238E27FC236}">
                <a16:creationId xmlns:a16="http://schemas.microsoft.com/office/drawing/2014/main" id="{DEB846EE-7393-4FCB-B3B6-2591F1C2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8590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結果</a:t>
            </a:r>
          </a:p>
        </p:txBody>
      </p:sp>
      <p:sp>
        <p:nvSpPr>
          <p:cNvPr id="9" name="ablation-table-h-2">
            <a:extLst xmlns:a="http://schemas.openxmlformats.org/drawingml/2006/main">
              <a:ext uri="{FF2B5EF4-FFF2-40B4-BE49-F238E27FC236}">
                <a16:creationId xmlns:a16="http://schemas.microsoft.com/office/drawing/2014/main" id="{8AFE467C-4387-463D-9D33-2C15D84F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8590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目前判斷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68C02-3CA4-4DED-8AC8-F17CBD60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76425"/>
            <a:ext cx="1710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  <a:prstDash val="solid"/>
          </a:ln>
        </p:spPr>
      </p:sp>
      <p:sp>
        <p:nvSpPr>
          <p:cNvPr id="11" name="ablation-table-0-0">
            <a:extLst xmlns:a="http://schemas.openxmlformats.org/drawingml/2006/main">
              <a:ext uri="{FF2B5EF4-FFF2-40B4-BE49-F238E27FC236}">
                <a16:creationId xmlns:a16="http://schemas.microsoft.com/office/drawing/2014/main" id="{BEA0238C-A247-4D22-8AAA-DF783D26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361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Output writes off</a:t>
            </a:r>
          </a:p>
        </p:txBody>
      </p:sp>
      <p:sp>
        <p:nvSpPr>
          <p:cNvPr id="12" name="ablation-table-0-1">
            <a:extLst xmlns:a="http://schemas.openxmlformats.org/drawingml/2006/main">
              <a:ext uri="{FF2B5EF4-FFF2-40B4-BE49-F238E27FC236}">
                <a16:creationId xmlns:a16="http://schemas.microsoft.com/office/drawing/2014/main" id="{965A6285-66AF-4E10-B243-83A9B38D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3.86 -&gt; 3.78 ms</a:t>
            </a:r>
          </a:p>
        </p:txBody>
      </p:sp>
      <p:sp>
        <p:nvSpPr>
          <p:cNvPr id="13" name="ablation-table-0-2">
            <a:extLst xmlns:a="http://schemas.openxmlformats.org/drawingml/2006/main">
              <a:ext uri="{FF2B5EF4-FFF2-40B4-BE49-F238E27FC236}">
                <a16:creationId xmlns:a16="http://schemas.microsoft.com/office/drawing/2014/main" id="{E98C024E-8A01-4612-BA10-BB3A2925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3835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不是主瓶頸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93D20-2DE3-48DF-944D-7F2F99AF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15" name="ablation-table-1-0">
            <a:extLst xmlns:a="http://schemas.openxmlformats.org/drawingml/2006/main">
              <a:ext uri="{FF2B5EF4-FFF2-40B4-BE49-F238E27FC236}">
                <a16:creationId xmlns:a16="http://schemas.microsoft.com/office/drawing/2014/main" id="{5C5A3FD0-065D-4ABD-B8E8-A22DF661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361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ready-first pop</a:t>
            </a:r>
          </a:p>
        </p:txBody>
      </p:sp>
      <p:sp>
        <p:nvSpPr>
          <p:cNvPr id="16" name="ablation-table-1-1">
            <a:extLst xmlns:a="http://schemas.openxmlformats.org/drawingml/2006/main">
              <a:ext uri="{FF2B5EF4-FFF2-40B4-BE49-F238E27FC236}">
                <a16:creationId xmlns:a16="http://schemas.microsoft.com/office/drawing/2014/main" id="{02215FEE-F641-4206-AA92-05413F70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9850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3.86 -&gt; 5.06 ms</a:t>
            </a:r>
          </a:p>
        </p:txBody>
      </p:sp>
      <p:sp>
        <p:nvSpPr>
          <p:cNvPr id="17" name="ablation-table-1-2">
            <a:extLst xmlns:a="http://schemas.openxmlformats.org/drawingml/2006/main">
              <a:ext uri="{FF2B5EF4-FFF2-40B4-BE49-F238E27FC236}">
                <a16:creationId xmlns:a16="http://schemas.microsoft.com/office/drawing/2014/main" id="{E36BB707-48E5-427C-9B76-54C4DB0F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985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更慢，ready fail / backlog 上升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24123-9185-4AC8-B7BB-9F506C6F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19" name="ablation-table-2-0">
            <a:extLst xmlns:a="http://schemas.openxmlformats.org/drawingml/2006/main">
              <a:ext uri="{FF2B5EF4-FFF2-40B4-BE49-F238E27FC236}">
                <a16:creationId xmlns:a16="http://schemas.microsoft.com/office/drawing/2014/main" id="{427ABC21-4BED-4DCF-8DB4-9B4EF91E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361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 output batching</a:t>
            </a:r>
          </a:p>
        </p:txBody>
      </p:sp>
      <p:sp>
        <p:nvSpPr>
          <p:cNvPr id="20" name="ablation-table-2-1">
            <a:extLst xmlns:a="http://schemas.openxmlformats.org/drawingml/2006/main">
              <a:ext uri="{FF2B5EF4-FFF2-40B4-BE49-F238E27FC236}">
                <a16:creationId xmlns:a16="http://schemas.microsoft.com/office/drawing/2014/main" id="{EDC609E7-D9A2-4A3F-862E-0013EBAD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沒有贏過 batch=1</a:t>
            </a:r>
          </a:p>
        </p:txBody>
      </p:sp>
      <p:sp>
        <p:nvSpPr>
          <p:cNvPr id="21" name="ablation-table-2-2">
            <a:extLst xmlns:a="http://schemas.openxmlformats.org/drawingml/2006/main">
              <a:ext uri="{FF2B5EF4-FFF2-40B4-BE49-F238E27FC236}">
                <a16:creationId xmlns:a16="http://schemas.microsoft.com/office/drawing/2014/main" id="{9EC88054-37C2-4060-9EBC-631683AF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8135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global output atomics 不是主因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E00FCB-7220-441F-8597-4EC873CD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1710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23" name="ablation-table-3-0">
            <a:extLst xmlns:a="http://schemas.openxmlformats.org/drawingml/2006/main">
              <a:ext uri="{FF2B5EF4-FFF2-40B4-BE49-F238E27FC236}">
                <a16:creationId xmlns:a16="http://schemas.microsoft.com/office/drawing/2014/main" id="{6B066E54-4AD4-42A4-8370-FD9A2248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361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request batching</a:t>
            </a:r>
          </a:p>
        </p:txBody>
      </p:sp>
      <p:sp>
        <p:nvSpPr>
          <p:cNvPr id="24" name="ablation-table-3-1">
            <a:extLst xmlns:a="http://schemas.openxmlformats.org/drawingml/2006/main">
              <a:ext uri="{FF2B5EF4-FFF2-40B4-BE49-F238E27FC236}">
                <a16:creationId xmlns:a16="http://schemas.microsoft.com/office/drawing/2014/main" id="{288B15CB-565E-4C24-8D3C-9D65309F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52850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舊資料不足</a:t>
            </a:r>
          </a:p>
        </p:txBody>
      </p:sp>
      <p:sp>
        <p:nvSpPr>
          <p:cNvPr id="25" name="ablation-table-3-2">
            <a:extLst xmlns:a="http://schemas.openxmlformats.org/drawingml/2006/main">
              <a:ext uri="{FF2B5EF4-FFF2-40B4-BE49-F238E27FC236}">
                <a16:creationId xmlns:a16="http://schemas.microsoft.com/office/drawing/2014/main" id="{E52AC481-E0F2-4FD9-B2A3-98B72772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5285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不納入主線，另派 controlled experiment 補驗證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352D2-576D-4ECD-834A-822DA5A7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9758"/>
            <a:ext cx="5575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E8022A-EB9F-4314-A39A-873400F2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516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同一架構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781C6E-DEA2-4B99-8478-BEB0AC9A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516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batching on/off 才能比較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40AB7-6797-4783-9798-7D676950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6350" y="5679758"/>
            <a:ext cx="5575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49DE9A-4BD4-4195-B4EF-E6382ACD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38850"/>
            <a:ext cx="516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3 repeats+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32DA7D-4C16-424C-8A47-497E5144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515100"/>
            <a:ext cx="516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看 median / p90 / correctness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B44601-6756-4D51-ADAC-9137AAC2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2150" y="5679758"/>
            <a:ext cx="5575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9DEFC0-C542-4B1A-94D7-BF7765E4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038850"/>
            <a:ext cx="516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不只看 CAS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6D078C-B739-40F2-90F1-944F7666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6515100"/>
            <a:ext cx="516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compute time 不改善就不算有效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0AAA2D-5BAB-4D79-93C6-713DA727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24900"/>
            <a:ext cx="1710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DD034B-CC10-49BA-A6EF-4FB1835D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E530A8-B8DB-4BA7-999A-F9BB6506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91600"/>
            <a:ext cx="1642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這頁避免過度宣稱：request batching 目前只是未採用，還需要補跑確認。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B9480E-CF13-4405-A25F-2C585BCD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877007-B522-40C7-8772-2F37D908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0356127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3-bg">
            <a:extLst xmlns:a="http://schemas.openxmlformats.org/drawingml/2006/main">
              <a:ext uri="{FF2B5EF4-FFF2-40B4-BE49-F238E27FC236}">
                <a16:creationId xmlns:a16="http://schemas.microsoft.com/office/drawing/2014/main" id="{AF787FEB-EBC9-4089-BFF7-E46CB6B9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CE025-9A67-4860-9AA0-B9E4C816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CA503-20C4-4C59-84A8-F6F9B537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Adopted default：目前主線設定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99908-C99E-4C0A-9EAC-9CE06819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855D0-B4C7-46A8-BCAB-322327F1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D3667-5E96-4134-A43F-6A9EF7B6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08D31-D6EB-47A4-820D-931C2475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3663791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957EB-94E8-4195-AE05-43E91C98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095B3-593D-40A5-A065-D4A9C436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shards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E7D30-B447-495D-BBF8-92DAADAE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841" y="1447800"/>
            <a:ext cx="3663791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5F443-6B36-4B85-BE37-43ADD47B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38300"/>
            <a:ext cx="3238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8292D-C671-4D6B-B5EB-0D8BF6A0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 shards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7E55D-BCBB-496C-BC60-F668169C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96717-1CF6-4E47-A700-782CB757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716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MAX_QUEUE_SHARDS = 256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0C666-7880-4D70-96C1-4BDFA5F4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CC29C-D8F9-4F5F-B53A-9CDCACCB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716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Q1_QUEUE_SHARDS_DEFAULT = 256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18A2B4-9041-407F-9C68-DC35DB42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1ED4C-6BDA-4A54-956D-02321B2A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716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Q2_QUEUE_SHARDS_DEFAULT = 256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EF981-3C1C-4846-A765-2CDED9DB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531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E7D5A-3AE5-4B40-9A5B-1816B74B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53150"/>
            <a:ext cx="716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 lane-pop enabled by default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B43FEA-2A21-4A94-8F53-2204504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484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5051A-A3ED-407F-9B05-284F71BF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48450"/>
            <a:ext cx="7162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NODE_C_START = 72，也就是 C=24/B=72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9740ED-1103-4A0D-A52F-DDE2926C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24900"/>
            <a:ext cx="751808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36B0B-481C-43CA-8E3E-B23A065B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F6333-33EC-4434-85B6-CC2C14CD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58250"/>
            <a:ext cx="6838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保留 queue shard flags 作為 future ablation-study controls。</a:t>
            </a:r>
          </a:p>
        </p:txBody>
      </p:sp>
      <p:sp>
        <p:nvSpPr>
          <p:cNvPr id="26" name="repeat-table-h-0">
            <a:extLst xmlns:a="http://schemas.openxmlformats.org/drawingml/2006/main">
              <a:ext uri="{FF2B5EF4-FFF2-40B4-BE49-F238E27FC236}">
                <a16:creationId xmlns:a16="http://schemas.microsoft.com/office/drawing/2014/main" id="{EC282111-974B-4634-9817-55564BD4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859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Run</a:t>
            </a:r>
          </a:p>
        </p:txBody>
      </p:sp>
      <p:sp>
        <p:nvSpPr>
          <p:cNvPr id="27" name="repeat-table-h-1">
            <a:extLst xmlns:a="http://schemas.openxmlformats.org/drawingml/2006/main">
              <a:ext uri="{FF2B5EF4-FFF2-40B4-BE49-F238E27FC236}">
                <a16:creationId xmlns:a16="http://schemas.microsoft.com/office/drawing/2014/main" id="{3B0EF851-347D-4129-8171-25201F96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4859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Median</a:t>
            </a:r>
          </a:p>
        </p:txBody>
      </p:sp>
      <p:sp>
        <p:nvSpPr>
          <p:cNvPr id="28" name="repeat-table-h-2">
            <a:extLst xmlns:a="http://schemas.openxmlformats.org/drawingml/2006/main">
              <a:ext uri="{FF2B5EF4-FFF2-40B4-BE49-F238E27FC236}">
                <a16:creationId xmlns:a16="http://schemas.microsoft.com/office/drawing/2014/main" id="{50C6CA08-0BE5-4066-A92A-C9E94CAD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4859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P10</a:t>
            </a:r>
          </a:p>
        </p:txBody>
      </p:sp>
      <p:sp>
        <p:nvSpPr>
          <p:cNvPr id="29" name="repeat-table-h-3">
            <a:extLst xmlns:a="http://schemas.openxmlformats.org/drawingml/2006/main">
              <a:ext uri="{FF2B5EF4-FFF2-40B4-BE49-F238E27FC236}">
                <a16:creationId xmlns:a16="http://schemas.microsoft.com/office/drawing/2014/main" id="{E5FE006B-3B52-4BDB-AC3D-554C5CB9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14859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P90</a:t>
            </a:r>
          </a:p>
        </p:txBody>
      </p:sp>
      <p:sp>
        <p:nvSpPr>
          <p:cNvPr id="30" name="repeat-table-h-4">
            <a:extLst xmlns:a="http://schemas.openxmlformats.org/drawingml/2006/main">
              <a:ext uri="{FF2B5EF4-FFF2-40B4-BE49-F238E27FC236}">
                <a16:creationId xmlns:a16="http://schemas.microsoft.com/office/drawing/2014/main" id="{885C67A5-7B00-4123-9A88-44283950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14859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8F2466-C716-4806-ACF0-EA4D3B5B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14525"/>
            <a:ext cx="918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4"/>
          </a:solidFill>
          <a:ln xmlns:a="http://schemas.openxmlformats.org/drawingml/2006/main" w="0">
            <a:solidFill>
              <a:srgbClr val="D7D0C4"/>
            </a:solidFill>
            <a:prstDash val="solid"/>
          </a:ln>
        </p:spPr>
      </p:sp>
      <p:sp>
        <p:nvSpPr>
          <p:cNvPr id="32" name="repeat-table-0-0">
            <a:extLst xmlns:a="http://schemas.openxmlformats.org/drawingml/2006/main">
              <a:ext uri="{FF2B5EF4-FFF2-40B4-BE49-F238E27FC236}">
                <a16:creationId xmlns:a16="http://schemas.microsoft.com/office/drawing/2014/main" id="{AF3D5D8A-7663-4DBE-B92D-9E42876E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955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repeat 1</a:t>
            </a:r>
          </a:p>
        </p:txBody>
      </p:sp>
      <p:sp>
        <p:nvSpPr>
          <p:cNvPr id="33" name="repeat-table-0-1">
            <a:extLst xmlns:a="http://schemas.openxmlformats.org/drawingml/2006/main">
              <a:ext uri="{FF2B5EF4-FFF2-40B4-BE49-F238E27FC236}">
                <a16:creationId xmlns:a16="http://schemas.microsoft.com/office/drawing/2014/main" id="{6BA59F9B-0E9C-4919-8D8B-74F4C1C3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955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0.9905</a:t>
            </a:r>
          </a:p>
        </p:txBody>
      </p:sp>
      <p:sp>
        <p:nvSpPr>
          <p:cNvPr id="34" name="repeat-table-0-2">
            <a:extLst xmlns:a="http://schemas.openxmlformats.org/drawingml/2006/main">
              <a:ext uri="{FF2B5EF4-FFF2-40B4-BE49-F238E27FC236}">
                <a16:creationId xmlns:a16="http://schemas.microsoft.com/office/drawing/2014/main" id="{51BBAAF7-6B91-4ED8-AE41-35EA77E2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0955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0.9804</a:t>
            </a:r>
          </a:p>
        </p:txBody>
      </p:sp>
      <p:sp>
        <p:nvSpPr>
          <p:cNvPr id="35" name="repeat-table-0-3">
            <a:extLst xmlns:a="http://schemas.openxmlformats.org/drawingml/2006/main">
              <a:ext uri="{FF2B5EF4-FFF2-40B4-BE49-F238E27FC236}">
                <a16:creationId xmlns:a16="http://schemas.microsoft.com/office/drawing/2014/main" id="{905E933F-BFAD-493D-AFED-CE0BE5A8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20955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1.0043</a:t>
            </a:r>
          </a:p>
        </p:txBody>
      </p:sp>
      <p:sp>
        <p:nvSpPr>
          <p:cNvPr id="36" name="repeat-table-0-4">
            <a:extLst xmlns:a="http://schemas.openxmlformats.org/drawingml/2006/main">
              <a:ext uri="{FF2B5EF4-FFF2-40B4-BE49-F238E27FC236}">
                <a16:creationId xmlns:a16="http://schemas.microsoft.com/office/drawing/2014/main" id="{825A2C8F-3D9C-4E5B-B1D8-FAB8A599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20955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0.9668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8DBB52-7FF2-47BB-97BB-8F2C8F75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43175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38" name="repeat-table-1-0">
            <a:extLst xmlns:a="http://schemas.openxmlformats.org/drawingml/2006/main">
              <a:ext uri="{FF2B5EF4-FFF2-40B4-BE49-F238E27FC236}">
                <a16:creationId xmlns:a16="http://schemas.microsoft.com/office/drawing/2014/main" id="{810BA331-CF61-40DC-9E64-A61DC5B1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051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repeat 2</a:t>
            </a:r>
          </a:p>
        </p:txBody>
      </p:sp>
      <p:sp>
        <p:nvSpPr>
          <p:cNvPr id="39" name="repeat-table-1-1">
            <a:extLst xmlns:a="http://schemas.openxmlformats.org/drawingml/2006/main">
              <a:ext uri="{FF2B5EF4-FFF2-40B4-BE49-F238E27FC236}">
                <a16:creationId xmlns:a16="http://schemas.microsoft.com/office/drawing/2014/main" id="{5DB7F206-3FF5-45F7-BCFB-95628D3F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7051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0.9915</a:t>
            </a:r>
          </a:p>
        </p:txBody>
      </p:sp>
      <p:sp>
        <p:nvSpPr>
          <p:cNvPr id="40" name="repeat-table-1-2">
            <a:extLst xmlns:a="http://schemas.openxmlformats.org/drawingml/2006/main">
              <a:ext uri="{FF2B5EF4-FFF2-40B4-BE49-F238E27FC236}">
                <a16:creationId xmlns:a16="http://schemas.microsoft.com/office/drawing/2014/main" id="{5888192A-031F-4703-823A-AF3844D3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7051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0.9819</a:t>
            </a:r>
          </a:p>
        </p:txBody>
      </p:sp>
      <p:sp>
        <p:nvSpPr>
          <p:cNvPr id="41" name="repeat-table-1-3">
            <a:extLst xmlns:a="http://schemas.openxmlformats.org/drawingml/2006/main">
              <a:ext uri="{FF2B5EF4-FFF2-40B4-BE49-F238E27FC236}">
                <a16:creationId xmlns:a16="http://schemas.microsoft.com/office/drawing/2014/main" id="{29A99D0C-3F51-41E8-8BA8-B95E1654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27051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1.0056</a:t>
            </a:r>
          </a:p>
        </p:txBody>
      </p:sp>
      <p:sp>
        <p:nvSpPr>
          <p:cNvPr id="42" name="repeat-table-1-4">
            <a:extLst xmlns:a="http://schemas.openxmlformats.org/drawingml/2006/main">
              <a:ext uri="{FF2B5EF4-FFF2-40B4-BE49-F238E27FC236}">
                <a16:creationId xmlns:a16="http://schemas.microsoft.com/office/drawing/2014/main" id="{7BECEC6D-84F5-43D5-9C1E-E5F179F4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270510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0.9682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AF61B3-D99D-407E-B610-0261C954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6230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44" name="repeat-table-2-0">
            <a:extLst xmlns:a="http://schemas.openxmlformats.org/drawingml/2006/main">
              <a:ext uri="{FF2B5EF4-FFF2-40B4-BE49-F238E27FC236}">
                <a16:creationId xmlns:a16="http://schemas.microsoft.com/office/drawing/2014/main" id="{9071EA6D-010C-4BA5-94AE-168E9C55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repeat 3</a:t>
            </a:r>
          </a:p>
        </p:txBody>
      </p:sp>
      <p:sp>
        <p:nvSpPr>
          <p:cNvPr id="45" name="repeat-table-2-1">
            <a:extLst xmlns:a="http://schemas.openxmlformats.org/drawingml/2006/main">
              <a:ext uri="{FF2B5EF4-FFF2-40B4-BE49-F238E27FC236}">
                <a16:creationId xmlns:a16="http://schemas.microsoft.com/office/drawing/2014/main" id="{5838CDDC-E851-45E1-A8E6-0544A188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337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0.9906</a:t>
            </a:r>
          </a:p>
        </p:txBody>
      </p:sp>
      <p:sp>
        <p:nvSpPr>
          <p:cNvPr id="46" name="repeat-table-2-2">
            <a:extLst xmlns:a="http://schemas.openxmlformats.org/drawingml/2006/main">
              <a:ext uri="{FF2B5EF4-FFF2-40B4-BE49-F238E27FC236}">
                <a16:creationId xmlns:a16="http://schemas.microsoft.com/office/drawing/2014/main" id="{12CD4A4A-BC47-46E8-9CCC-B2A501E0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3337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0.9810</a:t>
            </a:r>
          </a:p>
        </p:txBody>
      </p:sp>
      <p:sp>
        <p:nvSpPr>
          <p:cNvPr id="47" name="repeat-table-2-3">
            <a:extLst xmlns:a="http://schemas.openxmlformats.org/drawingml/2006/main">
              <a:ext uri="{FF2B5EF4-FFF2-40B4-BE49-F238E27FC236}">
                <a16:creationId xmlns:a16="http://schemas.microsoft.com/office/drawing/2014/main" id="{E2228526-77AA-410B-B7BF-739C9115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3337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1.0046</a:t>
            </a:r>
          </a:p>
        </p:txBody>
      </p:sp>
      <p:sp>
        <p:nvSpPr>
          <p:cNvPr id="48" name="repeat-table-2-4">
            <a:extLst xmlns:a="http://schemas.openxmlformats.org/drawingml/2006/main">
              <a:ext uri="{FF2B5EF4-FFF2-40B4-BE49-F238E27FC236}">
                <a16:creationId xmlns:a16="http://schemas.microsoft.com/office/drawing/2014/main" id="{B9A2B7C8-F161-4C40-9629-49BCD42D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3337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0.9593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2D0982-C5A1-42D3-83D5-ABE2BB10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81425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8"/>
          </a:solidFill>
          <a:ln xmlns:a="http://schemas.openxmlformats.org/drawingml/2006/main" w="0">
            <a:solidFill>
              <a:srgbClr val="E7E1D8"/>
            </a:solidFill>
            <a:prstDash val="solid"/>
          </a:ln>
        </p:spPr>
      </p:sp>
      <p:sp>
        <p:nvSpPr>
          <p:cNvPr id="50" name="repeat-table-3-0">
            <a:extLst xmlns:a="http://schemas.openxmlformats.org/drawingml/2006/main">
              <a:ext uri="{FF2B5EF4-FFF2-40B4-BE49-F238E27FC236}">
                <a16:creationId xmlns:a16="http://schemas.microsoft.com/office/drawing/2014/main" id="{396A44FD-83BB-4BA1-9890-8231D3F1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433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repeat 4</a:t>
            </a:r>
          </a:p>
        </p:txBody>
      </p:sp>
      <p:sp>
        <p:nvSpPr>
          <p:cNvPr id="51" name="repeat-table-3-1">
            <a:extLst xmlns:a="http://schemas.openxmlformats.org/drawingml/2006/main">
              <a:ext uri="{FF2B5EF4-FFF2-40B4-BE49-F238E27FC236}">
                <a16:creationId xmlns:a16="http://schemas.microsoft.com/office/drawing/2014/main" id="{3373202C-09BF-4EA4-9030-4BDD0F43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9433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0.9902</a:t>
            </a:r>
          </a:p>
        </p:txBody>
      </p:sp>
      <p:sp>
        <p:nvSpPr>
          <p:cNvPr id="52" name="repeat-table-3-2">
            <a:extLst xmlns:a="http://schemas.openxmlformats.org/drawingml/2006/main">
              <a:ext uri="{FF2B5EF4-FFF2-40B4-BE49-F238E27FC236}">
                <a16:creationId xmlns:a16="http://schemas.microsoft.com/office/drawing/2014/main" id="{FFB2BD2A-6972-497A-A92F-15813ADB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9433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0.9806</a:t>
            </a:r>
          </a:p>
        </p:txBody>
      </p:sp>
      <p:sp>
        <p:nvSpPr>
          <p:cNvPr id="53" name="repeat-table-3-3">
            <a:extLst xmlns:a="http://schemas.openxmlformats.org/drawingml/2006/main">
              <a:ext uri="{FF2B5EF4-FFF2-40B4-BE49-F238E27FC236}">
                <a16:creationId xmlns:a16="http://schemas.microsoft.com/office/drawing/2014/main" id="{4896C968-A122-47ED-819D-8345A8B0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39433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1.0042</a:t>
            </a:r>
          </a:p>
        </p:txBody>
      </p:sp>
      <p:sp>
        <p:nvSpPr>
          <p:cNvPr id="54" name="repeat-table-3-4">
            <a:extLst xmlns:a="http://schemas.openxmlformats.org/drawingml/2006/main">
              <a:ext uri="{FF2B5EF4-FFF2-40B4-BE49-F238E27FC236}">
                <a16:creationId xmlns:a16="http://schemas.microsoft.com/office/drawing/2014/main" id="{F3D7953E-0D38-4B81-8528-EB8DDE15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9433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0.9615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50C3A4-A81A-4CF9-A210-250BB703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E3646D-8F1A-4E25-9A8C-E18876AD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25297827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4-bg">
            <a:extLst xmlns:a="http://schemas.openxmlformats.org/drawingml/2006/main">
              <a:ext uri="{FF2B5EF4-FFF2-40B4-BE49-F238E27FC236}">
                <a16:creationId xmlns:a16="http://schemas.microsoft.com/office/drawing/2014/main" id="{3A298901-91D4-43E9-A9FC-3EE6B5D6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A4933-97C8-4459-992B-D4B91EF5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ED83D-738D-450F-B780-76D33375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核心結論：瓶頸分類是 global atomic traffic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CB0E1-E45C-45F1-AB22-1E799D91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A8F93-E76E-488F-85B9-AE0D5BD8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E5EE2-0652-4A46-A7C6-F7561EDF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A9FFD-8BD1-4369-B178-8326F70E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我們不是只找到一組比較快的參數。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ECC6D-0078-4D3A-BFFC-2EF3010C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0560"/>
            <a:ext cx="414813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2E8C6-AA19-4E99-8672-FCCBE699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3733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E7AF0-E4AB-489C-A3AB-ECE5682D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sharding 分散 Q1 atomic contention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C6B04-05CD-453B-B113-E05B5C94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138" y="3210560"/>
            <a:ext cx="414813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72A7B-13FB-4FD8-90E4-5A9D4B97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67100"/>
            <a:ext cx="3733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Q2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508D8-DA62-4B26-8E0F-5E4D2206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529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sharding 分散 count/head/tail contention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25C4E-21A4-4072-8140-307688FD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210560"/>
            <a:ext cx="414813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42754-7FFA-43AE-AA6C-7FE4205D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3733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F7D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lane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0AFCC-1C0D-4CC4-BDD5-9D651049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529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pop 起掃策略降低局部競爭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07479-6238-4FFE-9796-609AF576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9313" y="3210560"/>
            <a:ext cx="414813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34269-112B-4F90-9658-75D12212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467100"/>
            <a:ext cx="3733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256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FD7CD-B6E3-4918-928A-303C2473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41529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high shard scaling 繼續降低 contention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5D6E4-CC2B-4324-B6D3-2BC7C0C9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2455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0AC09-956B-4089-B709-693FDBFE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1674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每一輪大幅改善，都對應到 queue/global atomic traffic 被分散或減少。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C94B5-11BF-44AD-A7CA-8F26E645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9C6CF7-C518-44DB-BE4B-0682CBE8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15100"/>
            <a:ext cx="1674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output writes off 效果小、ready-first 變慢、C output batching 無明確收益。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D30BAD-6246-4AA8-8D84-6337A42C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86600"/>
            <a:ext cx="247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C2AC4-5C4D-4379-B948-E22AB007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86600"/>
            <a:ext cx="16744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所以目前瓶頸分類不是 render、不是單純 writer 數量，而是 global handoff traffic。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F7704E-DC86-43EA-AD61-CBB5D13D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24900"/>
            <a:ext cx="1710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6ACCBE-450A-4F06-818E-6B37BF73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154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13906C-DF20-40D4-A13D-29A37DA7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91600"/>
            <a:ext cx="1642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這個結論來自一次次迭代的效果幅度，而不是單一 counter 或單一 profiler 截圖。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37A72E-29B0-40E3-B1FB-9803205F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1BBB55-BCAE-4B77-9552-00D368AF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27408677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5-bg">
            <a:extLst xmlns:a="http://schemas.openxmlformats.org/drawingml/2006/main">
              <a:ext uri="{FF2B5EF4-FFF2-40B4-BE49-F238E27FC236}">
                <a16:creationId xmlns:a16="http://schemas.microsoft.com/office/drawing/2014/main" id="{D3E734FF-5859-49DA-BAC7-21C4EC67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A5BE6-30B2-4A28-BB23-C4059AAF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7886A-488F-453E-8D0C-B17C89DB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下一步：wave-local work retention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396A6-F938-4BDA-AE0A-E826033B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70956-B4C4-4758-B3AA-35436B16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7AE06-EE92-4A8D-9E34-6F2D1B91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D5B79-3D7A-4B58-83AF-526B6594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8391525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E7AA8-A8B3-4E5E-91AA-9E810E81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5745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FDC41-1EEA-461B-A989-D61A008E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106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目前架構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60C5D-E982-469B-A9C2-8C1CCCD6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E3420-28B3-4F6F-A495-8C2D11C9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DE0B3-41AD-411D-B7D2-6A67985E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0065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producer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0E3BA-9712-418D-B331-CC574FF7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339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D68D5-3699-4BB5-A7FF-E3A8E023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14875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DC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E9A27-7520-459E-A5F5-FA7FBCA4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global Q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92EBB-1AAA-4674-B9E4-E477A1DD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atomic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E69E8-94DD-468E-A2B8-842B99C7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339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2B35D-2A36-4138-8615-9C89201C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14875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E8E657-A20B-4ABB-A4CC-DDB9448A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7680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C1686-A1DD-48DB-B85B-23F9CF52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0065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consumer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CD079D-733F-4169-B3B4-0402B77C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7215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78905-74A0-4D6F-B8FA-B8DF0F40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750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溝通依賴 global memory。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62BBE-F2FA-48AD-A994-49FFAEEE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1030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581D87-2D13-4C5C-8E97-388EBADE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210300"/>
            <a:ext cx="750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即使 sharding，仍然需要 global atomic。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5DE540-D619-4021-97D6-DDD09E19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6750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0A68D9-DC63-4938-9BB2-43878D8F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667500"/>
            <a:ext cx="750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256 shards 已接近目前架構有效區間。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8CE7CC-0801-4B74-AA54-5C302596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447800"/>
            <a:ext cx="8391525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8B04A3-15EB-40E4-86C5-CCB72FC6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5574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C43BB6-4759-4F6F-B975-67B4A4B7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33850"/>
            <a:ext cx="1352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要驗證的方向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878412-98D6-4122-90B2-53B2042D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714875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142C8D-E219-41DE-8039-6021994B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7680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Wave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C36736-5DCD-4344-86C7-1BEEBEE0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0065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local 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3FA343-D53E-4EFE-B97E-5703DC06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9339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3717B0-B9EB-49C5-A740-8ACCB2A8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4714875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BD5DBD-A207-414F-B593-D366EBB0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7680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intrinsic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C270A9-2228-497D-B870-1F213A23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20065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wave-level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AC8427-8DEC-4C9D-9870-EC63DFE1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933950"/>
            <a:ext cx="304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46762D-E532-4677-B0FE-3FA477F2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4714875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DC6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20BAEF-9B7E-4A80-AB9A-42B4700C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487680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A341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spill Q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09A72D-77F1-4092-8A5F-F4CA2DE4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200650"/>
            <a:ext cx="112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fallback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36CC33-35CE-4D41-BC9F-F4A3BC15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77215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348651-67B2-46D2-B7E6-A2D26ACD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772150"/>
            <a:ext cx="750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把工作盡量留在 wave 裡。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A4D580-54D3-4D3E-951C-2493A624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21030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FC0A2D-EC34-410F-83FF-C1A286AD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210300"/>
            <a:ext cx="750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wave-level 溝通可用 wave intrinsic。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4E4143-A6E1-4F94-B07A-50C8D66D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667500"/>
            <a:ext cx="24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4F94F6-F277-415A-B09F-DF15E187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667500"/>
            <a:ext cx="7505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global queue 只作 fallback 或 spill path。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3621E7-9A91-4B14-91C8-36237D4E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80F288-1ED1-4F7E-988F-60222945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4502410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6-bg">
            <a:extLst xmlns:a="http://schemas.openxmlformats.org/drawingml/2006/main">
              <a:ext uri="{FF2B5EF4-FFF2-40B4-BE49-F238E27FC236}">
                <a16:creationId xmlns:a16="http://schemas.microsoft.com/office/drawing/2014/main" id="{BFA71333-C140-4B63-A673-735CA86C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45BFC-75C1-46F9-AB41-9A12852A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16363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Vulkan Persistent Thread WorkGraph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B5CA3-9B65-4E31-B2F2-008B214B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6363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下一步計畫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3A4E5-4DC7-43C8-B60D-64C22F56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628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2607C-016F-488E-8C36-2CD79534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8350" y="70485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43B6F-FAFD-4E6E-B5A1-CAD98A88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7106900" cy="809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B04FE-69F1-46DD-BAB5-620AAA8B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84201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08CD7-3E4C-48CF-8097-ED42B8E8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41BBB-F2BB-4F75-9F0C-9CDE1F10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71650"/>
            <a:ext cx="116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Prototype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C9F21-1F98-4162-AE9D-49A17892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B4072-4BD7-4FEB-BEA7-C64B5CCE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2410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設計 wave-local work retention prototype。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35D81-8FAD-4C37-B710-40EA2452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614D6-7147-4392-A9A3-2D7D52B3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845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保留 256-shard 版本作為 baseline。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42A6D-0BD3-4B99-AEC2-B3410689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46FDB-0AFE-4A8B-94FA-5CF2D4F8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5280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定義 spill-to-global fallback path。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B0496-F2CD-464A-A117-5A5C630A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447800"/>
            <a:ext cx="84201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97E8D-3F59-4B22-BF9B-49D5EEDA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954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CAD5F-C527-4E2B-993C-A1DEAAF2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771650"/>
            <a:ext cx="106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03CF52-C66F-4BDB-A48A-87267B53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2410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EAD9C-E1ED-4E02-99A1-3C7E47D9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2410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global atomic count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D0AC5D-CA05-4703-ACA2-F8EEAB83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035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1BB392-74B4-443D-9B51-97020BAA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0035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wave-local handoff count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5939F-BD13-40FC-8C8C-0532661F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7660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184EFA-2864-41B8-B006-588554EA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7660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spill-to-global ratio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AFF4BD-6E42-4A39-A819-B2EEC068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71900"/>
            <a:ext cx="24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632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4788C7-483C-454B-BF9B-D5560C2C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7190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43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compute duration 與 tail stability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0A99B3-E1C7-4DD7-9066-F8C8F070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9863"/>
            <a:ext cx="17106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3789F6-350E-46BD-B056-CA189FF5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246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CFF39-65A9-45F6-B2EE-CC51A98A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62750"/>
            <a:ext cx="16421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下次比較目標：current global-sharded queue vs wave-local architecture。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28839D-4E57-4BC3-A19B-75AF731A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05850"/>
            <a:ext cx="17106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DC6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A4CDD0-AD99-4513-9D35-1163EB85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8963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322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1DE126-614F-4476-BFA6-937FE575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72550"/>
            <a:ext cx="1642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11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並行補驗證：request batching on/off controlled experiment，避免報告裡過度宣稱。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EBFB11-9B97-4BD0-A5B6-DC01B6E5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34550"/>
            <a:ext cx="171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2026 / 05 / 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87CB3C-7C78-4695-8F3F-6ECC0813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9734550"/>
            <a:ext cx="15278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5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t>Optimization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092173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2026-05-25T12:19:45.0300000Z</dcterms:created>
  <dcterms:modified xsi:type="dcterms:W3CDTF">2026-05-25T12:19:45.0300000Z</dcterms:modified>
</coreProperties>
</file>