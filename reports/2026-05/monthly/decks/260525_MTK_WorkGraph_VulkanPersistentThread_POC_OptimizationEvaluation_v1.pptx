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53da3f1134267" /><Relationship Type="http://schemas.openxmlformats.org/officeDocument/2006/relationships/extended-properties" Target="/docProps/app.xml" Id="R1a47ce5653e84087" /><Relationship Type="http://schemas.openxmlformats.org/officeDocument/2006/relationships/officeDocument" Target="/ppt/presentation.xml" Id="R45ae62f5095244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1cdd8fb6034257"/>
  </p:sldMasterIdLst>
  <p:notesMasterIdLst>
    <p:notesMasterId xmlns:r="http://schemas.openxmlformats.org/officeDocument/2006/relationships" r:id="R31246188e4a04c35"/>
  </p:notesMasterIdLst>
  <p:sldIdLst>
    <p:sldId xmlns:r="http://schemas.openxmlformats.org/officeDocument/2006/relationships" id="256" r:id="Rf38d9e3aa4834f81"/>
    <p:sldId xmlns:r="http://schemas.openxmlformats.org/officeDocument/2006/relationships" id="257" r:id="Ra3c1a5c0656448cd"/>
    <p:sldId xmlns:r="http://schemas.openxmlformats.org/officeDocument/2006/relationships" id="258" r:id="Rdb14dd070378401c"/>
    <p:sldId xmlns:r="http://schemas.openxmlformats.org/officeDocument/2006/relationships" id="259" r:id="R5380f0201b924988"/>
    <p:sldId xmlns:r="http://schemas.openxmlformats.org/officeDocument/2006/relationships" id="260" r:id="R7acfbbf38b3a4a78"/>
    <p:sldId xmlns:r="http://schemas.openxmlformats.org/officeDocument/2006/relationships" id="261" r:id="Rab1dd9c7d1b54108"/>
    <p:sldId xmlns:r="http://schemas.openxmlformats.org/officeDocument/2006/relationships" id="262" r:id="R9d2bce6756164e7b"/>
    <p:sldId xmlns:r="http://schemas.openxmlformats.org/officeDocument/2006/relationships" id="263" r:id="Rbfdb074559ae49f6"/>
    <p:sldId xmlns:r="http://schemas.openxmlformats.org/officeDocument/2006/relationships" id="264" r:id="R387de6458f5e457f"/>
    <p:sldId xmlns:r="http://schemas.openxmlformats.org/officeDocument/2006/relationships" id="265" r:id="R7cea20b25442422a"/>
    <p:sldId xmlns:r="http://schemas.openxmlformats.org/officeDocument/2006/relationships" id="266" r:id="Ra3a8c59679794d92"/>
    <p:sldId xmlns:r="http://schemas.openxmlformats.org/officeDocument/2006/relationships" id="267" r:id="R020cc173b1aa4d65"/>
    <p:sldId xmlns:r="http://schemas.openxmlformats.org/officeDocument/2006/relationships" id="268" r:id="R5850a14b0ee1463e"/>
    <p:sldId xmlns:r="http://schemas.openxmlformats.org/officeDocument/2006/relationships" id="269" r:id="Rb246490139ff4fcf"/>
    <p:sldId xmlns:r="http://schemas.openxmlformats.org/officeDocument/2006/relationships" id="270" r:id="Rcff9cb78606c4469"/>
    <p:sldId xmlns:r="http://schemas.openxmlformats.org/officeDocument/2006/relationships" id="271" r:id="R8dd2541802d342b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cdd8fb6034257" /><Relationship Type="http://schemas.openxmlformats.org/officeDocument/2006/relationships/theme" Target="/ppt/theme/theme1.xml" Id="Recf0be4b9fb44555" /><Relationship Type="http://schemas.openxmlformats.org/officeDocument/2006/relationships/notesMaster" Target="/ppt/notesMasters/notesMaster1.xml" Id="R31246188e4a04c35" /><Relationship Type="http://schemas.openxmlformats.org/officeDocument/2006/relationships/presProps" Target="/ppt/presProps.xml" Id="R870eeb9e52d84767" /><Relationship Type="http://schemas.openxmlformats.org/officeDocument/2006/relationships/viewProps" Target="/ppt/viewProps.xml" Id="R476f3b563e7a42fa" /><Relationship Type="http://schemas.openxmlformats.org/officeDocument/2006/relationships/tableStyles" Target="/ppt/tableStyles.xml" Id="R7abe568567184415" /><Relationship Type="http://schemas.openxmlformats.org/officeDocument/2006/relationships/slide" Target="/ppt/slides/slide1.xml" Id="Rf38d9e3aa4834f81" /><Relationship Type="http://schemas.openxmlformats.org/officeDocument/2006/relationships/slide" Target="/ppt/slides/slide2.xml" Id="Ra3c1a5c0656448cd" /><Relationship Type="http://schemas.openxmlformats.org/officeDocument/2006/relationships/slide" Target="/ppt/slides/slide3.xml" Id="Rdb14dd070378401c" /><Relationship Type="http://schemas.openxmlformats.org/officeDocument/2006/relationships/slide" Target="/ppt/slides/slide4.xml" Id="R5380f0201b924988" /><Relationship Type="http://schemas.openxmlformats.org/officeDocument/2006/relationships/slide" Target="/ppt/slides/slide5.xml" Id="R7acfbbf38b3a4a78" /><Relationship Type="http://schemas.openxmlformats.org/officeDocument/2006/relationships/slide" Target="/ppt/slides/slide6.xml" Id="Rab1dd9c7d1b54108" /><Relationship Type="http://schemas.openxmlformats.org/officeDocument/2006/relationships/slide" Target="/ppt/slides/slide7.xml" Id="R9d2bce6756164e7b" /><Relationship Type="http://schemas.openxmlformats.org/officeDocument/2006/relationships/slide" Target="/ppt/slides/slide8.xml" Id="Rbfdb074559ae49f6" /><Relationship Type="http://schemas.openxmlformats.org/officeDocument/2006/relationships/slide" Target="/ppt/slides/slide9.xml" Id="R387de6458f5e457f" /><Relationship Type="http://schemas.openxmlformats.org/officeDocument/2006/relationships/slide" Target="/ppt/slides/slide10.xml" Id="R7cea20b25442422a" /><Relationship Type="http://schemas.openxmlformats.org/officeDocument/2006/relationships/slide" Target="/ppt/slides/slide11.xml" Id="Ra3a8c59679794d92" /><Relationship Type="http://schemas.openxmlformats.org/officeDocument/2006/relationships/slide" Target="/ppt/slides/slide12.xml" Id="R020cc173b1aa4d65" /><Relationship Type="http://schemas.openxmlformats.org/officeDocument/2006/relationships/slide" Target="/ppt/slides/slide13.xml" Id="R5850a14b0ee1463e" /><Relationship Type="http://schemas.openxmlformats.org/officeDocument/2006/relationships/slide" Target="/ppt/slides/slide14.xml" Id="Rb246490139ff4fcf" /><Relationship Type="http://schemas.openxmlformats.org/officeDocument/2006/relationships/slide" Target="/ppt/slides/slide15.xml" Id="Rcff9cb78606c4469" /><Relationship Type="http://schemas.openxmlformats.org/officeDocument/2006/relationships/slide" Target="/ppt/slides/slide16.xml" Id="R8dd2541802d3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37d23e0f2740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181fdce8114198" /><Relationship Type="http://schemas.openxmlformats.org/officeDocument/2006/relationships/notesMaster" Target="/ppt/notesMasters/notesMaster1.xml" Id="Rea982ce8e1ba49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398891590441c0" /><Relationship Type="http://schemas.openxmlformats.org/officeDocument/2006/relationships/notesMaster" Target="/ppt/notesMasters/notesMaster1.xml" Id="R24da012ff29f4e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8a5986380b4bc4" /><Relationship Type="http://schemas.openxmlformats.org/officeDocument/2006/relationships/notesMaster" Target="/ppt/notesMasters/notesMaster1.xml" Id="Re8de30cd40bc46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62dbf311fb40b1" /><Relationship Type="http://schemas.openxmlformats.org/officeDocument/2006/relationships/notesMaster" Target="/ppt/notesMasters/notesMaster1.xml" Id="R0d537eb40de1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3554409ddd4321" /><Relationship Type="http://schemas.openxmlformats.org/officeDocument/2006/relationships/notesMaster" Target="/ppt/notesMasters/notesMaster1.xml" Id="R4a45d8b843924a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5e58aeaf334d33" /><Relationship Type="http://schemas.openxmlformats.org/officeDocument/2006/relationships/notesMaster" Target="/ppt/notesMasters/notesMaster1.xml" Id="Rc5fd0f9754ab4e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ded7cefb9b44e1" /><Relationship Type="http://schemas.openxmlformats.org/officeDocument/2006/relationships/notesMaster" Target="/ppt/notesMasters/notesMaster1.xml" Id="Racc04cbd099045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d120f0d8204559" /><Relationship Type="http://schemas.openxmlformats.org/officeDocument/2006/relationships/notesMaster" Target="/ppt/notesMasters/notesMaster1.xml" Id="R14ef6c16fb7642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457a49dc24492c" /><Relationship Type="http://schemas.openxmlformats.org/officeDocument/2006/relationships/notesMaster" Target="/ppt/notesMasters/notesMaster1.xml" Id="R0ca9e077ae1343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76c5bb77484b28" /><Relationship Type="http://schemas.openxmlformats.org/officeDocument/2006/relationships/notesMaster" Target="/ppt/notesMasters/notesMaster1.xml" Id="R8525488520d141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358a3d9710429a" /><Relationship Type="http://schemas.openxmlformats.org/officeDocument/2006/relationships/notesMaster" Target="/ppt/notesMasters/notesMaster1.xml" Id="R8027c81ea26f44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e4b0ae851c4e83" /><Relationship Type="http://schemas.openxmlformats.org/officeDocument/2006/relationships/notesMaster" Target="/ppt/notesMasters/notesMaster1.xml" Id="R28f1058977ce40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a26a81b22b4b1b" /><Relationship Type="http://schemas.openxmlformats.org/officeDocument/2006/relationships/notesMaster" Target="/ppt/notesMasters/notesMaster1.xml" Id="Re3eba28d003443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d8b4eb260d488f" /><Relationship Type="http://schemas.openxmlformats.org/officeDocument/2006/relationships/notesMaster" Target="/ppt/notesMasters/notesMaster1.xml" Id="Raa602956fc1349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b59cd5e86d416f" /><Relationship Type="http://schemas.openxmlformats.org/officeDocument/2006/relationships/notesMaster" Target="/ppt/notesMasters/notesMaster1.xml" Id="R0c0d06bdef6d43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bdd3cc7f034c28" /><Relationship Type="http://schemas.openxmlformats.org/officeDocument/2006/relationships/notesMaster" Target="/ppt/notesMasters/notesMaster1.xml" Id="R6d67407cef7c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da990b2ac400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22fa0dd30242c2" /><Relationship Type="http://schemas.openxmlformats.org/officeDocument/2006/relationships/slideLayout" Target="/ppt/slideLayouts/slideLayout2.xml" Id="R458ff6547bad49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8ff6547bad49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1c488927054761" /><Relationship Type="http://schemas.openxmlformats.org/officeDocument/2006/relationships/notesSlide" Target="/ppt/notesSlides/notesSlide1.xml" Id="R9cdb1bf056db45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c8b5c0167a49d5" /><Relationship Type="http://schemas.openxmlformats.org/officeDocument/2006/relationships/notesSlide" Target="/ppt/notesSlides/notesSlide2.xml" Id="R58e2bc73e8fc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23cdff40b4cf8" /><Relationship Type="http://schemas.openxmlformats.org/officeDocument/2006/relationships/notesSlide" Target="/ppt/notesSlides/notesSlide3.xml" Id="Rd5448a49178a49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a07c73f5ea4c75" /><Relationship Type="http://schemas.openxmlformats.org/officeDocument/2006/relationships/notesSlide" Target="/ppt/notesSlides/notesSlide4.xml" Id="R8634e63665d347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efbd8d42b4426" /><Relationship Type="http://schemas.openxmlformats.org/officeDocument/2006/relationships/notesSlide" Target="/ppt/notesSlides/notesSlide5.xml" Id="R88c9bffa7d8745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fb6c7bda734b9c" /><Relationship Type="http://schemas.openxmlformats.org/officeDocument/2006/relationships/image" Target="/ppt/media/image.png" Id="Rf90a2d245d154264" /><Relationship Type="http://schemas.openxmlformats.org/officeDocument/2006/relationships/notesSlide" Target="/ppt/notesSlides/notesSlide6.xml" Id="R2890b539046c4e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e173d972df4fc8" /><Relationship Type="http://schemas.openxmlformats.org/officeDocument/2006/relationships/notesSlide" Target="/ppt/notesSlides/notesSlide7.xml" Id="Rb5cd418a7a5d49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934b505c634599" /><Relationship Type="http://schemas.openxmlformats.org/officeDocument/2006/relationships/notesSlide" Target="/ppt/notesSlides/notesSlide8.xml" Id="Re1a6f956a56e4a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eca2674749498d" /><Relationship Type="http://schemas.openxmlformats.org/officeDocument/2006/relationships/notesSlide" Target="/ppt/notesSlides/notesSlide9.xml" Id="R24f63a8ab3eb48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77ca2888104273" /><Relationship Type="http://schemas.openxmlformats.org/officeDocument/2006/relationships/notesSlide" Target="/ppt/notesSlides/notesSlide10.xml" Id="Rabdc26a751474c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090d281844b81" /><Relationship Type="http://schemas.openxmlformats.org/officeDocument/2006/relationships/image" Target="/ppt/media/image2.png" Id="R22c056643df74ea5" /><Relationship Type="http://schemas.openxmlformats.org/officeDocument/2006/relationships/notesSlide" Target="/ppt/notesSlides/notesSlide11.xml" Id="R70cd39942e124f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ef252cb6f94485" /><Relationship Type="http://schemas.openxmlformats.org/officeDocument/2006/relationships/notesSlide" Target="/ppt/notesSlides/notesSlide12.xml" Id="R4b956683f44248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68fc72308141fc" /><Relationship Type="http://schemas.openxmlformats.org/officeDocument/2006/relationships/notesSlide" Target="/ppt/notesSlides/notesSlide13.xml" Id="R2904b71f912f44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7bcc7cee2d44c6" /><Relationship Type="http://schemas.openxmlformats.org/officeDocument/2006/relationships/notesSlide" Target="/ppt/notesSlides/notesSlide14.xml" Id="Recee7ca3b43a4b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a5e3f02e64bcf" /><Relationship Type="http://schemas.openxmlformats.org/officeDocument/2006/relationships/notesSlide" Target="/ppt/notesSlides/notesSlide15.xml" Id="Rc093847210c245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7d0053d3284c80" /><Relationship Type="http://schemas.openxmlformats.org/officeDocument/2006/relationships/notesSlide" Target="/ppt/notesSlides/notesSlide16.xml" Id="R3d222678bddf41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98FBC-83EC-4D5C-91F8-EB63DEE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6571D-103A-463D-BE5E-39480D84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9543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ECEF8-AF58-464C-A0E3-FC0CEAF4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82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Monthly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CCFBB-7ADA-47E1-8C65-DC6A3183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65354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WorkGraph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47F6F-5C7F-4951-93DE-23C4DB4A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653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E3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 月優化歷程：從 queue bottleneck 到 global atomic traffic 結論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3D568-A1FC-4492-A800-1C011417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3397"/>
            <a:ext cx="3670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3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951A0-E2A2-4ADB-8592-EC2E3C58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34100"/>
            <a:ext cx="325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D0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30.35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F5C1E-E8BC-4B1B-97F9-EC6C127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7627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7D3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baseline avg 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77E22-E73F-4F3D-B40F-32674F5E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5843397"/>
            <a:ext cx="3670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3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6125B-CD64-425F-B8AA-98287A7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134100"/>
            <a:ext cx="325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A8E6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A1112-4CFE-4C7D-8A3B-952DB3AD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627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7D3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main path median compute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AF629-C942-4E7E-B14A-A0C7C8D9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5843397"/>
            <a:ext cx="3670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3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1E01D-0868-491E-A7DF-4D8F5EB5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134100"/>
            <a:ext cx="325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Wave-local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64909-FEDC-429D-9212-F5A805AF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7627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7D3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next architecture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08521-7189-4732-987F-7CF74AAF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009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7D3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AMD RX 7900 XTX / RDNA 3 · 2026 / 05 / 25</a:t>
            </a:r>
          </a:p>
        </p:txBody>
      </p:sp>
    </p:spTree>
    <p:extLst>
      <p:ext uri="{BB962C8B-B14F-4D97-AF65-F5344CB8AC3E}">
        <p14:creationId xmlns:p14="http://schemas.microsoft.com/office/powerpoint/2010/main" val="12471611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2-bg">
            <a:extLst xmlns:a="http://schemas.openxmlformats.org/drawingml/2006/main">
              <a:ext uri="{FF2B5EF4-FFF2-40B4-BE49-F238E27FC236}">
                <a16:creationId xmlns:a16="http://schemas.microsoft.com/office/drawing/2014/main" id="{13FDCA38-757F-47A0-9C42-1B1625C0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DBDE0-F198-4106-9C85-F72F78FF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ED4A1-400D-4C32-88D6-E0EA074A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Recap：上次已完成 correctness-first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CCA98-24B4-4B75-9C80-0CC97DB2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E73D2-F076-4F67-8824-6187D981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861BC-35AF-4DD4-8382-AD8CD252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D58B1-83EC-4073-B92E-1BE52A42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E6CDD-EB13-42EE-B622-8F4B9B85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87B1B-EDEE-47CE-B5D7-069ADE9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C784F-C0A5-4EC3-A34A-71D74F67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73554-3DD6-4A39-84F9-02791F09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752C2-11C3-455A-928E-415ABD1E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F7709-B18D-4AC3-9B9E-BF58D436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7E595-39D9-4F5D-A7E9-24B4A72A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7BF98-0366-42C9-911F-E495DF04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4B295-4D1C-43CB-BAD6-67BA081B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80C2B-C68B-4A4C-BF55-DA36D797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Subdivide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14008-B10B-42B4-8F0A-CDAC8635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E2AB0-1AF3-456C-8C66-56DF8A37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4F7D0-5CCF-4EDC-9C02-39ED1088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37F62-2D53-4F58-8E31-D391E8BB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98685-FAAF-4660-8A23-2422CB12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B56052-8E79-4AC0-ADE0-D79B9769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631C3-2A06-4486-AEC8-DC4DA22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931224-7F8D-4AC6-B3F9-0505B982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Write VB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C3D6E-E8F5-4BDF-9F99-927AEE51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CB903-E1AF-4BBC-8A0B-3B5CA85F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65288-2880-4AD1-85F8-BA6BA173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28A67-2F99-4AED-920A-C8E9ECF9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Render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1ED39-A7D9-4836-A5F7-82BD8FC3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55614B-F0FF-4DC6-AF6A-F8946D4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8039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單一 compute dispatch 內，用 persistent threads 模擬 D3D Work Graph producer-consumer network。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855FE3-81F0-4C77-95C1-2BC3EDC9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B7E392-DDA7-44BA-8857-4E2F666C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803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Koch Snowflake recursive workload 可 deterministic 輸出。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3C8CEE-87B6-4649-82C2-2B4C53D6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8F035A-3F45-42F4-8619-E7CFF6A4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8039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跨 workgroup handoff 使用 atomic ready flag，GPU-side termination 已能完成。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9435B5-FC44-4700-AC26-EE3D0A12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214813"/>
            <a:ext cx="83915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378799-3B53-460B-AEDA-2CBB7C87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1965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上次結論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9FD064-0D98-431D-8DDA-847D47DA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829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功能已經跑通，但 performance 還在調查中。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322F33-39E2-48F8-A021-7F2A4BDF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2930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本月重點：完整追 queue bottleneck 的演進。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961540-E78A-4D02-9AD6-DF99899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5A7B53-3E42-4D54-83D4-EC95ACE1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E99ECE-4382-4232-9D80-10C5447C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這份月報的重點是完整交代 5 月優化歷程，不是只報一組快參數。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81922A-C797-4082-AB82-2E7FB2AF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6791E9-39B8-45DA-82A6-B8F56DD7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0317907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3-bg">
            <a:extLst xmlns:a="http://schemas.openxmlformats.org/drawingml/2006/main">
              <a:ext uri="{FF2B5EF4-FFF2-40B4-BE49-F238E27FC236}">
                <a16:creationId xmlns:a16="http://schemas.microsoft.com/office/drawing/2014/main" id="{F4D46C43-A7A0-4C86-A9B3-9C73C1DC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7E773-88DB-499E-8A02-C310D76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661B1-A200-40CF-A336-3ED656D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Recap：上次 profile 留下的問題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735EC-12DB-43FE-96B1-40241C4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951EE-B9DA-4ACA-8785-F69484FB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D0724-662A-435A-837F-73A1556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9DF09-A772-4D99-B182-80009CE9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55372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8F86C-F332-433E-B72B-BC6D0021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54941-85A7-4CE5-8660-359C09A4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094C8-02A7-4E59-A3AE-0861F685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5086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/ Q2 queue 的 atomic contention 是否主導？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E870A-3D36-4C4E-BE5E-18A638F4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5086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如果是，分散 queue hot spot 應該有明顯效果。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FA95-0201-4C73-8271-604A911F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1447800"/>
            <a:ext cx="55372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332C5-F9C2-479F-B5DC-331613D3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9545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C1E3B-DD22-473E-BC2D-23FDFFDB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71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2595C-D6FA-4814-A026-2F56678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5086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B / Node C worker ratio 是否失衡？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64807-B9C3-4752-AD47-0B74F35F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5086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如果 C writers 不足，Q2 backlog 會推高 enqueue 壓力。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F8B87-F714-43EE-944A-8C62501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250" y="1447800"/>
            <a:ext cx="55372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E3BC8-8D40-4647-B18C-2806008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850" y="169545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E5800-F4C8-49A9-8289-1D7A3288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771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18ED9-8184-48AB-ABE9-8D507AD4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324100"/>
            <a:ext cx="50863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ready-spin、output writes、queue sizing 是否是主因？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FBCBF-216F-4559-8B40-EE6FE36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676650"/>
            <a:ext cx="5086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本月用 ablation 一項一項排除。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62E13-AF8F-4248-8E1A-D460CEFB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C8677-222F-492D-B948-C1252D7B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4555501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4-bg">
            <a:extLst xmlns:a="http://schemas.openxmlformats.org/drawingml/2006/main">
              <a:ext uri="{FF2B5EF4-FFF2-40B4-BE49-F238E27FC236}">
                <a16:creationId xmlns:a16="http://schemas.microsoft.com/office/drawing/2014/main" id="{058B79B6-18F8-43BD-B94D-7C83D0AE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2EB42-3B09-44FF-ACA3-DA52C63C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2CC31-7A90-4FD5-A915-C4B145C0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本週成果：整理與整合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834BB-0D54-41A4-A1F7-21304307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8DB44-B539-4FB5-BC13-3AA626AC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C54DB-72C2-4AB0-878E-417593B9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AAE84-00F8-4FD2-90A4-981224DC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554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6E306-1EB1-4A3E-9727-84A95F7B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5124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完整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8BFB1-57C9-4522-977E-689B783D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12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B/C -&gt; Q1 -&gt; Q2 -&gt; lane-pop -&gt; high shards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D4E1F-CA22-45E3-A278-9B0EA609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1447800"/>
            <a:ext cx="554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79E7C-5B73-409F-897B-42E4D7C4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5124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Adopted default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5582D-8E94-4EF6-8BC4-0077ED07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512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Q1/Q2=256, lane-pop on, C=24/B=72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E1F32-45CD-48D8-9D80-F128232E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7550" y="1447800"/>
            <a:ext cx="554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47A89-B344-4A05-B4D7-A52779CB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695450"/>
            <a:ext cx="5124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7D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EA7B9-F3E4-43D6-95DB-30A0482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00300"/>
            <a:ext cx="512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main path median compute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6C020-2F19-46FB-9CC9-1914152F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125E3-93D3-4EF6-8119-3AC0518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整理 5 月完整優化 timeline，將每一輪問題、嘗試、結果、解讀串起來。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28EA6-0DE1-4C77-AB97-EBB1F038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7FDE4-0A2C-4EA4-A06D-E3CECD3E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整合目前主線預設，保留 shard flags 作為後續 ablation controls。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B230A-AFA5-470F-B604-23760A0A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97667-06D7-4210-83B5-FFFC7BD4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排除 output writes、Q2 ready-first、C output batching 等非主因。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A1B12-26B6-4B26-9ACB-D854B1F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65854-FCD7-46BC-9370-05F9C8B3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2935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request batching 目前不納入主線；另派實驗補強資料。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FF42A-4BC9-4154-8C02-B012E2E2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199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76161-0D1A-4A20-893B-8B466AEC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99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收斂結論：有效優化幾乎都在降低 queue/global atomic traffic。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A56D0-90C5-407E-B943-3348C9A0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B9C39-9A34-4CFA-A0C2-EB4B31F0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4A37E-8945-4AB9-BA11-BFEC06E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本週不是新增一個 magic parameter，而是把整個月的 evidence chain 收斂清楚。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FCB08-9C44-4E89-9F67-E90B6424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F71D18-EF3E-4733-BB6A-7AA5067B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6858932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5-bg">
            <a:extLst xmlns:a="http://schemas.openxmlformats.org/drawingml/2006/main">
              <a:ext uri="{FF2B5EF4-FFF2-40B4-BE49-F238E27FC236}">
                <a16:creationId xmlns:a16="http://schemas.microsoft.com/office/drawing/2014/main" id="{C310E0B7-811A-4F1E-B97A-F31C4C61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F4EBD-B6AB-4404-B883-5D118594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7EF99-69F4-4FB8-973E-B869997B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Bottleneck timeline：瓶頸演進路徑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FAB9-6E35-43BB-983D-FB7C92ED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EF0DE-DFED-4BA1-A221-30BFEE6E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57A0D-9714-4E90-B446-78B9906A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timeline-table-h-0">
            <a:extLst xmlns:a="http://schemas.openxmlformats.org/drawingml/2006/main">
              <a:ext uri="{FF2B5EF4-FFF2-40B4-BE49-F238E27FC236}">
                <a16:creationId xmlns:a16="http://schemas.microsoft.com/office/drawing/2014/main" id="{6C36B958-888D-4578-B5E6-FBC81805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階段</a:t>
            </a:r>
          </a:p>
        </p:txBody>
      </p:sp>
      <p:sp>
        <p:nvSpPr>
          <p:cNvPr id="8" name="timeline-table-h-1">
            <a:extLst xmlns:a="http://schemas.openxmlformats.org/drawingml/2006/main">
              <a:ext uri="{FF2B5EF4-FFF2-40B4-BE49-F238E27FC236}">
                <a16:creationId xmlns:a16="http://schemas.microsoft.com/office/drawing/2014/main" id="{8EC7FCD9-C2AE-491B-8F0F-E9C056BF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8590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設定</a:t>
            </a:r>
          </a:p>
        </p:txBody>
      </p:sp>
      <p:sp>
        <p:nvSpPr>
          <p:cNvPr id="9" name="timeline-table-h-2">
            <a:extLst xmlns:a="http://schemas.openxmlformats.org/drawingml/2006/main">
              <a:ext uri="{FF2B5EF4-FFF2-40B4-BE49-F238E27FC236}">
                <a16:creationId xmlns:a16="http://schemas.microsoft.com/office/drawing/2014/main" id="{D4D0CB8D-5B22-432F-8630-E0C250E1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859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Compute</a:t>
            </a:r>
          </a:p>
        </p:txBody>
      </p:sp>
      <p:sp>
        <p:nvSpPr>
          <p:cNvPr id="10" name="timeline-table-h-3">
            <a:extLst xmlns:a="http://schemas.openxmlformats.org/drawingml/2006/main">
              <a:ext uri="{FF2B5EF4-FFF2-40B4-BE49-F238E27FC236}">
                <a16:creationId xmlns:a16="http://schemas.microsoft.com/office/drawing/2014/main" id="{45CE782B-5D0C-43DF-BB37-DB094D6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4859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3C50A-718C-40F9-8FC3-54B43D2B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710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12" name="timeline-table-0-0">
            <a:extLst xmlns:a="http://schemas.openxmlformats.org/drawingml/2006/main">
              <a:ext uri="{FF2B5EF4-FFF2-40B4-BE49-F238E27FC236}">
                <a16:creationId xmlns:a16="http://schemas.microsoft.com/office/drawing/2014/main" id="{0CEC6072-9427-46FA-8B68-D9D3183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Baseline</a:t>
            </a:r>
          </a:p>
        </p:txBody>
      </p:sp>
      <p:sp>
        <p:nvSpPr>
          <p:cNvPr id="13" name="timeline-table-0-1">
            <a:extLst xmlns:a="http://schemas.openxmlformats.org/drawingml/2006/main">
              <a:ext uri="{FF2B5EF4-FFF2-40B4-BE49-F238E27FC236}">
                <a16:creationId xmlns:a16="http://schemas.microsoft.com/office/drawing/2014/main" id="{479FCE2C-48F6-469B-BFE1-4B60EDB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batch on, Q2 scalar, C=24/B=72</a:t>
            </a:r>
          </a:p>
        </p:txBody>
      </p:sp>
      <p:sp>
        <p:nvSpPr>
          <p:cNvPr id="14" name="timeline-table-0-2">
            <a:extLst xmlns:a="http://schemas.openxmlformats.org/drawingml/2006/main">
              <a:ext uri="{FF2B5EF4-FFF2-40B4-BE49-F238E27FC236}">
                <a16:creationId xmlns:a16="http://schemas.microsoft.com/office/drawing/2014/main" id="{D36D7B1D-BB1A-49A6-B51C-70528C9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812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30.35 ms</a:t>
            </a:r>
          </a:p>
        </p:txBody>
      </p:sp>
      <p:sp>
        <p:nvSpPr>
          <p:cNvPr id="15" name="timeline-table-0-3">
            <a:extLst xmlns:a="http://schemas.openxmlformats.org/drawingml/2006/main">
              <a:ext uri="{FF2B5EF4-FFF2-40B4-BE49-F238E27FC236}">
                <a16:creationId xmlns:a16="http://schemas.microsoft.com/office/drawing/2014/main" id="{0336EBB6-3CB7-4BED-9A6C-3CE9A5DB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9812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queue 壓力很高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7C3A0-82A7-4F07-BD0C-3E2FFC09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7" name="timeline-table-1-0">
            <a:extLst xmlns:a="http://schemas.openxmlformats.org/drawingml/2006/main">
              <a:ext uri="{FF2B5EF4-FFF2-40B4-BE49-F238E27FC236}">
                <a16:creationId xmlns:a16="http://schemas.microsoft.com/office/drawing/2014/main" id="{843BFB90-3209-470B-973B-F702FD2B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B/C ratio</a:t>
            </a:r>
          </a:p>
        </p:txBody>
      </p:sp>
      <p:sp>
        <p:nvSpPr>
          <p:cNvPr id="18" name="timeline-table-1-1">
            <a:extLst xmlns:a="http://schemas.openxmlformats.org/drawingml/2006/main">
              <a:ext uri="{FF2B5EF4-FFF2-40B4-BE49-F238E27FC236}">
                <a16:creationId xmlns:a16="http://schemas.microsoft.com/office/drawing/2014/main" id="{53A66945-783E-4AE4-BC84-123EA798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C=40/B=56</a:t>
            </a:r>
          </a:p>
        </p:txBody>
      </p:sp>
      <p:sp>
        <p:nvSpPr>
          <p:cNvPr id="19" name="timeline-table-1-2">
            <a:extLst xmlns:a="http://schemas.openxmlformats.org/drawingml/2006/main">
              <a:ext uri="{FF2B5EF4-FFF2-40B4-BE49-F238E27FC236}">
                <a16:creationId xmlns:a16="http://schemas.microsoft.com/office/drawing/2014/main" id="{9B4BEE79-9638-423E-ADD4-506995C3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27.97 ms</a:t>
            </a:r>
          </a:p>
        </p:txBody>
      </p:sp>
      <p:sp>
        <p:nvSpPr>
          <p:cNvPr id="20" name="timeline-table-1-3">
            <a:extLst xmlns:a="http://schemas.openxmlformats.org/drawingml/2006/main">
              <a:ext uri="{FF2B5EF4-FFF2-40B4-BE49-F238E27FC236}">
                <a16:creationId xmlns:a16="http://schemas.microsoft.com/office/drawing/2014/main" id="{71D12E38-AAC8-45EC-BF24-0421BAD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24574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backlog 降低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283E8-16BD-489C-9E67-8F9A9349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22" name="timeline-table-2-0">
            <a:extLst xmlns:a="http://schemas.openxmlformats.org/drawingml/2006/main">
              <a:ext uri="{FF2B5EF4-FFF2-40B4-BE49-F238E27FC236}">
                <a16:creationId xmlns:a16="http://schemas.microsoft.com/office/drawing/2014/main" id="{5B56B39D-D3E9-4B46-A8B8-F7CCFAA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sharding</a:t>
            </a:r>
          </a:p>
        </p:txBody>
      </p:sp>
      <p:sp>
        <p:nvSpPr>
          <p:cNvPr id="23" name="timeline-table-2-1">
            <a:extLst xmlns:a="http://schemas.openxmlformats.org/drawingml/2006/main">
              <a:ext uri="{FF2B5EF4-FFF2-40B4-BE49-F238E27FC236}">
                <a16:creationId xmlns:a16="http://schemas.microsoft.com/office/drawing/2014/main" id="{EA2E6682-B3F0-4FAA-8BB4-A84C5343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Q1s16/Q2s1, C=38/B=58</a:t>
            </a:r>
          </a:p>
        </p:txBody>
      </p:sp>
      <p:sp>
        <p:nvSpPr>
          <p:cNvPr id="24" name="timeline-table-2-2">
            <a:extLst xmlns:a="http://schemas.openxmlformats.org/drawingml/2006/main">
              <a:ext uri="{FF2B5EF4-FFF2-40B4-BE49-F238E27FC236}">
                <a16:creationId xmlns:a16="http://schemas.microsoft.com/office/drawing/2014/main" id="{B75C69EB-A2A2-496F-B252-8BFB26CA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13.70 ms</a:t>
            </a:r>
          </a:p>
        </p:txBody>
      </p:sp>
      <p:sp>
        <p:nvSpPr>
          <p:cNvPr id="25" name="timeline-table-2-3">
            <a:extLst xmlns:a="http://schemas.openxmlformats.org/drawingml/2006/main">
              <a:ext uri="{FF2B5EF4-FFF2-40B4-BE49-F238E27FC236}">
                <a16:creationId xmlns:a16="http://schemas.microsoft.com/office/drawing/2014/main" id="{7EAA022B-3DD9-4279-B407-A7EF5F02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29527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hot atomic 被分散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DFA15-6259-4BD5-A054-F0D58BFC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27" name="timeline-table-3-0">
            <a:extLst xmlns:a="http://schemas.openxmlformats.org/drawingml/2006/main">
              <a:ext uri="{FF2B5EF4-FFF2-40B4-BE49-F238E27FC236}">
                <a16:creationId xmlns:a16="http://schemas.microsoft.com/office/drawing/2014/main" id="{6F713901-7691-490F-83E1-E7781477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sharding</a:t>
            </a:r>
          </a:p>
        </p:txBody>
      </p:sp>
      <p:sp>
        <p:nvSpPr>
          <p:cNvPr id="28" name="timeline-table-3-1">
            <a:extLst xmlns:a="http://schemas.openxmlformats.org/drawingml/2006/main">
              <a:ext uri="{FF2B5EF4-FFF2-40B4-BE49-F238E27FC236}">
                <a16:creationId xmlns:a16="http://schemas.microsoft.com/office/drawing/2014/main" id="{DE479190-D664-4EDF-B5E0-085E4BF9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Q1s16/Q2s16, C=16/B=80</a:t>
            </a:r>
          </a:p>
        </p:txBody>
      </p:sp>
      <p:sp>
        <p:nvSpPr>
          <p:cNvPr id="29" name="timeline-table-3-2">
            <a:extLst xmlns:a="http://schemas.openxmlformats.org/drawingml/2006/main">
              <a:ext uri="{FF2B5EF4-FFF2-40B4-BE49-F238E27FC236}">
                <a16:creationId xmlns:a16="http://schemas.microsoft.com/office/drawing/2014/main" id="{60219E53-16A0-4E56-A136-1466767B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48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5.57 ms</a:t>
            </a:r>
          </a:p>
        </p:txBody>
      </p:sp>
      <p:sp>
        <p:nvSpPr>
          <p:cNvPr id="30" name="timeline-table-3-3">
            <a:extLst xmlns:a="http://schemas.openxmlformats.org/drawingml/2006/main">
              <a:ext uri="{FF2B5EF4-FFF2-40B4-BE49-F238E27FC236}">
                <a16:creationId xmlns:a16="http://schemas.microsoft.com/office/drawing/2014/main" id="{8155A150-C92A-475A-8C79-03015EDE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4480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hot atomic 被分散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77D364-945D-46E9-84C1-8F871F44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2" name="timeline-table-4-0">
            <a:extLst xmlns:a="http://schemas.openxmlformats.org/drawingml/2006/main">
              <a:ext uri="{FF2B5EF4-FFF2-40B4-BE49-F238E27FC236}">
                <a16:creationId xmlns:a16="http://schemas.microsoft.com/office/drawing/2014/main" id="{3A5F140C-4F8A-4131-B17E-0F88BAC6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lane-pop</a:t>
            </a:r>
          </a:p>
        </p:txBody>
      </p:sp>
      <p:sp>
        <p:nvSpPr>
          <p:cNvPr id="33" name="timeline-table-4-1">
            <a:extLst xmlns:a="http://schemas.openxmlformats.org/drawingml/2006/main">
              <a:ext uri="{FF2B5EF4-FFF2-40B4-BE49-F238E27FC236}">
                <a16:creationId xmlns:a16="http://schemas.microsoft.com/office/drawing/2014/main" id="{584C9579-BC06-45AE-A858-6A4002FC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243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Q1s16/Q2s16, C=24/B=72</a:t>
            </a:r>
          </a:p>
        </p:txBody>
      </p:sp>
      <p:sp>
        <p:nvSpPr>
          <p:cNvPr id="34" name="timeline-table-4-2">
            <a:extLst xmlns:a="http://schemas.openxmlformats.org/drawingml/2006/main">
              <a:ext uri="{FF2B5EF4-FFF2-40B4-BE49-F238E27FC236}">
                <a16:creationId xmlns:a16="http://schemas.microsoft.com/office/drawing/2014/main" id="{4A694E34-EAD5-48D6-B0F1-D55C8A02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24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3.84 ms</a:t>
            </a:r>
          </a:p>
        </p:txBody>
      </p:sp>
      <p:sp>
        <p:nvSpPr>
          <p:cNvPr id="35" name="timeline-table-4-3">
            <a:extLst xmlns:a="http://schemas.openxmlformats.org/drawingml/2006/main">
              <a:ext uri="{FF2B5EF4-FFF2-40B4-BE49-F238E27FC236}">
                <a16:creationId xmlns:a16="http://schemas.microsoft.com/office/drawing/2014/main" id="{F5FAE80E-8809-43D1-9F59-8AFCD15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9243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shard 起掃策略改善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B438D2-2FA8-4F6E-BC8C-F9330A3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7" name="timeline-table-5-0">
            <a:extLst xmlns:a="http://schemas.openxmlformats.org/drawingml/2006/main">
              <a:ext uri="{FF2B5EF4-FFF2-40B4-BE49-F238E27FC236}">
                <a16:creationId xmlns:a16="http://schemas.microsoft.com/office/drawing/2014/main" id="{1D7FD7A2-A95F-4173-BEFA-E1760F2C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High shards</a:t>
            </a:r>
          </a:p>
        </p:txBody>
      </p:sp>
      <p:sp>
        <p:nvSpPr>
          <p:cNvPr id="38" name="timeline-table-5-1">
            <a:extLst xmlns:a="http://schemas.openxmlformats.org/drawingml/2006/main">
              <a:ext uri="{FF2B5EF4-FFF2-40B4-BE49-F238E27FC236}">
                <a16:creationId xmlns:a16="http://schemas.microsoft.com/office/drawing/2014/main" id="{988A1884-CC6A-4815-A67B-DAB732DE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Q1s256/Q2s256, C=24/B=72</a:t>
            </a:r>
          </a:p>
        </p:txBody>
      </p:sp>
      <p:sp>
        <p:nvSpPr>
          <p:cNvPr id="39" name="timeline-table-5-2">
            <a:extLst xmlns:a="http://schemas.openxmlformats.org/drawingml/2006/main">
              <a:ext uri="{FF2B5EF4-FFF2-40B4-BE49-F238E27FC236}">
                <a16:creationId xmlns:a16="http://schemas.microsoft.com/office/drawing/2014/main" id="{B6F3C1E4-64F0-4D7A-8C7E-CB80DD53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196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 ms</a:t>
            </a:r>
          </a:p>
        </p:txBody>
      </p:sp>
      <p:sp>
        <p:nvSpPr>
          <p:cNvPr id="40" name="timeline-table-5-3">
            <a:extLst xmlns:a="http://schemas.openxmlformats.org/drawingml/2006/main">
              <a:ext uri="{FF2B5EF4-FFF2-40B4-BE49-F238E27FC236}">
                <a16:creationId xmlns:a16="http://schemas.microsoft.com/office/drawing/2014/main" id="{779650D9-5FC6-4456-ACDB-2BE14A6E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44196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contention 大幅下降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617294-C9CB-4D03-B5C6-0CAAC6F6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3608"/>
            <a:ext cx="5562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CCA9DB-8DE2-4277-B41D-DAD2EDF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30.35 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4C55CB-A70D-4BFC-9D1E-41929C2B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15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baseline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8CE91E-94A4-4CA4-9D82-5C40F55A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03608"/>
            <a:ext cx="5562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15541F-E2C9-4A8F-ABCD-70EB75F6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865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3.84 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3DD17C-E4EF-4814-A332-10349C14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915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16-shard + lane-pop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AF90D2-7163-4765-A89B-B6A3878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003608"/>
            <a:ext cx="5562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C74BD2-A43D-45D8-B964-A13551EC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2865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F7D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 ms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CB6B43-3E55-4C6B-908A-B686B571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915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256-shard default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48500F-ABE6-4E03-84A7-B15E9C8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3D3753-BEF3-4BB1-BEFC-ADEB8122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DDF5EE-CA2C-4391-95FB-F501991D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重點：每次大幅改善，都對應到 queue atomic traffic 被分散或減少。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985F64-B7BA-41F9-AA5A-EE25AF88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C48A01-5430-4599-8DEB-E3F39DF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403903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6-bg">
            <a:extLst xmlns:a="http://schemas.openxmlformats.org/drawingml/2006/main">
              <a:ext uri="{FF2B5EF4-FFF2-40B4-BE49-F238E27FC236}">
                <a16:creationId xmlns:a16="http://schemas.microsoft.com/office/drawing/2014/main" id="{ACB9E904-193E-4F4E-9537-B2A4F81A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CC5F2-8ABB-429F-9C6A-EEF2F520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96897-7233-46ED-8F3D-46A6828F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RDP/RGP occupancy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EAC38-3A1A-4406-8E32-2F1F5743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FE5E-D845-489B-82A1-2AAB9FE0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53F7B-2E51-4254-AE5A-682E54BF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A29F0-0FCB-40D7-9840-85711B08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965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Wavefront-only RGP crop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a2d245d154264"/>
          <a:stretch xmlns:a="http://schemas.openxmlformats.org/drawingml/2006/main"/>
        </p:blipFill>
        <p:spPr>
          <a:xfrm xmlns:a="http://schemas.openxmlformats.org/drawingml/2006/main">
            <a:off x="970677" y="1855470"/>
            <a:ext cx="8890000" cy="5000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F6078-7739-49EA-8FD5-CCCA182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91350"/>
            <a:ext cx="965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這張圖可以輔助觀察，但不能單獨當因果證據。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6EE29-93D8-4652-9EBC-7C9E1446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00450"/>
            <a:ext cx="7124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wavefront = 0</a:t>
            </a:r>
          </a:p>
          <a:p xmlns:a="http://schemas.openxmlformats.org/drawingml/2006/main">
            <a:pPr>
              <a:defRPr sz="30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不能直接推論 shader 已結束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3E42B-FC61-40DC-ACCB-F02CC053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053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E3127-654B-475B-A2BC-81141B3E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705350"/>
            <a:ext cx="676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RGP occupancy 圖保留作輔助。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9C63A-C13D-4AEC-BDBE-D004AD05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387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A8D59-8641-4D6B-8EE9-DA7D6139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38750"/>
            <a:ext cx="676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ALU-only probe 也出現相似型態。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B7A77-1916-4EA2-A65F-9AD76909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436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BAD50-2E33-4A2D-98D0-D22DB302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791200"/>
            <a:ext cx="676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後續判斷主要依據：compute time 與 queue counters trend。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20327-0EE9-4692-B1B8-F4B14594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654" y="6623685"/>
            <a:ext cx="7132796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F9C25-7C40-4309-99A4-2E3EC084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3254" y="67818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E7011-7C23-45AE-A171-E9BFA045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858000"/>
            <a:ext cx="6438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這頁只交代 profiler 解讀邊界，不展開細節。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A68ED-9A7D-4182-BF27-A28683A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C543A-C96A-43D3-B51B-5FFE0027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2240591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7-bg">
            <a:extLst xmlns:a="http://schemas.openxmlformats.org/drawingml/2006/main">
              <a:ext uri="{FF2B5EF4-FFF2-40B4-BE49-F238E27FC236}">
                <a16:creationId xmlns:a16="http://schemas.microsoft.com/office/drawing/2014/main" id="{8A1B1CDC-FC13-47EB-8113-96E5BC3A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63EEB-451D-468B-B329-A15F4C1C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471F2-3F85-41C7-9C2E-8B8BEDAA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1：B/C ratio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FE9D4-169A-4A50-8242-8A21F78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C38BD-C69E-4EAD-B682-E4311147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51D80-0A43-4C20-86DF-FFD94227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8362C8EB-831E-4A38-8429-054F1E26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B0DF-73D2-4BA4-83FF-7D8AFB93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0B6A9-04AC-4DA9-A7DC-F531DF9D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C writer 是否不足，造成 Q2 backlog？</a:t>
            </a:r>
          </a:p>
        </p:txBody>
      </p:sp>
      <p:sp>
        <p:nvSpPr>
          <p:cNvPr id="10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0D099DCD-1FA4-4572-9854-AA2F3BAC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9D52A-5294-4A5E-BF3F-FAD07E7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13872-3B90-4695-A9EF-9143B0EC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固定總 workgroups，掃 C/B worker ratio。</a:t>
            </a:r>
          </a:p>
        </p:txBody>
      </p:sp>
      <p:sp>
        <p:nvSpPr>
          <p:cNvPr id="13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80EB89FD-2AF5-4CFE-9325-D05A5A46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6199B-BCFE-490E-81A8-15D5FC01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09495-986B-4986-987A-68CEE28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955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C=40/B=56 最佳，avg compute 到 27.97 ms。</a:t>
            </a:r>
          </a:p>
        </p:txBody>
      </p:sp>
      <p:sp>
        <p:nvSpPr>
          <p:cNvPr id="16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7DAAE052-AFC2-4082-835E-534FDA67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920DE-B7BF-49CA-8B3A-843D1AC8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5747A-08A3-4D08-BFC2-B3704A5C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71800"/>
            <a:ext cx="788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writer 數量影響 backlog，但真正的大改善仍要處理 queue atomic contention。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B31E8-DA02-4A17-82C1-59E398B0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4963"/>
            <a:ext cx="4301289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012E8-F58E-4A91-AF58-1A9C0021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3886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50k -&gt; 9k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5A42A-5C95-46E9-9EC5-383B87B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246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high-water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12876-0187-4B81-A09D-D63F6097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339" y="5414963"/>
            <a:ext cx="4301289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AB292-7D7B-44B3-AC91-9E978F06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695950"/>
            <a:ext cx="3886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14D87-901A-4EB0-9469-023099E8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3246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約略改善幅度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7710C-3453-4C32-A2BD-D124841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8793079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E51EB-138C-409A-A74B-18C81382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023EEA-8E9C-42D1-9FE1-CAD79875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B/C ratio 是第一個訊號：queue backlog 會放大 atomic traffic。</a:t>
            </a:r>
          </a:p>
        </p:txBody>
      </p:sp>
      <p:sp>
        <p:nvSpPr>
          <p:cNvPr id="28" name="bc-table-h-0">
            <a:extLst xmlns:a="http://schemas.openxmlformats.org/drawingml/2006/main">
              <a:ext uri="{FF2B5EF4-FFF2-40B4-BE49-F238E27FC236}">
                <a16:creationId xmlns:a16="http://schemas.microsoft.com/office/drawing/2014/main" id="{8F2520A6-5DCB-46C9-B12A-2B0D10D1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10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</a:t>
            </a:r>
          </a:p>
        </p:txBody>
      </p:sp>
      <p:sp>
        <p:nvSpPr>
          <p:cNvPr id="29" name="bc-table-h-1">
            <a:extLst xmlns:a="http://schemas.openxmlformats.org/drawingml/2006/main">
              <a:ext uri="{FF2B5EF4-FFF2-40B4-BE49-F238E27FC236}">
                <a16:creationId xmlns:a16="http://schemas.microsoft.com/office/drawing/2014/main" id="{FEFA4967-A0EA-4F70-AB21-FE65E49C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485900"/>
            <a:ext cx="110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</a:t>
            </a:r>
          </a:p>
        </p:txBody>
      </p:sp>
      <p:sp>
        <p:nvSpPr>
          <p:cNvPr id="30" name="bc-table-h-2">
            <a:extLst xmlns:a="http://schemas.openxmlformats.org/drawingml/2006/main">
              <a:ext uri="{FF2B5EF4-FFF2-40B4-BE49-F238E27FC236}">
                <a16:creationId xmlns:a16="http://schemas.microsoft.com/office/drawing/2014/main" id="{36F49DE8-AE1C-4F80-A49D-783DFDD5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4859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Avg compute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8A293-5C84-4046-A22E-C8FF8EDF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5262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32" name="bc-table-0-0">
            <a:extLst xmlns:a="http://schemas.openxmlformats.org/drawingml/2006/main">
              <a:ext uri="{FF2B5EF4-FFF2-40B4-BE49-F238E27FC236}">
                <a16:creationId xmlns:a16="http://schemas.microsoft.com/office/drawing/2014/main" id="{301D08A0-B09E-4125-A926-7CE6AE44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526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24</a:t>
            </a:r>
          </a:p>
        </p:txBody>
      </p:sp>
      <p:sp>
        <p:nvSpPr>
          <p:cNvPr id="33" name="bc-table-0-1">
            <a:extLst xmlns:a="http://schemas.openxmlformats.org/drawingml/2006/main">
              <a:ext uri="{FF2B5EF4-FFF2-40B4-BE49-F238E27FC236}">
                <a16:creationId xmlns:a16="http://schemas.microsoft.com/office/drawing/2014/main" id="{064EE6A3-BDA9-4FFC-AF42-279CCF5D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526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72</a:t>
            </a:r>
          </a:p>
        </p:txBody>
      </p:sp>
      <p:sp>
        <p:nvSpPr>
          <p:cNvPr id="34" name="bc-table-0-2">
            <a:extLst xmlns:a="http://schemas.openxmlformats.org/drawingml/2006/main">
              <a:ext uri="{FF2B5EF4-FFF2-40B4-BE49-F238E27FC236}">
                <a16:creationId xmlns:a16="http://schemas.microsoft.com/office/drawing/2014/main" id="{91156460-D1C0-4B30-8E80-6E8A9B6E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1526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30.35 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738B0-887E-4502-AD28-3DB229C6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6" name="bc-table-1-0">
            <a:extLst xmlns:a="http://schemas.openxmlformats.org/drawingml/2006/main">
              <a:ext uri="{FF2B5EF4-FFF2-40B4-BE49-F238E27FC236}">
                <a16:creationId xmlns:a16="http://schemas.microsoft.com/office/drawing/2014/main" id="{409A0388-53BC-4964-8870-64E433BE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32</a:t>
            </a:r>
          </a:p>
        </p:txBody>
      </p:sp>
      <p:sp>
        <p:nvSpPr>
          <p:cNvPr id="37" name="bc-table-1-1">
            <a:extLst xmlns:a="http://schemas.openxmlformats.org/drawingml/2006/main">
              <a:ext uri="{FF2B5EF4-FFF2-40B4-BE49-F238E27FC236}">
                <a16:creationId xmlns:a16="http://schemas.microsoft.com/office/drawing/2014/main" id="{96A88403-CBF6-420D-AAB7-26139ECA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64</a:t>
            </a:r>
          </a:p>
        </p:txBody>
      </p:sp>
      <p:sp>
        <p:nvSpPr>
          <p:cNvPr id="38" name="bc-table-1-2">
            <a:extLst xmlns:a="http://schemas.openxmlformats.org/drawingml/2006/main">
              <a:ext uri="{FF2B5EF4-FFF2-40B4-BE49-F238E27FC236}">
                <a16:creationId xmlns:a16="http://schemas.microsoft.com/office/drawing/2014/main" id="{DA02C8CE-4F2C-4D8A-8140-4E0D67AD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8575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28.44 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280E97-5536-4B9B-AE9F-077C1A6A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718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0" name="bc-table-2-0">
            <a:extLst xmlns:a="http://schemas.openxmlformats.org/drawingml/2006/main">
              <a:ext uri="{FF2B5EF4-FFF2-40B4-BE49-F238E27FC236}">
                <a16:creationId xmlns:a16="http://schemas.microsoft.com/office/drawing/2014/main" id="{D76845E2-A205-4BAF-A94D-CF748E25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623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40</a:t>
            </a:r>
          </a:p>
        </p:txBody>
      </p:sp>
      <p:sp>
        <p:nvSpPr>
          <p:cNvPr id="41" name="bc-table-2-1">
            <a:extLst xmlns:a="http://schemas.openxmlformats.org/drawingml/2006/main">
              <a:ext uri="{FF2B5EF4-FFF2-40B4-BE49-F238E27FC236}">
                <a16:creationId xmlns:a16="http://schemas.microsoft.com/office/drawing/2014/main" id="{0CA80474-49DF-421A-8B96-E7079A4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623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56</a:t>
            </a:r>
          </a:p>
        </p:txBody>
      </p:sp>
      <p:sp>
        <p:nvSpPr>
          <p:cNvPr id="42" name="bc-table-2-2">
            <a:extLst xmlns:a="http://schemas.openxmlformats.org/drawingml/2006/main">
              <a:ext uri="{FF2B5EF4-FFF2-40B4-BE49-F238E27FC236}">
                <a16:creationId xmlns:a16="http://schemas.microsoft.com/office/drawing/2014/main" id="{8188FD8F-8A42-4EAE-BCFA-31DC28A4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5623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27.97 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DFCC12-5DDE-4051-A47D-F99B0E79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6717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4" name="bc-table-3-0">
            <a:extLst xmlns:a="http://schemas.openxmlformats.org/drawingml/2006/main">
              <a:ext uri="{FF2B5EF4-FFF2-40B4-BE49-F238E27FC236}">
                <a16:creationId xmlns:a16="http://schemas.microsoft.com/office/drawing/2014/main" id="{8D8AC3E8-0A39-44FB-9625-F3A5AFBC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672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48</a:t>
            </a:r>
          </a:p>
        </p:txBody>
      </p:sp>
      <p:sp>
        <p:nvSpPr>
          <p:cNvPr id="45" name="bc-table-3-1">
            <a:extLst xmlns:a="http://schemas.openxmlformats.org/drawingml/2006/main">
              <a:ext uri="{FF2B5EF4-FFF2-40B4-BE49-F238E27FC236}">
                <a16:creationId xmlns:a16="http://schemas.microsoft.com/office/drawing/2014/main" id="{00FD84C3-FAB9-473C-95E7-5EB1F607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672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48</a:t>
            </a:r>
          </a:p>
        </p:txBody>
      </p:sp>
      <p:sp>
        <p:nvSpPr>
          <p:cNvPr id="46" name="bc-table-3-2">
            <a:extLst xmlns:a="http://schemas.openxmlformats.org/drawingml/2006/main">
              <a:ext uri="{FF2B5EF4-FFF2-40B4-BE49-F238E27FC236}">
                <a16:creationId xmlns:a16="http://schemas.microsoft.com/office/drawing/2014/main" id="{13E2B729-FF1E-4CE1-976A-5D141DFF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2672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28.59 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49B953-9A69-4E2A-B97D-B04A06A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720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8" name="bc-table-4-0">
            <a:extLst xmlns:a="http://schemas.openxmlformats.org/drawingml/2006/main">
              <a:ext uri="{FF2B5EF4-FFF2-40B4-BE49-F238E27FC236}">
                <a16:creationId xmlns:a16="http://schemas.microsoft.com/office/drawing/2014/main" id="{FB4B0478-AFC1-4450-A58B-C05A0EC8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720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64</a:t>
            </a:r>
          </a:p>
        </p:txBody>
      </p:sp>
      <p:sp>
        <p:nvSpPr>
          <p:cNvPr id="49" name="bc-table-4-1">
            <a:extLst xmlns:a="http://schemas.openxmlformats.org/drawingml/2006/main">
              <a:ext uri="{FF2B5EF4-FFF2-40B4-BE49-F238E27FC236}">
                <a16:creationId xmlns:a16="http://schemas.microsoft.com/office/drawing/2014/main" id="{251E178B-C33F-4CA6-A063-0A38469C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720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32</a:t>
            </a:r>
          </a:p>
        </p:txBody>
      </p:sp>
      <p:sp>
        <p:nvSpPr>
          <p:cNvPr id="50" name="bc-table-4-2">
            <a:extLst xmlns:a="http://schemas.openxmlformats.org/drawingml/2006/main">
              <a:ext uri="{FF2B5EF4-FFF2-40B4-BE49-F238E27FC236}">
                <a16:creationId xmlns:a16="http://schemas.microsoft.com/office/drawing/2014/main" id="{BD63CEE1-83CC-434E-ACDA-386CC217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9720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30.25 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625BEA-DE10-4A29-8269-375BCEA2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A6D820-BAE5-4F26-97E7-444B5D7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480627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8-bg">
            <a:extLst xmlns:a="http://schemas.openxmlformats.org/drawingml/2006/main">
              <a:ext uri="{FF2B5EF4-FFF2-40B4-BE49-F238E27FC236}">
                <a16:creationId xmlns:a16="http://schemas.microsoft.com/office/drawing/2014/main" id="{0EE4E36F-B565-4BD9-8C68-C968AD9F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48847-CC87-412E-A773-982EB93B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3BB38-7D86-4F85-AE8C-526E0149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2：Q1 sharding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D1BE0-8D34-4658-8E78-A0242F0F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D9C2D-19C5-441E-A3D9-7569B203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BB542-7DB1-4AC5-9706-E8620C3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839C7E41-933F-48C2-85B7-7DE1421F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02AE4-8519-44B5-827F-688F7BE4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410A3-5183-4B2F-838B-1F1EE4DD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enqueue/dequeue contention 仍然明顯。</a:t>
            </a:r>
          </a:p>
        </p:txBody>
      </p:sp>
      <p:sp>
        <p:nvSpPr>
          <p:cNvPr id="10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0BBBF6D4-33C2-4620-9ACD-B6C7E49B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8FE18-4495-44E8-BEBF-6DDF1043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8E00E-AE98-4660-BB0B-1C50652F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把 Q1 global queue 拆成多個 shards，再重新掃 B/C。</a:t>
            </a:r>
          </a:p>
        </p:txBody>
      </p:sp>
      <p:sp>
        <p:nvSpPr>
          <p:cNvPr id="13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AED9A892-4058-4331-84F6-01336EFC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B5CF6-AA22-4102-A0BE-20F88842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E1322-663B-4D55-B59B-81E90B50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955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Q1s16/Q2s1, C=38/B=58 到 13.70 ms avg。</a:t>
            </a:r>
          </a:p>
        </p:txBody>
      </p:sp>
      <p:sp>
        <p:nvSpPr>
          <p:cNvPr id="16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BB2C97F3-32C7-4E1F-AD2B-4A02C0F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4DF38-B579-485B-A0AC-9100D893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0DC5E-06B6-4E7D-A5B4-2232C70D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hot atomic 被分散後改善很大，接著 Q2 壓力自然浮現。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578FD-D10C-491F-9E3B-B80844C3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0E7EC-94FA-4D25-8E50-093B9960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255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4E902-B606-45AB-9BA0-0D0E859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2552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single hot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82A38-B09E-43F7-9D2E-C05515F3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2930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4D2BE-820C-4638-B06B-4811EBC4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29275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3EA04-4DB9-43EB-A2BC-9400A914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772150"/>
            <a:ext cx="255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F82C2-B356-4749-9D37-F095E1AD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96000"/>
            <a:ext cx="2552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 queues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A11AD-882F-405C-8884-24851802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856761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E62F7-7B0D-4723-B616-D4BD15C5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F7C22-3FE8-49EB-8763-3FAFDB15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20150"/>
            <a:ext cx="7886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修掉 Q1 後，下一個瓶頸不是結束，而是 Q2 counters 變得更明顯。</a:t>
            </a:r>
          </a:p>
        </p:txBody>
      </p:sp>
      <p:sp>
        <p:nvSpPr>
          <p:cNvPr id="29" name="q1-table-h-0">
            <a:extLst xmlns:a="http://schemas.openxmlformats.org/drawingml/2006/main">
              <a:ext uri="{FF2B5EF4-FFF2-40B4-BE49-F238E27FC236}">
                <a16:creationId xmlns:a16="http://schemas.microsoft.com/office/drawing/2014/main" id="{26D09B48-8D51-43EF-B98F-7B278E50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85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shards</a:t>
            </a:r>
          </a:p>
        </p:txBody>
      </p:sp>
      <p:sp>
        <p:nvSpPr>
          <p:cNvPr id="30" name="q1-table-h-1">
            <a:extLst xmlns:a="http://schemas.openxmlformats.org/drawingml/2006/main">
              <a:ext uri="{FF2B5EF4-FFF2-40B4-BE49-F238E27FC236}">
                <a16:creationId xmlns:a16="http://schemas.microsoft.com/office/drawing/2014/main" id="{E439DA7D-EC31-4577-AEF7-64AB968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85900"/>
            <a:ext cx="158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C/B</a:t>
            </a:r>
          </a:p>
        </p:txBody>
      </p:sp>
      <p:sp>
        <p:nvSpPr>
          <p:cNvPr id="31" name="q1-table-h-2">
            <a:extLst xmlns:a="http://schemas.openxmlformats.org/drawingml/2006/main">
              <a:ext uri="{FF2B5EF4-FFF2-40B4-BE49-F238E27FC236}">
                <a16:creationId xmlns:a16="http://schemas.microsoft.com/office/drawing/2014/main" id="{6EAE8389-AB59-4BBB-927F-37B1185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485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Avg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DDBAC1-B9A7-48B8-86E6-5FE1D45B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33575"/>
            <a:ext cx="813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33" name="q1-table-0-0">
            <a:extLst xmlns:a="http://schemas.openxmlformats.org/drawingml/2006/main">
              <a:ext uri="{FF2B5EF4-FFF2-40B4-BE49-F238E27FC236}">
                <a16:creationId xmlns:a16="http://schemas.microsoft.com/office/drawing/2014/main" id="{49E8CBC3-016D-450F-8003-C07860AD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145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</a:t>
            </a:r>
          </a:p>
        </p:txBody>
      </p:sp>
      <p:sp>
        <p:nvSpPr>
          <p:cNvPr id="34" name="q1-table-0-1">
            <a:extLst xmlns:a="http://schemas.openxmlformats.org/drawingml/2006/main">
              <a:ext uri="{FF2B5EF4-FFF2-40B4-BE49-F238E27FC236}">
                <a16:creationId xmlns:a16="http://schemas.microsoft.com/office/drawing/2014/main" id="{4F833CD9-4484-499B-8F24-3ACEEF05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1145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40/56</a:t>
            </a:r>
          </a:p>
        </p:txBody>
      </p:sp>
      <p:sp>
        <p:nvSpPr>
          <p:cNvPr id="35" name="q1-table-0-2">
            <a:extLst xmlns:a="http://schemas.openxmlformats.org/drawingml/2006/main">
              <a:ext uri="{FF2B5EF4-FFF2-40B4-BE49-F238E27FC236}">
                <a16:creationId xmlns:a16="http://schemas.microsoft.com/office/drawing/2014/main" id="{A62BC07A-99FB-48E8-97A1-A1855091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1145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23.24 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1FFCE4-7FFA-4ADC-B070-EB76C8CC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09850"/>
            <a:ext cx="813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7" name="q1-table-1-0">
            <a:extLst xmlns:a="http://schemas.openxmlformats.org/drawingml/2006/main">
              <a:ext uri="{FF2B5EF4-FFF2-40B4-BE49-F238E27FC236}">
                <a16:creationId xmlns:a16="http://schemas.microsoft.com/office/drawing/2014/main" id="{773E8239-23D2-4AE1-87BF-ABAB20EF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</a:t>
            </a:r>
          </a:p>
        </p:txBody>
      </p:sp>
      <p:sp>
        <p:nvSpPr>
          <p:cNvPr id="38" name="q1-table-1-1">
            <a:extLst xmlns:a="http://schemas.openxmlformats.org/drawingml/2006/main">
              <a:ext uri="{FF2B5EF4-FFF2-40B4-BE49-F238E27FC236}">
                <a16:creationId xmlns:a16="http://schemas.microsoft.com/office/drawing/2014/main" id="{BA96AF16-09EA-4537-BF3B-A0030349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8003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40/56</a:t>
            </a:r>
          </a:p>
        </p:txBody>
      </p:sp>
      <p:sp>
        <p:nvSpPr>
          <p:cNvPr id="39" name="q1-table-1-2">
            <a:extLst xmlns:a="http://schemas.openxmlformats.org/drawingml/2006/main">
              <a:ext uri="{FF2B5EF4-FFF2-40B4-BE49-F238E27FC236}">
                <a16:creationId xmlns:a16="http://schemas.microsoft.com/office/drawing/2014/main" id="{857EAD7B-897B-45D4-B764-3F5BB87C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8003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17.90 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329356-C9E0-468C-A7F0-39CE040D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86125"/>
            <a:ext cx="813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1" name="q1-table-2-0">
            <a:extLst xmlns:a="http://schemas.openxmlformats.org/drawingml/2006/main">
              <a:ext uri="{FF2B5EF4-FFF2-40B4-BE49-F238E27FC236}">
                <a16:creationId xmlns:a16="http://schemas.microsoft.com/office/drawing/2014/main" id="{A7DB252B-C858-43EF-B394-F5C8B6CF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42" name="q1-table-2-1">
            <a:extLst xmlns:a="http://schemas.openxmlformats.org/drawingml/2006/main">
              <a:ext uri="{FF2B5EF4-FFF2-40B4-BE49-F238E27FC236}">
                <a16:creationId xmlns:a16="http://schemas.microsoft.com/office/drawing/2014/main" id="{8A8DAC7C-B5DD-406C-98EF-93DE63DB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46710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36/60</a:t>
            </a:r>
          </a:p>
        </p:txBody>
      </p:sp>
      <p:sp>
        <p:nvSpPr>
          <p:cNvPr id="43" name="q1-table-2-2">
            <a:extLst xmlns:a="http://schemas.openxmlformats.org/drawingml/2006/main">
              <a:ext uri="{FF2B5EF4-FFF2-40B4-BE49-F238E27FC236}">
                <a16:creationId xmlns:a16="http://schemas.microsoft.com/office/drawing/2014/main" id="{15411559-3BA4-4DC6-8BF6-223712AE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4671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13.95 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91D960-9B3D-4C2B-B868-41F22396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62400"/>
            <a:ext cx="813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5" name="q1-table-3-0">
            <a:extLst xmlns:a="http://schemas.openxmlformats.org/drawingml/2006/main">
              <a:ext uri="{FF2B5EF4-FFF2-40B4-BE49-F238E27FC236}">
                <a16:creationId xmlns:a16="http://schemas.microsoft.com/office/drawing/2014/main" id="{9AE82857-EAAC-48C8-948C-3F424B6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338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46" name="q1-table-3-1">
            <a:extLst xmlns:a="http://schemas.openxmlformats.org/drawingml/2006/main">
              <a:ext uri="{FF2B5EF4-FFF2-40B4-BE49-F238E27FC236}">
                <a16:creationId xmlns:a16="http://schemas.microsoft.com/office/drawing/2014/main" id="{B6F9AB0B-0765-4D21-B6B9-5BB5B75F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1338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38/58</a:t>
            </a:r>
          </a:p>
        </p:txBody>
      </p:sp>
      <p:sp>
        <p:nvSpPr>
          <p:cNvPr id="47" name="q1-table-3-2">
            <a:extLst xmlns:a="http://schemas.openxmlformats.org/drawingml/2006/main">
              <a:ext uri="{FF2B5EF4-FFF2-40B4-BE49-F238E27FC236}">
                <a16:creationId xmlns:a16="http://schemas.microsoft.com/office/drawing/2014/main" id="{DFA1BD5E-25CF-4040-9239-701F552E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1338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13.70 ms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736B6D-F394-4092-889E-FBFBEB58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813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9" name="q1-table-4-0">
            <a:extLst xmlns:a="http://schemas.openxmlformats.org/drawingml/2006/main">
              <a:ext uri="{FF2B5EF4-FFF2-40B4-BE49-F238E27FC236}">
                <a16:creationId xmlns:a16="http://schemas.microsoft.com/office/drawing/2014/main" id="{A7F1CE39-1550-4681-849C-40B11EAF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196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50" name="q1-table-4-1">
            <a:extLst xmlns:a="http://schemas.openxmlformats.org/drawingml/2006/main">
              <a:ext uri="{FF2B5EF4-FFF2-40B4-BE49-F238E27FC236}">
                <a16:creationId xmlns:a16="http://schemas.microsoft.com/office/drawing/2014/main" id="{0DC0813C-01CD-4DA1-892A-1666BE0C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8196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40/56</a:t>
            </a:r>
          </a:p>
        </p:txBody>
      </p:sp>
      <p:sp>
        <p:nvSpPr>
          <p:cNvPr id="51" name="q1-table-4-2">
            <a:extLst xmlns:a="http://schemas.openxmlformats.org/drawingml/2006/main">
              <a:ext uri="{FF2B5EF4-FFF2-40B4-BE49-F238E27FC236}">
                <a16:creationId xmlns:a16="http://schemas.microsoft.com/office/drawing/2014/main" id="{7282704C-BF73-4170-BD5D-4465FBD0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8196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14.08 ms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7F6A82-9702-4B13-A357-FAA2DE1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BD70E7-EF8F-450F-B8B7-56F3B17D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2396768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9-bg">
            <a:extLst xmlns:a="http://schemas.openxmlformats.org/drawingml/2006/main">
              <a:ext uri="{FF2B5EF4-FFF2-40B4-BE49-F238E27FC236}">
                <a16:creationId xmlns:a16="http://schemas.microsoft.com/office/drawing/2014/main" id="{D1A8CC26-AE2C-49DD-843F-463008C6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9F0DE-41EB-464F-A0AD-3E2E88B4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246B4-8315-49B3-9C17-9AC763B1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3：Q2 sharding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4214D-8AE0-406C-AE8A-ACDCC29E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96FA4-0CCC-40C1-8594-8AFEB39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2F66F-C67B-45D6-81E9-A795FBE9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q2-table-h-0">
            <a:extLst xmlns:a="http://schemas.openxmlformats.org/drawingml/2006/main">
              <a:ext uri="{FF2B5EF4-FFF2-40B4-BE49-F238E27FC236}">
                <a16:creationId xmlns:a16="http://schemas.microsoft.com/office/drawing/2014/main" id="{268A5F2B-E4DE-4AC2-82A4-2DEB1A44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shards</a:t>
            </a:r>
          </a:p>
        </p:txBody>
      </p:sp>
      <p:sp>
        <p:nvSpPr>
          <p:cNvPr id="8" name="q2-table-h-1">
            <a:extLst xmlns:a="http://schemas.openxmlformats.org/drawingml/2006/main">
              <a:ext uri="{FF2B5EF4-FFF2-40B4-BE49-F238E27FC236}">
                <a16:creationId xmlns:a16="http://schemas.microsoft.com/office/drawing/2014/main" id="{A860D751-428E-483A-BB60-BAF73E2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859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Avg 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583D1-5D14-4B94-9C54-475AE1F6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10" name="q2-table-0-0">
            <a:extLst xmlns:a="http://schemas.openxmlformats.org/drawingml/2006/main">
              <a:ext uri="{FF2B5EF4-FFF2-40B4-BE49-F238E27FC236}">
                <a16:creationId xmlns:a16="http://schemas.microsoft.com/office/drawing/2014/main" id="{2A38A190-CC9C-4B4B-96AE-AAA155A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</a:t>
            </a:r>
          </a:p>
        </p:txBody>
      </p:sp>
      <p:sp>
        <p:nvSpPr>
          <p:cNvPr id="11" name="q2-table-0-1">
            <a:extLst xmlns:a="http://schemas.openxmlformats.org/drawingml/2006/main">
              <a:ext uri="{FF2B5EF4-FFF2-40B4-BE49-F238E27FC236}">
                <a16:creationId xmlns:a16="http://schemas.microsoft.com/office/drawing/2014/main" id="{03E4130B-DA77-40A7-9F99-D8511B63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16.95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0D71D-15D8-4782-81F6-FCD1C965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3367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3" name="q2-table-1-0">
            <a:extLst xmlns:a="http://schemas.openxmlformats.org/drawingml/2006/main">
              <a:ext uri="{FF2B5EF4-FFF2-40B4-BE49-F238E27FC236}">
                <a16:creationId xmlns:a16="http://schemas.microsoft.com/office/drawing/2014/main" id="{DE76EB41-2ED4-44AE-8C8C-7ADC399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</a:t>
            </a:r>
          </a:p>
        </p:txBody>
      </p:sp>
      <p:sp>
        <p:nvSpPr>
          <p:cNvPr id="14" name="q2-table-1-1">
            <a:extLst xmlns:a="http://schemas.openxmlformats.org/drawingml/2006/main">
              <a:ext uri="{FF2B5EF4-FFF2-40B4-BE49-F238E27FC236}">
                <a16:creationId xmlns:a16="http://schemas.microsoft.com/office/drawing/2014/main" id="{87AEE39A-977E-41EB-9233-986D598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10.24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C0304-6C3E-42C3-B9B0-0ECF4737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6" name="q2-table-2-0">
            <a:extLst xmlns:a="http://schemas.openxmlformats.org/drawingml/2006/main">
              <a:ext uri="{FF2B5EF4-FFF2-40B4-BE49-F238E27FC236}">
                <a16:creationId xmlns:a16="http://schemas.microsoft.com/office/drawing/2014/main" id="{A76445D4-40F0-4EFA-BBEA-2969F61A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</a:t>
            </a:r>
          </a:p>
        </p:txBody>
      </p:sp>
      <p:sp>
        <p:nvSpPr>
          <p:cNvPr id="17" name="q2-table-2-1">
            <a:extLst xmlns:a="http://schemas.openxmlformats.org/drawingml/2006/main">
              <a:ext uri="{FF2B5EF4-FFF2-40B4-BE49-F238E27FC236}">
                <a16:creationId xmlns:a16="http://schemas.microsoft.com/office/drawing/2014/main" id="{26E8EDFC-E918-4295-B9BF-92DF5805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8.38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29B74-9A76-4A9E-A2A6-03E28447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9" name="q2-table-3-0">
            <a:extLst xmlns:a="http://schemas.openxmlformats.org/drawingml/2006/main">
              <a:ext uri="{FF2B5EF4-FFF2-40B4-BE49-F238E27FC236}">
                <a16:creationId xmlns:a16="http://schemas.microsoft.com/office/drawing/2014/main" id="{929C9AA8-8E25-424B-AC9F-F0462BE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</a:t>
            </a:r>
          </a:p>
        </p:txBody>
      </p:sp>
      <p:sp>
        <p:nvSpPr>
          <p:cNvPr id="20" name="q2-table-3-1">
            <a:extLst xmlns:a="http://schemas.openxmlformats.org/drawingml/2006/main">
              <a:ext uri="{FF2B5EF4-FFF2-40B4-BE49-F238E27FC236}">
                <a16:creationId xmlns:a16="http://schemas.microsoft.com/office/drawing/2014/main" id="{B466039F-1377-4DEE-A071-DBA0F8EE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6.87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E7821-5358-46DA-96B2-6DB5B8A1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22" name="q2-table-4-0">
            <a:extLst xmlns:a="http://schemas.openxmlformats.org/drawingml/2006/main">
              <a:ext uri="{FF2B5EF4-FFF2-40B4-BE49-F238E27FC236}">
                <a16:creationId xmlns:a16="http://schemas.microsoft.com/office/drawing/2014/main" id="{2964D096-A8BC-43AA-A538-40CE2AEF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23" name="q2-table-4-1">
            <a:extLst xmlns:a="http://schemas.openxmlformats.org/drawingml/2006/main">
              <a:ext uri="{FF2B5EF4-FFF2-40B4-BE49-F238E27FC236}">
                <a16:creationId xmlns:a16="http://schemas.microsoft.com/office/drawing/2014/main" id="{06E9566C-B9F5-4EE0-B2F8-36ACF67F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6.08 ms</a:t>
            </a:r>
          </a:p>
        </p:txBody>
      </p:sp>
      <p:sp>
        <p:nvSpPr>
          <p:cNvPr id="24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F898C4A0-FF49-4CB4-89D3-53EF072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14573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089F0-C811-4CF4-A1EB-8500869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E51AF-A2B0-4A50-9BAB-3BBA6DA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859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sharded 後，Q2 global count/head/tail 成為主要壓力點。</a:t>
            </a:r>
          </a:p>
        </p:txBody>
      </p:sp>
      <p:sp>
        <p:nvSpPr>
          <p:cNvPr id="27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30576DEF-BEAA-4E67-8309-B9DADF78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19526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F1CEB-B337-4A48-9297-654E837C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6BDAB-14CA-4394-8427-2B0E9C82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加入 Q2 shards，並在 Q2 壓力下降後重掃 B/C。</a:t>
            </a:r>
          </a:p>
        </p:txBody>
      </p:sp>
      <p:sp>
        <p:nvSpPr>
          <p:cNvPr id="30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A9E1B886-5E52-4BA3-AF1B-EBA55F05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24669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CCC4D-AF16-4D15-9B28-6CA7297C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CC0A91-A805-4AD9-B452-8AA87760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Q1s16/Q2s16, C=16/B=80 到 5.57 ms avg。</a:t>
            </a:r>
          </a:p>
        </p:txBody>
      </p:sp>
      <p:sp>
        <p:nvSpPr>
          <p:cNvPr id="33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A6B5900F-5E6C-4290-A1D7-230BF60E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29622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C5580B-C913-4CE4-9E3F-11F6663A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8B9E39-AAA9-4AD5-9A39-BBFDDCD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第二個大改善仍然是分散 global queue atomic。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0C4E47-C999-4B6B-AFFC-053DC806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5310188"/>
            <a:ext cx="4301289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F65984-93D4-4B49-BDA6-09451509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76900"/>
            <a:ext cx="3886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47.8x / 255.9x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2879E8-05DC-4FA6-8DEC-0139F68F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1341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enq/deq fail ratio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068510-59C7-460D-96BF-5997E44A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161" y="5310188"/>
            <a:ext cx="4301289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347D1B-2D17-44E9-83CA-71F2285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56388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68k -&gt; 1.5k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FB8BAA-FC33-4B62-92D2-3E9C3FF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61722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high-water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8C7B77-C5D7-43EB-9CF6-9340E920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8724900"/>
            <a:ext cx="8793079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05FB24-6F88-4BFB-9A41-770362E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971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9B5020-A14F-4DD0-8ABE-95106B83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99160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sharding 是第二個主要結構性優化。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88D884-83B5-4A02-BD7A-D88B8FCE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5FBF7B-F590-46BE-A495-991F3CD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2290919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bg">
            <a:extLst xmlns:a="http://schemas.openxmlformats.org/drawingml/2006/main">
              <a:ext uri="{FF2B5EF4-FFF2-40B4-BE49-F238E27FC236}">
                <a16:creationId xmlns:a16="http://schemas.microsoft.com/office/drawing/2014/main" id="{F89EC914-E4AF-43E1-953F-8F05A587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AFCB0-0EB7-4341-9299-6CB9104D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48E37-9541-484B-8EA1-86BFFB47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4：Q1 lane-pop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600DA-A8BC-465F-B88A-69EAA7C5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CACC1-4A35-4640-BC01-3B29F7EB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08902-584B-4E4D-9237-B622D92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88C97AA3-B22C-4EB6-A32E-2F6DA13D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8454E-1CC4-41EB-A9DE-F3A4042F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5BD91-2979-406D-AE90-4C1659CB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1621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Q1/Q2 都 16 shards 後，同一 workgroup 內 lane 仍可能從同一 shard 開始 pop。</a:t>
            </a:r>
          </a:p>
        </p:txBody>
      </p:sp>
      <p:sp>
        <p:nvSpPr>
          <p:cNvPr id="10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0869C0DF-9D36-4FA9-AD45-D442C3C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627F6-E6C8-4B4D-A495-F2885B44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A3615-4806-4732-9EE5-0ECBADAE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1621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把 Q1 pop 起掃點從 workgroup-level 改成 lane-level。</a:t>
            </a:r>
          </a:p>
        </p:txBody>
      </p:sp>
      <p:sp>
        <p:nvSpPr>
          <p:cNvPr id="13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AD798724-C45E-46BA-BA54-3265DDF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58C3F-62C8-4106-8A40-A307158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3DB94-47D2-4ED4-8DA9-31BF97A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95550"/>
            <a:ext cx="1621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lane-pop on, C=24/B=72 時 median compute 到 3.84 ms。</a:t>
            </a:r>
          </a:p>
        </p:txBody>
      </p:sp>
      <p:sp>
        <p:nvSpPr>
          <p:cNvPr id="16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5B61A860-9F0E-49A6-BC3A-8114ED09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3E145-1017-4338-8DF7-8C87BBD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770AC-A983-4087-B2F1-E3301995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1621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這不是 request batching，而是 shard selection / scan-start strategy。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63741-8C9A-4B42-88D8-D40C5FBF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8718"/>
            <a:ext cx="8448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AB0C2-E35A-46E5-BE25-D349D43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69731-849F-46A8-BEC6-FACC5018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7772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Old: wgId % Q1_QUEUE_SHARDS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DB520-FF96-4D8D-A26F-80A42371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978718"/>
            <a:ext cx="8448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342CE-C319-41D0-A2ED-807D72EB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625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34E46-6073-4617-B7EB-FB7A2DEE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777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New: (wgId * local_size_x + localId) % Q1_QUEUE_SHARDS</a:t>
            </a:r>
          </a:p>
        </p:txBody>
      </p:sp>
      <p:sp>
        <p:nvSpPr>
          <p:cNvPr id="25" name="lanepop-table-h-0">
            <a:extLst xmlns:a="http://schemas.openxmlformats.org/drawingml/2006/main">
              <a:ext uri="{FF2B5EF4-FFF2-40B4-BE49-F238E27FC236}">
                <a16:creationId xmlns:a16="http://schemas.microsoft.com/office/drawing/2014/main" id="{C0F95BEC-3EE9-4F53-81BB-3BBD429D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86650"/>
            <a:ext cx="657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Mode</a:t>
            </a:r>
          </a:p>
        </p:txBody>
      </p:sp>
      <p:sp>
        <p:nvSpPr>
          <p:cNvPr id="26" name="lanepop-table-h-1">
            <a:extLst xmlns:a="http://schemas.openxmlformats.org/drawingml/2006/main">
              <a:ext uri="{FF2B5EF4-FFF2-40B4-BE49-F238E27FC236}">
                <a16:creationId xmlns:a16="http://schemas.microsoft.com/office/drawing/2014/main" id="{C310A7BB-9074-413A-A72E-B18DA4FE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4866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Avg</a:t>
            </a:r>
          </a:p>
        </p:txBody>
      </p:sp>
      <p:sp>
        <p:nvSpPr>
          <p:cNvPr id="27" name="lanepop-table-h-2">
            <a:extLst xmlns:a="http://schemas.openxmlformats.org/drawingml/2006/main">
              <a:ext uri="{FF2B5EF4-FFF2-40B4-BE49-F238E27FC236}">
                <a16:creationId xmlns:a16="http://schemas.microsoft.com/office/drawing/2014/main" id="{EA4DA472-9B0F-45B7-BCAA-5AC64385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4866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Median</a:t>
            </a:r>
          </a:p>
        </p:txBody>
      </p:sp>
      <p:sp>
        <p:nvSpPr>
          <p:cNvPr id="28" name="lanepop-table-h-3">
            <a:extLst xmlns:a="http://schemas.openxmlformats.org/drawingml/2006/main">
              <a:ext uri="{FF2B5EF4-FFF2-40B4-BE49-F238E27FC236}">
                <a16:creationId xmlns:a16="http://schemas.microsoft.com/office/drawing/2014/main" id="{BB70102F-7096-4387-A578-EFE6C77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74866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7BFB27-9AAB-4C19-AC78-3968A49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96225"/>
            <a:ext cx="1710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30" name="lanepop-table-0-0">
            <a:extLst xmlns:a="http://schemas.openxmlformats.org/drawingml/2006/main">
              <a:ext uri="{FF2B5EF4-FFF2-40B4-BE49-F238E27FC236}">
                <a16:creationId xmlns:a16="http://schemas.microsoft.com/office/drawing/2014/main" id="{590012DC-53C5-4298-BB3A-6338573B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5815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lane-pop off, C=16/B=80</a:t>
            </a:r>
          </a:p>
        </p:txBody>
      </p:sp>
      <p:sp>
        <p:nvSpPr>
          <p:cNvPr id="31" name="lanepop-table-0-1">
            <a:extLst xmlns:a="http://schemas.openxmlformats.org/drawingml/2006/main">
              <a:ext uri="{FF2B5EF4-FFF2-40B4-BE49-F238E27FC236}">
                <a16:creationId xmlns:a16="http://schemas.microsoft.com/office/drawing/2014/main" id="{59EBA77D-6CBB-4DFD-9082-DD3DBF96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0581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6.01 ms</a:t>
            </a:r>
          </a:p>
        </p:txBody>
      </p:sp>
      <p:sp>
        <p:nvSpPr>
          <p:cNvPr id="32" name="lanepop-table-0-2">
            <a:extLst xmlns:a="http://schemas.openxmlformats.org/drawingml/2006/main">
              <a:ext uri="{FF2B5EF4-FFF2-40B4-BE49-F238E27FC236}">
                <a16:creationId xmlns:a16="http://schemas.microsoft.com/office/drawing/2014/main" id="{3AEBBF6B-AFD1-4DB2-BBE5-2C6EE164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0581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5.60 ms</a:t>
            </a:r>
          </a:p>
        </p:txBody>
      </p:sp>
      <p:sp>
        <p:nvSpPr>
          <p:cNvPr id="33" name="lanepop-table-0-3">
            <a:extLst xmlns:a="http://schemas.openxmlformats.org/drawingml/2006/main">
              <a:ext uri="{FF2B5EF4-FFF2-40B4-BE49-F238E27FC236}">
                <a16:creationId xmlns:a16="http://schemas.microsoft.com/office/drawing/2014/main" id="{3EDD7062-3C97-4051-BB79-43F1FE98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0581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5.54 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E04D88-4D74-4EA7-9027-7931296B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86775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5" name="lanepop-table-1-0">
            <a:extLst xmlns:a="http://schemas.openxmlformats.org/drawingml/2006/main">
              <a:ext uri="{FF2B5EF4-FFF2-40B4-BE49-F238E27FC236}">
                <a16:creationId xmlns:a16="http://schemas.microsoft.com/office/drawing/2014/main" id="{ABF48309-6D2A-4D96-967F-B2B76DD4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4870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lane-pop on, C=16/B=80</a:t>
            </a:r>
          </a:p>
        </p:txBody>
      </p:sp>
      <p:sp>
        <p:nvSpPr>
          <p:cNvPr id="36" name="lanepop-table-1-1">
            <a:extLst xmlns:a="http://schemas.openxmlformats.org/drawingml/2006/main">
              <a:ext uri="{FF2B5EF4-FFF2-40B4-BE49-F238E27FC236}">
                <a16:creationId xmlns:a16="http://schemas.microsoft.com/office/drawing/2014/main" id="{21E22924-D8E1-44FC-8739-FC70A773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6487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4.39 ms</a:t>
            </a:r>
          </a:p>
        </p:txBody>
      </p:sp>
      <p:sp>
        <p:nvSpPr>
          <p:cNvPr id="37" name="lanepop-table-1-2">
            <a:extLst xmlns:a="http://schemas.openxmlformats.org/drawingml/2006/main">
              <a:ext uri="{FF2B5EF4-FFF2-40B4-BE49-F238E27FC236}">
                <a16:creationId xmlns:a16="http://schemas.microsoft.com/office/drawing/2014/main" id="{539337F1-ECEE-4E87-9594-3EF4D9BA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6487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4.00 ms</a:t>
            </a:r>
          </a:p>
        </p:txBody>
      </p:sp>
      <p:sp>
        <p:nvSpPr>
          <p:cNvPr id="38" name="lanepop-table-1-3">
            <a:extLst xmlns:a="http://schemas.openxmlformats.org/drawingml/2006/main">
              <a:ext uri="{FF2B5EF4-FFF2-40B4-BE49-F238E27FC236}">
                <a16:creationId xmlns:a16="http://schemas.microsoft.com/office/drawing/2014/main" id="{332C2BC3-3057-41FE-86E7-6480182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6487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3.90 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BB5AC5-89CF-4629-BE01-CE3F36C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6780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0" name="lanepop-table-2-0">
            <a:extLst xmlns:a="http://schemas.openxmlformats.org/drawingml/2006/main">
              <a:ext uri="{FF2B5EF4-FFF2-40B4-BE49-F238E27FC236}">
                <a16:creationId xmlns:a16="http://schemas.microsoft.com/office/drawing/2014/main" id="{33EDAAF5-8C9C-4E35-A7A2-ABEB551C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2020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lane-pop on, C=24/B=72</a:t>
            </a:r>
          </a:p>
        </p:txBody>
      </p:sp>
      <p:sp>
        <p:nvSpPr>
          <p:cNvPr id="41" name="lanepop-table-2-1">
            <a:extLst xmlns:a="http://schemas.openxmlformats.org/drawingml/2006/main">
              <a:ext uri="{FF2B5EF4-FFF2-40B4-BE49-F238E27FC236}">
                <a16:creationId xmlns:a16="http://schemas.microsoft.com/office/drawing/2014/main" id="{4A42B285-C7DB-44CC-8349-35A90D7E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2202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3.85 ms</a:t>
            </a:r>
          </a:p>
        </p:txBody>
      </p:sp>
      <p:sp>
        <p:nvSpPr>
          <p:cNvPr id="42" name="lanepop-table-2-2">
            <a:extLst xmlns:a="http://schemas.openxmlformats.org/drawingml/2006/main">
              <a:ext uri="{FF2B5EF4-FFF2-40B4-BE49-F238E27FC236}">
                <a16:creationId xmlns:a16="http://schemas.microsoft.com/office/drawing/2014/main" id="{23F3557A-CBF9-44E4-8516-EB27974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92202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3.84 ms</a:t>
            </a:r>
          </a:p>
        </p:txBody>
      </p:sp>
      <p:sp>
        <p:nvSpPr>
          <p:cNvPr id="43" name="lanepop-table-2-3">
            <a:extLst xmlns:a="http://schemas.openxmlformats.org/drawingml/2006/main">
              <a:ext uri="{FF2B5EF4-FFF2-40B4-BE49-F238E27FC236}">
                <a16:creationId xmlns:a16="http://schemas.microsoft.com/office/drawing/2014/main" id="{4BC79921-1FA4-4F46-B2E7-8248B18B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2202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3.73 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D4C170-1924-4480-8626-F244A9D2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104FB8-D5E6-4EFE-AC64-2202D529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9438357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bg">
            <a:extLst xmlns:a="http://schemas.openxmlformats.org/drawingml/2006/main">
              <a:ext uri="{FF2B5EF4-FFF2-40B4-BE49-F238E27FC236}">
                <a16:creationId xmlns:a16="http://schemas.microsoft.com/office/drawing/2014/main" id="{0B6B3286-4E2A-4523-8327-1418941A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08CF9-3755-409A-B5A5-1F77D5B4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31856-70FE-4A13-9F43-0BEB73C6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5：High shard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239A5-4555-495C-97CE-7CD836CA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E0270-3C2E-438C-8D85-7668F23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6659A-E803-463E-9B53-EC47C124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056643df74ea5"/>
          <a:stretch xmlns:a="http://schemas.openxmlformats.org/drawingml/2006/main"/>
        </p:blipFill>
        <p:spPr>
          <a:xfrm xmlns:a="http://schemas.openxmlformats.org/drawingml/2006/main">
            <a:off x="590550" y="1872190"/>
            <a:ext cx="10069830" cy="3866095"/>
          </a:xfrm>
          <a:prstGeom xmlns:a="http://schemas.openxmlformats.org/drawingml/2006/main" prst="rect">
            <a:avLst/>
          </a:prstGeom>
        </p:spPr>
      </p:pic>
      <p:sp>
        <p:nvSpPr>
          <p:cNvPr id="8" name="high-shard-table-h-0">
            <a:extLst xmlns:a="http://schemas.openxmlformats.org/drawingml/2006/main">
              <a:ext uri="{FF2B5EF4-FFF2-40B4-BE49-F238E27FC236}">
                <a16:creationId xmlns:a16="http://schemas.microsoft.com/office/drawing/2014/main" id="{A2698F94-D4A8-4050-93E2-FB6BE28F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9" name="high-shard-table-h-1">
            <a:extLst xmlns:a="http://schemas.openxmlformats.org/drawingml/2006/main">
              <a:ext uri="{FF2B5EF4-FFF2-40B4-BE49-F238E27FC236}">
                <a16:creationId xmlns:a16="http://schemas.microsoft.com/office/drawing/2014/main" id="{D4861A3B-62C4-4640-B903-F84A3241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64</a:t>
            </a:r>
          </a:p>
        </p:txBody>
      </p:sp>
      <p:sp>
        <p:nvSpPr>
          <p:cNvPr id="10" name="high-shard-table-h-2">
            <a:extLst xmlns:a="http://schemas.openxmlformats.org/drawingml/2006/main">
              <a:ext uri="{FF2B5EF4-FFF2-40B4-BE49-F238E27FC236}">
                <a16:creationId xmlns:a16="http://schemas.microsoft.com/office/drawing/2014/main" id="{E7D4CF67-A6C5-4600-AE09-4529DA43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128</a:t>
            </a:r>
          </a:p>
        </p:txBody>
      </p:sp>
      <p:sp>
        <p:nvSpPr>
          <p:cNvPr id="11" name="high-shard-table-h-3">
            <a:extLst xmlns:a="http://schemas.openxmlformats.org/drawingml/2006/main">
              <a:ext uri="{FF2B5EF4-FFF2-40B4-BE49-F238E27FC236}">
                <a16:creationId xmlns:a16="http://schemas.microsoft.com/office/drawing/2014/main" id="{1AE57563-5AE8-4DC0-BB90-F28D7467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</a:t>
            </a:r>
          </a:p>
        </p:txBody>
      </p:sp>
      <p:sp>
        <p:nvSpPr>
          <p:cNvPr id="12" name="high-shard-table-h-4">
            <a:extLst xmlns:a="http://schemas.openxmlformats.org/drawingml/2006/main">
              <a:ext uri="{FF2B5EF4-FFF2-40B4-BE49-F238E27FC236}">
                <a16:creationId xmlns:a16="http://schemas.microsoft.com/office/drawing/2014/main" id="{37A19C63-E931-41C8-A312-C259417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CC575-382D-4012-BF63-25A1889D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96075"/>
            <a:ext cx="1007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14" name="high-shard-table-0-0">
            <a:extLst xmlns:a="http://schemas.openxmlformats.org/drawingml/2006/main">
              <a:ext uri="{FF2B5EF4-FFF2-40B4-BE49-F238E27FC236}">
                <a16:creationId xmlns:a16="http://schemas.microsoft.com/office/drawing/2014/main" id="{84F44256-8A3B-4189-AA41-E36F7450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3.86</a:t>
            </a:r>
          </a:p>
        </p:txBody>
      </p:sp>
      <p:sp>
        <p:nvSpPr>
          <p:cNvPr id="15" name="high-shard-table-0-1">
            <a:extLst xmlns:a="http://schemas.openxmlformats.org/drawingml/2006/main">
              <a:ext uri="{FF2B5EF4-FFF2-40B4-BE49-F238E27FC236}">
                <a16:creationId xmlns:a16="http://schemas.microsoft.com/office/drawing/2014/main" id="{10796A0A-C244-4396-8DD7-82521CBD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1.54</a:t>
            </a:r>
          </a:p>
        </p:txBody>
      </p:sp>
      <p:sp>
        <p:nvSpPr>
          <p:cNvPr id="16" name="high-shard-table-0-2">
            <a:extLst xmlns:a="http://schemas.openxmlformats.org/drawingml/2006/main">
              <a:ext uri="{FF2B5EF4-FFF2-40B4-BE49-F238E27FC236}">
                <a16:creationId xmlns:a16="http://schemas.microsoft.com/office/drawing/2014/main" id="{1C0984B8-8E0B-4180-9BE2-00EAE970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1.14</a:t>
            </a:r>
          </a:p>
        </p:txBody>
      </p:sp>
      <p:sp>
        <p:nvSpPr>
          <p:cNvPr id="17" name="high-shard-table-0-3">
            <a:extLst xmlns:a="http://schemas.openxmlformats.org/drawingml/2006/main">
              <a:ext uri="{FF2B5EF4-FFF2-40B4-BE49-F238E27FC236}">
                <a16:creationId xmlns:a16="http://schemas.microsoft.com/office/drawing/2014/main" id="{0B77EE12-20C5-41CA-B6E7-2640F8E6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</a:t>
            </a:r>
          </a:p>
        </p:txBody>
      </p:sp>
      <p:sp>
        <p:nvSpPr>
          <p:cNvPr id="18" name="high-shard-table-0-4">
            <a:extLst xmlns:a="http://schemas.openxmlformats.org/drawingml/2006/main">
              <a:ext uri="{FF2B5EF4-FFF2-40B4-BE49-F238E27FC236}">
                <a16:creationId xmlns:a16="http://schemas.microsoft.com/office/drawing/2014/main" id="{A6A422D8-27E7-491A-978F-EE7E9264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1.12</a:t>
            </a:r>
          </a:p>
        </p:txBody>
      </p:sp>
      <p:sp>
        <p:nvSpPr>
          <p:cNvPr id="19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83ECD907-37A4-4EA3-90AC-2D02DE57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15525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9A7F0-E503-47CD-B44B-E6357119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6383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1B0CB-B558-485F-8895-41FA6F08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447800"/>
            <a:ext cx="5810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 shards + lane-pop 後，剩餘成本仍追著 queue contention 走。</a:t>
            </a:r>
          </a:p>
        </p:txBody>
      </p:sp>
      <p:sp>
        <p:nvSpPr>
          <p:cNvPr id="22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1F79F9E9-3385-4174-AEA7-6095A750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22764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29F88-331E-484C-8178-620E93D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3622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3D28D-2A2F-4BD1-AB74-438CC281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5810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掃 Q1/Q2 shard count 到 512，並做 asymmetric 檢查。</a:t>
            </a:r>
          </a:p>
        </p:txBody>
      </p:sp>
      <p:sp>
        <p:nvSpPr>
          <p:cNvPr id="25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4D03177C-7FD7-415A-99FB-DA821391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28860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FE26B-EEE6-4A56-A6F8-47308ABE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718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202907-E318-40EF-9F16-46A3AD46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914650"/>
            <a:ext cx="581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Q1s256/Q2s256, C=24/B=72 約 0.99 ms median。</a:t>
            </a:r>
          </a:p>
        </p:txBody>
      </p:sp>
      <p:sp>
        <p:nvSpPr>
          <p:cNvPr id="28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EF348700-81AF-4B09-8E6D-2A751F03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34956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E545C-2635-47B7-880B-34CDF2B9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5814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B144B6-108C-4C30-B1A7-AC90D54C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90900"/>
            <a:ext cx="5810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 接近目前架構有效區間，再加 shard 收益開始被 probing / indexing overhead 抵銷。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CF8B7-3CC4-440C-91F0-88652F5B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5576888"/>
            <a:ext cx="671322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FD6CEC-6BD6-43CC-9F19-F92D6399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886450"/>
            <a:ext cx="6286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 / 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7AD95E-221F-49F8-8F89-5D79937B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628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best default candidate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E916B8-520A-4BEB-9ABC-A21C171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8724900"/>
            <a:ext cx="671322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47AE3B-D3FC-4AF0-BAC6-A12CF6DD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283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C3F22D-588F-46D0-904B-9CAAD5D8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8877300"/>
            <a:ext cx="6019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Q1=256/Q2=128 退到 1.955 ms：Q2 shard count 不能太低。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30BAC9-F074-40BD-94E7-5E1D5BB1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29DA91-6176-4F4A-B8A3-D00BE5E5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0989533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bg">
            <a:extLst xmlns:a="http://schemas.openxmlformats.org/drawingml/2006/main">
              <a:ext uri="{FF2B5EF4-FFF2-40B4-BE49-F238E27FC236}">
                <a16:creationId xmlns:a16="http://schemas.microsoft.com/office/drawing/2014/main" id="{84EA8419-0635-4388-BBB0-A0DF8812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AB47D-C0FB-4AAB-BD0D-7C23B368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F716A-BF2D-4D1F-B6A7-5C87A23C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未採用方案 / 待補驗證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6017D-6829-466B-A386-B7919CF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7ED21-BFC1-4BA0-BE4E-E33E5B3D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963CD-119B-4ED8-BF69-77FC8FC1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ablation-table-h-0">
            <a:extLst xmlns:a="http://schemas.openxmlformats.org/drawingml/2006/main">
              <a:ext uri="{FF2B5EF4-FFF2-40B4-BE49-F238E27FC236}">
                <a16:creationId xmlns:a16="http://schemas.microsoft.com/office/drawing/2014/main" id="{CBFA66E0-E2C1-4A90-9F49-CD95428A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方案</a:t>
            </a:r>
          </a:p>
        </p:txBody>
      </p:sp>
      <p:sp>
        <p:nvSpPr>
          <p:cNvPr id="8" name="ablation-table-h-1">
            <a:extLst xmlns:a="http://schemas.openxmlformats.org/drawingml/2006/main">
              <a:ext uri="{FF2B5EF4-FFF2-40B4-BE49-F238E27FC236}">
                <a16:creationId xmlns:a16="http://schemas.microsoft.com/office/drawing/2014/main" id="{419382BA-8A62-4053-BE27-45CBCB2E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9" name="ablation-table-h-2">
            <a:extLst xmlns:a="http://schemas.openxmlformats.org/drawingml/2006/main">
              <a:ext uri="{FF2B5EF4-FFF2-40B4-BE49-F238E27FC236}">
                <a16:creationId xmlns:a16="http://schemas.microsoft.com/office/drawing/2014/main" id="{4BD5D008-7815-43EA-A199-719EE768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859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目前判斷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5814A-B13C-4CEB-B6ED-51073429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1710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11" name="ablation-table-0-0">
            <a:extLst xmlns:a="http://schemas.openxmlformats.org/drawingml/2006/main">
              <a:ext uri="{FF2B5EF4-FFF2-40B4-BE49-F238E27FC236}">
                <a16:creationId xmlns:a16="http://schemas.microsoft.com/office/drawing/2014/main" id="{8790BFA8-32B1-49F2-8B94-7A79EA5B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Output writes off</a:t>
            </a:r>
          </a:p>
        </p:txBody>
      </p:sp>
      <p:sp>
        <p:nvSpPr>
          <p:cNvPr id="12" name="ablation-table-0-1">
            <a:extLst xmlns:a="http://schemas.openxmlformats.org/drawingml/2006/main">
              <a:ext uri="{FF2B5EF4-FFF2-40B4-BE49-F238E27FC236}">
                <a16:creationId xmlns:a16="http://schemas.microsoft.com/office/drawing/2014/main" id="{8617DBFA-9174-402A-883A-3BE93FB0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3.86 -&gt; 3.78 ms</a:t>
            </a:r>
          </a:p>
        </p:txBody>
      </p:sp>
      <p:sp>
        <p:nvSpPr>
          <p:cNvPr id="13" name="ablation-table-0-2">
            <a:extLst xmlns:a="http://schemas.openxmlformats.org/drawingml/2006/main">
              <a:ext uri="{FF2B5EF4-FFF2-40B4-BE49-F238E27FC236}">
                <a16:creationId xmlns:a16="http://schemas.microsoft.com/office/drawing/2014/main" id="{0C9AFE8A-4ADF-4678-8244-A623B6D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383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不是主瓶頸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9E070-C980-4682-B017-21BFEF1D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5" name="ablation-table-1-0">
            <a:extLst xmlns:a="http://schemas.openxmlformats.org/drawingml/2006/main">
              <a:ext uri="{FF2B5EF4-FFF2-40B4-BE49-F238E27FC236}">
                <a16:creationId xmlns:a16="http://schemas.microsoft.com/office/drawing/2014/main" id="{30710683-C94F-4377-9273-3624476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ready-first pop</a:t>
            </a:r>
          </a:p>
        </p:txBody>
      </p:sp>
      <p:sp>
        <p:nvSpPr>
          <p:cNvPr id="16" name="ablation-table-1-1">
            <a:extLst xmlns:a="http://schemas.openxmlformats.org/drawingml/2006/main">
              <a:ext uri="{FF2B5EF4-FFF2-40B4-BE49-F238E27FC236}">
                <a16:creationId xmlns:a16="http://schemas.microsoft.com/office/drawing/2014/main" id="{776D5714-2A01-4F9C-A02D-9F5796DC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3.86 -&gt; 5.06 ms</a:t>
            </a:r>
          </a:p>
        </p:txBody>
      </p:sp>
      <p:sp>
        <p:nvSpPr>
          <p:cNvPr id="17" name="ablation-table-1-2">
            <a:extLst xmlns:a="http://schemas.openxmlformats.org/drawingml/2006/main">
              <a:ext uri="{FF2B5EF4-FFF2-40B4-BE49-F238E27FC236}">
                <a16:creationId xmlns:a16="http://schemas.microsoft.com/office/drawing/2014/main" id="{8EDC6511-92E9-4D6E-8938-D0CDCFA4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更慢，ready fail / backlog 上升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F3CB3-02A1-409A-B874-E19A322B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9" name="ablation-table-2-0">
            <a:extLst xmlns:a="http://schemas.openxmlformats.org/drawingml/2006/main">
              <a:ext uri="{FF2B5EF4-FFF2-40B4-BE49-F238E27FC236}">
                <a16:creationId xmlns:a16="http://schemas.microsoft.com/office/drawing/2014/main" id="{C2E59E15-C366-4125-88BF-63B94349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 output batching</a:t>
            </a:r>
          </a:p>
        </p:txBody>
      </p:sp>
      <p:sp>
        <p:nvSpPr>
          <p:cNvPr id="20" name="ablation-table-2-1">
            <a:extLst xmlns:a="http://schemas.openxmlformats.org/drawingml/2006/main">
              <a:ext uri="{FF2B5EF4-FFF2-40B4-BE49-F238E27FC236}">
                <a16:creationId xmlns:a16="http://schemas.microsoft.com/office/drawing/2014/main" id="{AEDB707B-88B9-4D0D-8F83-64917EDA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沒有贏過 batch=1</a:t>
            </a:r>
          </a:p>
        </p:txBody>
      </p:sp>
      <p:sp>
        <p:nvSpPr>
          <p:cNvPr id="21" name="ablation-table-2-2">
            <a:extLst xmlns:a="http://schemas.openxmlformats.org/drawingml/2006/main">
              <a:ext uri="{FF2B5EF4-FFF2-40B4-BE49-F238E27FC236}">
                <a16:creationId xmlns:a16="http://schemas.microsoft.com/office/drawing/2014/main" id="{3266001C-5F53-41E2-8D30-E966C900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output atomics 不是主因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C0B23-C42B-424A-A27E-0BF2CD1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23" name="ablation-table-3-0">
            <a:extLst xmlns:a="http://schemas.openxmlformats.org/drawingml/2006/main">
              <a:ext uri="{FF2B5EF4-FFF2-40B4-BE49-F238E27FC236}">
                <a16:creationId xmlns:a16="http://schemas.microsoft.com/office/drawing/2014/main" id="{645F6316-C294-4C70-95E0-978FA16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request batching</a:t>
            </a:r>
          </a:p>
        </p:txBody>
      </p:sp>
      <p:sp>
        <p:nvSpPr>
          <p:cNvPr id="24" name="ablation-table-3-1">
            <a:extLst xmlns:a="http://schemas.openxmlformats.org/drawingml/2006/main">
              <a:ext uri="{FF2B5EF4-FFF2-40B4-BE49-F238E27FC236}">
                <a16:creationId xmlns:a16="http://schemas.microsoft.com/office/drawing/2014/main" id="{9B752255-3018-496A-A3F4-D9A67A12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舊資料不足</a:t>
            </a:r>
          </a:p>
        </p:txBody>
      </p:sp>
      <p:sp>
        <p:nvSpPr>
          <p:cNvPr id="25" name="ablation-table-3-2">
            <a:extLst xmlns:a="http://schemas.openxmlformats.org/drawingml/2006/main">
              <a:ext uri="{FF2B5EF4-FFF2-40B4-BE49-F238E27FC236}">
                <a16:creationId xmlns:a16="http://schemas.microsoft.com/office/drawing/2014/main" id="{34B9A7F4-BA16-418B-AF4C-966D746C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528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不納入主線，另派 controlled experiment 補驗證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DB4DD-3699-4777-87CF-6F5FB0B9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9758"/>
            <a:ext cx="5575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BC2139-EE5B-4017-8747-8727E620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516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同一架構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291E8-59C3-4852-8846-E414226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516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batching on/off 才能比較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B5E6B-30DE-49AF-8594-66CFCE83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350" y="5679758"/>
            <a:ext cx="5575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9D171B-159E-4D79-864C-EA3CAF16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38850"/>
            <a:ext cx="516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 repeats+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16AF4-82EC-42E4-8884-95C3B15C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15100"/>
            <a:ext cx="516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看 median / p90 / correctness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0FD018-B03E-4582-A6F1-4BDBDE4D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150" y="5679758"/>
            <a:ext cx="5575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6980B5-BAF0-43D6-999E-0F0A7F35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038850"/>
            <a:ext cx="516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不只看 CAS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1019E-3BCF-4482-97E9-C28E74D4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515100"/>
            <a:ext cx="516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compute time 不改善就不算有效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3BF55-6741-4FCD-A6F9-C779D534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11E5F3-DA62-40FF-8434-AB73A35A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868CCA-9144-4A24-A7AB-A6B633BA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這頁避免過度宣稱：request batching 目前只是未採用，還需要補跑確認。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52C138-BF71-465E-B29E-99E9F488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01927A-6191-4115-B3CC-54E967CD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6437995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bg">
            <a:extLst xmlns:a="http://schemas.openxmlformats.org/drawingml/2006/main">
              <a:ext uri="{FF2B5EF4-FFF2-40B4-BE49-F238E27FC236}">
                <a16:creationId xmlns:a16="http://schemas.microsoft.com/office/drawing/2014/main" id="{4A20B9C7-D6C4-47FF-A39C-82CB286B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570D9-4E62-485C-A16C-14229CDA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73D10-C79E-4858-A5C6-F7B6FB70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Adopted default：目前主線設定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96995-4574-4CB0-938F-6C8473A0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55982-3C0C-4CDA-A2F9-7637930F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8E82F-D7A3-469D-A6A9-54128F8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A7C61-7558-4B4A-AFDE-C090F964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63791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23BE3-6D29-4CCD-BFE8-CE28EC8A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08696-809A-4764-8901-1BF8BB7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89A46-CD7F-49C9-96E7-D5AEAE99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841" y="1447800"/>
            <a:ext cx="3663791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3335B-0561-4166-9226-777F239A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383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5813A-75B0-447E-B2C7-A486C614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shards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333DD-53BA-4792-B863-C354B3E7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40D58-2B48-4435-AADD-9AFB63A2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MAX_QUEUE_SHARDS = 256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81109-D952-422B-9611-940A614D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BBD43-C3BE-4E07-A096-19FD4614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Q1_QUEUE_SHARDS_DEFAULT = 256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A6D10-2E74-4FB0-B770-18942033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B233C-44C6-4C57-8479-B9D43FAA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Q2_QUEUE_SHARDS_DEFAULT = 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23BA1-AA11-4929-8951-D29D5072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54353-555D-46E2-86AC-59BE256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lane-pop enabled by default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705CA-81FE-4E07-AF09-AFFA80AA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484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6E1B7-31EA-412C-A182-96850E3B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4845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NODE_C_START = 72，也就是 C=24/B=72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C554B-2159-4C10-B837-1B13CD5E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751808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279ED-353C-49DD-B9D4-DFAB4B51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35A056-FD9C-452B-9C0A-281F1D9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58250"/>
            <a:ext cx="6838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保留 queue shard flags 作為 future ablation-study controls。</a:t>
            </a:r>
          </a:p>
        </p:txBody>
      </p:sp>
      <p:sp>
        <p:nvSpPr>
          <p:cNvPr id="26" name="repeat-table-h-0">
            <a:extLst xmlns:a="http://schemas.openxmlformats.org/drawingml/2006/main">
              <a:ext uri="{FF2B5EF4-FFF2-40B4-BE49-F238E27FC236}">
                <a16:creationId xmlns:a16="http://schemas.microsoft.com/office/drawing/2014/main" id="{101D713E-E77C-4FEE-9812-8DD2504A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Run</a:t>
            </a:r>
          </a:p>
        </p:txBody>
      </p:sp>
      <p:sp>
        <p:nvSpPr>
          <p:cNvPr id="27" name="repeat-table-h-1">
            <a:extLst xmlns:a="http://schemas.openxmlformats.org/drawingml/2006/main">
              <a:ext uri="{FF2B5EF4-FFF2-40B4-BE49-F238E27FC236}">
                <a16:creationId xmlns:a16="http://schemas.microsoft.com/office/drawing/2014/main" id="{5DA77197-378E-4E7C-9319-477254D3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Median</a:t>
            </a:r>
          </a:p>
        </p:txBody>
      </p:sp>
      <p:sp>
        <p:nvSpPr>
          <p:cNvPr id="28" name="repeat-table-h-2">
            <a:extLst xmlns:a="http://schemas.openxmlformats.org/drawingml/2006/main">
              <a:ext uri="{FF2B5EF4-FFF2-40B4-BE49-F238E27FC236}">
                <a16:creationId xmlns:a16="http://schemas.microsoft.com/office/drawing/2014/main" id="{2B7D94D3-60DC-4E99-8832-4D3CC4A7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P10</a:t>
            </a:r>
          </a:p>
        </p:txBody>
      </p:sp>
      <p:sp>
        <p:nvSpPr>
          <p:cNvPr id="29" name="repeat-table-h-3">
            <a:extLst xmlns:a="http://schemas.openxmlformats.org/drawingml/2006/main">
              <a:ext uri="{FF2B5EF4-FFF2-40B4-BE49-F238E27FC236}">
                <a16:creationId xmlns:a16="http://schemas.microsoft.com/office/drawing/2014/main" id="{E748F220-CC0D-4EDC-97D2-7BCD5909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P90</a:t>
            </a:r>
          </a:p>
        </p:txBody>
      </p:sp>
      <p:sp>
        <p:nvSpPr>
          <p:cNvPr id="30" name="repeat-table-h-4">
            <a:extLst xmlns:a="http://schemas.openxmlformats.org/drawingml/2006/main">
              <a:ext uri="{FF2B5EF4-FFF2-40B4-BE49-F238E27FC236}">
                <a16:creationId xmlns:a16="http://schemas.microsoft.com/office/drawing/2014/main" id="{733246AB-2C73-4B7F-970A-568F5E0B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0DA2D7-42AB-4FE0-BFF8-963483FC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14525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32" name="repeat-table-0-0">
            <a:extLst xmlns:a="http://schemas.openxmlformats.org/drawingml/2006/main">
              <a:ext uri="{FF2B5EF4-FFF2-40B4-BE49-F238E27FC236}">
                <a16:creationId xmlns:a16="http://schemas.microsoft.com/office/drawing/2014/main" id="{88D89EE0-1E64-4935-8DCE-DB97CF8A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repeat 1</a:t>
            </a:r>
          </a:p>
        </p:txBody>
      </p:sp>
      <p:sp>
        <p:nvSpPr>
          <p:cNvPr id="33" name="repeat-table-0-1">
            <a:extLst xmlns:a="http://schemas.openxmlformats.org/drawingml/2006/main">
              <a:ext uri="{FF2B5EF4-FFF2-40B4-BE49-F238E27FC236}">
                <a16:creationId xmlns:a16="http://schemas.microsoft.com/office/drawing/2014/main" id="{795F8F27-75F4-464B-911B-E957FD9D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0.9905</a:t>
            </a:r>
          </a:p>
        </p:txBody>
      </p:sp>
      <p:sp>
        <p:nvSpPr>
          <p:cNvPr id="34" name="repeat-table-0-2">
            <a:extLst xmlns:a="http://schemas.openxmlformats.org/drawingml/2006/main">
              <a:ext uri="{FF2B5EF4-FFF2-40B4-BE49-F238E27FC236}">
                <a16:creationId xmlns:a16="http://schemas.microsoft.com/office/drawing/2014/main" id="{C619BFD2-90CE-4640-82B5-F283667C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0.9804</a:t>
            </a:r>
          </a:p>
        </p:txBody>
      </p:sp>
      <p:sp>
        <p:nvSpPr>
          <p:cNvPr id="35" name="repeat-table-0-3">
            <a:extLst xmlns:a="http://schemas.openxmlformats.org/drawingml/2006/main">
              <a:ext uri="{FF2B5EF4-FFF2-40B4-BE49-F238E27FC236}">
                <a16:creationId xmlns:a16="http://schemas.microsoft.com/office/drawing/2014/main" id="{D9D3B7DB-4043-4078-83C3-C30B6994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1.0043</a:t>
            </a:r>
          </a:p>
        </p:txBody>
      </p:sp>
      <p:sp>
        <p:nvSpPr>
          <p:cNvPr id="36" name="repeat-table-0-4">
            <a:extLst xmlns:a="http://schemas.openxmlformats.org/drawingml/2006/main">
              <a:ext uri="{FF2B5EF4-FFF2-40B4-BE49-F238E27FC236}">
                <a16:creationId xmlns:a16="http://schemas.microsoft.com/office/drawing/2014/main" id="{E8001830-E23A-4DDC-A6D8-08D49A5C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0.9668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A46CC0-6C21-4834-9E33-85542B87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8" name="repeat-table-1-0">
            <a:extLst xmlns:a="http://schemas.openxmlformats.org/drawingml/2006/main">
              <a:ext uri="{FF2B5EF4-FFF2-40B4-BE49-F238E27FC236}">
                <a16:creationId xmlns:a16="http://schemas.microsoft.com/office/drawing/2014/main" id="{09E828CD-B92F-4926-8731-8F261D9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repeat 2</a:t>
            </a:r>
          </a:p>
        </p:txBody>
      </p:sp>
      <p:sp>
        <p:nvSpPr>
          <p:cNvPr id="39" name="repeat-table-1-1">
            <a:extLst xmlns:a="http://schemas.openxmlformats.org/drawingml/2006/main">
              <a:ext uri="{FF2B5EF4-FFF2-40B4-BE49-F238E27FC236}">
                <a16:creationId xmlns:a16="http://schemas.microsoft.com/office/drawing/2014/main" id="{72FA7E7D-B8FF-4EC7-92A3-8411E70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0.9915</a:t>
            </a:r>
          </a:p>
        </p:txBody>
      </p:sp>
      <p:sp>
        <p:nvSpPr>
          <p:cNvPr id="40" name="repeat-table-1-2">
            <a:extLst xmlns:a="http://schemas.openxmlformats.org/drawingml/2006/main">
              <a:ext uri="{FF2B5EF4-FFF2-40B4-BE49-F238E27FC236}">
                <a16:creationId xmlns:a16="http://schemas.microsoft.com/office/drawing/2014/main" id="{2733C2B3-12CB-4025-82DA-4ABE90C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0.9819</a:t>
            </a:r>
          </a:p>
        </p:txBody>
      </p:sp>
      <p:sp>
        <p:nvSpPr>
          <p:cNvPr id="41" name="repeat-table-1-3">
            <a:extLst xmlns:a="http://schemas.openxmlformats.org/drawingml/2006/main">
              <a:ext uri="{FF2B5EF4-FFF2-40B4-BE49-F238E27FC236}">
                <a16:creationId xmlns:a16="http://schemas.microsoft.com/office/drawing/2014/main" id="{4231DFF2-92FF-4593-876C-C47F8FE2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1.0056</a:t>
            </a:r>
          </a:p>
        </p:txBody>
      </p:sp>
      <p:sp>
        <p:nvSpPr>
          <p:cNvPr id="42" name="repeat-table-1-4">
            <a:extLst xmlns:a="http://schemas.openxmlformats.org/drawingml/2006/main">
              <a:ext uri="{FF2B5EF4-FFF2-40B4-BE49-F238E27FC236}">
                <a16:creationId xmlns:a16="http://schemas.microsoft.com/office/drawing/2014/main" id="{A5C8D802-3820-4803-A4FF-AD1D2BD6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0.9682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3D7BE8-C55D-4B07-ABC1-9F00B7D4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4" name="repeat-table-2-0">
            <a:extLst xmlns:a="http://schemas.openxmlformats.org/drawingml/2006/main">
              <a:ext uri="{FF2B5EF4-FFF2-40B4-BE49-F238E27FC236}">
                <a16:creationId xmlns:a16="http://schemas.microsoft.com/office/drawing/2014/main" id="{72C7FADE-B04F-4CE0-8661-A5CDBABC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repeat 3</a:t>
            </a:r>
          </a:p>
        </p:txBody>
      </p:sp>
      <p:sp>
        <p:nvSpPr>
          <p:cNvPr id="45" name="repeat-table-2-1">
            <a:extLst xmlns:a="http://schemas.openxmlformats.org/drawingml/2006/main">
              <a:ext uri="{FF2B5EF4-FFF2-40B4-BE49-F238E27FC236}">
                <a16:creationId xmlns:a16="http://schemas.microsoft.com/office/drawing/2014/main" id="{7E83A0E9-101E-4E74-9F90-D1E7FCDF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0.9906</a:t>
            </a:r>
          </a:p>
        </p:txBody>
      </p:sp>
      <p:sp>
        <p:nvSpPr>
          <p:cNvPr id="46" name="repeat-table-2-2">
            <a:extLst xmlns:a="http://schemas.openxmlformats.org/drawingml/2006/main">
              <a:ext uri="{FF2B5EF4-FFF2-40B4-BE49-F238E27FC236}">
                <a16:creationId xmlns:a16="http://schemas.microsoft.com/office/drawing/2014/main" id="{F141EF22-D3DC-494B-922E-8D793859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0.9810</a:t>
            </a:r>
          </a:p>
        </p:txBody>
      </p:sp>
      <p:sp>
        <p:nvSpPr>
          <p:cNvPr id="47" name="repeat-table-2-3">
            <a:extLst xmlns:a="http://schemas.openxmlformats.org/drawingml/2006/main">
              <a:ext uri="{FF2B5EF4-FFF2-40B4-BE49-F238E27FC236}">
                <a16:creationId xmlns:a16="http://schemas.microsoft.com/office/drawing/2014/main" id="{21C65E8F-DB5C-4E52-B0BB-6E222C87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1.0046</a:t>
            </a:r>
          </a:p>
        </p:txBody>
      </p:sp>
      <p:sp>
        <p:nvSpPr>
          <p:cNvPr id="48" name="repeat-table-2-4">
            <a:extLst xmlns:a="http://schemas.openxmlformats.org/drawingml/2006/main">
              <a:ext uri="{FF2B5EF4-FFF2-40B4-BE49-F238E27FC236}">
                <a16:creationId xmlns:a16="http://schemas.microsoft.com/office/drawing/2014/main" id="{CAD5F9A8-7027-477F-A096-D366F565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0.9593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591C79-4FAC-49E5-97EA-2DE0D385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81425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50" name="repeat-table-3-0">
            <a:extLst xmlns:a="http://schemas.openxmlformats.org/drawingml/2006/main">
              <a:ext uri="{FF2B5EF4-FFF2-40B4-BE49-F238E27FC236}">
                <a16:creationId xmlns:a16="http://schemas.microsoft.com/office/drawing/2014/main" id="{8DA62032-6749-4194-8533-2750B5DB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repeat 4</a:t>
            </a:r>
          </a:p>
        </p:txBody>
      </p:sp>
      <p:sp>
        <p:nvSpPr>
          <p:cNvPr id="51" name="repeat-table-3-1">
            <a:extLst xmlns:a="http://schemas.openxmlformats.org/drawingml/2006/main">
              <a:ext uri="{FF2B5EF4-FFF2-40B4-BE49-F238E27FC236}">
                <a16:creationId xmlns:a16="http://schemas.microsoft.com/office/drawing/2014/main" id="{2F57F3AA-BB5A-406D-BC68-44C3B96A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0.9902</a:t>
            </a:r>
          </a:p>
        </p:txBody>
      </p:sp>
      <p:sp>
        <p:nvSpPr>
          <p:cNvPr id="52" name="repeat-table-3-2">
            <a:extLst xmlns:a="http://schemas.openxmlformats.org/drawingml/2006/main">
              <a:ext uri="{FF2B5EF4-FFF2-40B4-BE49-F238E27FC236}">
                <a16:creationId xmlns:a16="http://schemas.microsoft.com/office/drawing/2014/main" id="{24888A96-6391-4D3D-A2EF-350C9459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0.9806</a:t>
            </a:r>
          </a:p>
        </p:txBody>
      </p:sp>
      <p:sp>
        <p:nvSpPr>
          <p:cNvPr id="53" name="repeat-table-3-3">
            <a:extLst xmlns:a="http://schemas.openxmlformats.org/drawingml/2006/main">
              <a:ext uri="{FF2B5EF4-FFF2-40B4-BE49-F238E27FC236}">
                <a16:creationId xmlns:a16="http://schemas.microsoft.com/office/drawing/2014/main" id="{32E024E7-A76A-481E-BB26-B97D758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1.0042</a:t>
            </a:r>
          </a:p>
        </p:txBody>
      </p:sp>
      <p:sp>
        <p:nvSpPr>
          <p:cNvPr id="54" name="repeat-table-3-4">
            <a:extLst xmlns:a="http://schemas.openxmlformats.org/drawingml/2006/main">
              <a:ext uri="{FF2B5EF4-FFF2-40B4-BE49-F238E27FC236}">
                <a16:creationId xmlns:a16="http://schemas.microsoft.com/office/drawing/2014/main" id="{DF886060-4EC9-4390-A03C-3B530BE4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0.9615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58AD35-C8D5-4253-950A-FFE9F9B5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23DF1F-863B-44B5-B018-F83FFA16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20127872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4-bg">
            <a:extLst xmlns:a="http://schemas.openxmlformats.org/drawingml/2006/main">
              <a:ext uri="{FF2B5EF4-FFF2-40B4-BE49-F238E27FC236}">
                <a16:creationId xmlns:a16="http://schemas.microsoft.com/office/drawing/2014/main" id="{849FB6B2-9A89-4405-83F2-03D45EA0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79C1E-93CC-4AFA-8B14-FBA8312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9E255-1D96-4F14-A4BD-66D480B6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核心結論：瓶頸分類是 global atomic traffic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340BA-24DC-4144-8C3D-33AD055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B4899-B612-4C18-92A1-9AB59374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EAFEB-4757-42EA-916D-CB968DB4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0FC82-D628-4279-841D-084A040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我們不是只找到一組比較快的參數。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EAF2E-60D9-4124-97EE-76538272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0560"/>
            <a:ext cx="414813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7CE11-E71F-4965-8691-3AE13307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3733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940FE-7D88-4119-85AA-C03AC53A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sharding 分散 Q1 atomic contention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2935D-1ACE-4C15-A621-C118E65D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138" y="3210560"/>
            <a:ext cx="414813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AC54E-34B5-4852-9CA5-41255632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67100"/>
            <a:ext cx="3733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0409A-6E88-4105-8D43-171636B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sharding 分散 count/head/tail contention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41EB3-0904-4063-AC9B-84348836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10560"/>
            <a:ext cx="414813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A849A-5B6C-4F46-AB32-C9B53F61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3733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F7D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9DCC8-FFF2-41BE-A504-4D4E5AF1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52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pop 起掃策略降低局部競爭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A88FF-7576-431D-8D68-12B66784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313" y="3210560"/>
            <a:ext cx="414813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ED6F1-EA8D-43C9-8EFF-09731D06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467100"/>
            <a:ext cx="3733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6531C-F9C2-4A8B-A023-CFBDAEE1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4152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high shard scaling 繼續降低 contention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31F55-0DF0-481E-8710-655F02C8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6DC02-995A-468B-872A-A8252199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每一輪大幅改善，都對應到 queue/global atomic traffic 被分散或減少。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20C9C-C32D-4467-9279-B30D7B9A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D1A2A-0C9F-4611-A16E-3FAA8D4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151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output writes off 效果小、ready-first 變慢、C output batching 無明確收益。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943D14-AD53-437B-945C-063B23E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866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8EEAC-505C-418A-A289-91759FC6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866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所以目前瓶頸分類不是 render、不是單純 writer 數量，而是 global handoff traffic。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5697C-24DB-474E-8B20-CB8D9EB7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4B1D3-4BCE-48B8-89CE-BA2AA770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72747-E98A-4FFF-BBF8-44BAF3C3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這個結論來自一次次迭代的效果幅度，而不是單一 counter 或單一 profiler 截圖。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08E23B-0CDD-4F93-BF37-CB905D52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0D3D7-EB73-4AE8-8D4A-34A09AB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5032866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5-bg">
            <a:extLst xmlns:a="http://schemas.openxmlformats.org/drawingml/2006/main">
              <a:ext uri="{FF2B5EF4-FFF2-40B4-BE49-F238E27FC236}">
                <a16:creationId xmlns:a16="http://schemas.microsoft.com/office/drawing/2014/main" id="{AD5BDFE6-4BF3-4835-ABCB-F681C4F3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9230B-3DF0-4954-BF12-F3B72860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A17D1-995D-4F94-A1F3-5D4DB09A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下一步：wave-local work retention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4F0F1-3656-4DD0-8091-48626865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9BFEC-83D0-4E2D-921E-2E6D95B3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756E9-C97E-4BE9-B6D3-6B8C45AD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694C0-EC72-4385-9EE9-80FABE79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8391525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B72C8-691F-46AC-B3F7-267866D9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574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83AFC-9AC0-4487-A1D7-1A5DF934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目前架構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C3F7A-B68A-4FB4-BE53-6FD60CF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9510A-4E5E-44FB-AE74-4F0DDA3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CE135-6FA8-4DBD-956A-9F7999FB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4CCF0-A6E5-4CFA-B420-BADB1A47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339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45A91-89EC-40A8-9D6D-407D8950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301E-1005-46BD-81CB-8EACB788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E9F04-AAF5-4B49-9CB9-69CE5D58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atomic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8C506-4569-4210-BD7D-E6EBF970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87BBD-EE6D-47EC-8D28-FDC6A85E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F6737-F7B0-4754-9FA3-6DE82701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48089-B0B9-4146-9ECB-B7482ED3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consumer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231DB-E750-465D-9853-1B43CD1E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A4A73-26E4-4FED-B9CB-1A7E5D74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溝通依賴 global memory。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10927-E9A5-4860-B70F-58F5A956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103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5491D-D937-4E4D-830B-3769EE73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03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即使 sharding，仍然需要 global atomic。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8F16F-B2F5-4C39-9590-3E9B968B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3E950-5E96-4390-B4B4-7A658291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 shards 已接近目前架構有效區間。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DE266-22CD-4A74-ACE4-B198B728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47800"/>
            <a:ext cx="8391525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91B6-4C53-41FF-ABFF-6EC18B32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5574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845F2-4C5F-474D-9C0D-DCC12A4B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要驗證的方向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C68C38-7F16-49FF-B371-F8C89F5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8E634B-8D58-4A6D-B588-268F7DA8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34839-B6EC-410D-B462-6136CE3A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local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76FCE9-F40C-40C5-B0EA-0E53816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339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4F3C31-03F7-4B5F-A4A4-1F78B513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2FA7FC-A9B0-4A7A-824C-6493003D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intrinsic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604F6-CABF-46C4-98E7-7B44DB6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wave-level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8D851-67DA-4456-BD19-D5D1F12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9339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0B13F6-179E-428F-BB02-744A55EA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31CBE1-EA35-4F79-B6F6-814D9AC9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spill Q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FB1E44-73B2-4DA0-8B2C-5FE5EC89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fallback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C10058-5814-41A5-ABF9-7AD2353B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7721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33BEFB-F6A0-4C9F-9CA8-B6EC4A0D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7215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把工作盡量留在 wave 裡。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E35838-FE65-4A81-9782-CC6606C4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2103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E9303F-EE50-4292-A327-F581B87F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2103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wave-level 溝通可用 wave intrinsic。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335173-8490-40D4-AD6E-C70165B0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675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F44247-FA6A-4DBF-AB2A-1A2122C5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6675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queue 只作 fallback 或 spill path。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68D95D-C43A-43CB-949F-0C4B7326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34A35A-D951-4134-B4A5-24E7D633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79318374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6-bg">
            <a:extLst xmlns:a="http://schemas.openxmlformats.org/drawingml/2006/main">
              <a:ext uri="{FF2B5EF4-FFF2-40B4-BE49-F238E27FC236}">
                <a16:creationId xmlns:a16="http://schemas.microsoft.com/office/drawing/2014/main" id="{65C472CD-AC9F-4927-AFAF-B48DF29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E917E-DFA7-429B-A71A-D1153C38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A94E1-7B46-476B-B15B-2E078CCB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Next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1BD90-307E-4509-A35C-BF04413D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B69FE-E4CD-42EA-ADBD-D06EBEF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21DA7-CD6F-4A58-AC95-5BF92AD6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CA050-476D-45C2-9A1F-D1ACFF38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84201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1E37D-6347-410D-B06E-128CA8BE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BF8E5-46D2-42CD-A10A-C807339E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830AC-AFD6-459D-8BAD-B8644337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3B576-A172-44CA-9B98-BC625DCB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設計 wave-local work retention prototype。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5A387-B009-4B4B-8026-877E8510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DB67D-D5AB-4338-891D-8938C328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保留 256-shard 版本作為 baseline。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F4148-2D61-4836-8057-7F274E9E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25CDA-FA50-4249-B7C8-C8A6DACA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定義 spill-to-global fallback path。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36343-B225-4F0F-834E-BEE06C9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447800"/>
            <a:ext cx="84201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DD38F-D1DC-4AEF-B9ED-52B14BB5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954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1D564-CC5D-4DBE-9AFA-A57CF0BD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7165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8D391-7ABF-4DFD-AF25-D2CD05CE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241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45891-D96E-4F77-AB1C-129A8DA5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atomic count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7FFD1-D2C0-41E9-B4F9-E94B49BD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F28FE-0DEA-41FA-BB84-0ABDC188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035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wave-local handoff 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FEE6D-4616-41F6-BB6C-19214CF5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766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0F697-A804-417B-87DA-51838EC8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766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spill-to-global ratio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D0225-188C-4C54-A8AE-8DD5E8CC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719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7DED8-65A7-4A88-88EB-8A620A6D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compute duration 與 tail stability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2F00E2-32B2-4BC6-B67F-07B468AC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9863"/>
            <a:ext cx="1710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76A81-397A-4C64-8DDD-BD37D42F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246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576EB-8F9C-4889-B4C4-2FB45E22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6421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下次比較目標：current global-sharded queue vs wave-local architecture。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110BB-FD8F-4DD7-994E-470C3845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05850"/>
            <a:ext cx="17106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A655A-763A-4D05-A1AD-760E9722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8963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1029FA-8CFC-459A-ADFD-A66B16E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7255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並行補驗證：request batching on/off controlled experiment，避免報告裡過度宣稱。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198686-8E78-4AAA-8CDD-9CEBBF76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471CCA-D2CC-45A1-9F5C-9FA8F342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298970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2026-05-25T12:06:39.7050000Z</dcterms:created>
  <dcterms:modified xsi:type="dcterms:W3CDTF">2026-05-25T12:06:39.7050000Z</dcterms:modified>
</coreProperties>
</file>