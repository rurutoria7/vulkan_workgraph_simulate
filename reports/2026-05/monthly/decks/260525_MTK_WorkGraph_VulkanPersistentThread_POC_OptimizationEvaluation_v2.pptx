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2834640" cy="21031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000" b="1">
                <a:solidFill>
                  <a:srgbClr val="1F77B4"/>
                </a:solidFill>
                <a:latin typeface="Arial"/>
              </a:defRPr>
            </a:pPr>
            <a:r>
              <a:t>MONTHLY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68680"/>
            <a:ext cx="8503920" cy="98755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4200" b="1">
                <a:solidFill>
                  <a:srgbClr val="111111"/>
                </a:solidFill>
                <a:latin typeface="Arial"/>
              </a:defRPr>
            </a:pPr>
            <a:r>
              <a:t>Vulkan Persistent Thread</a:t>
            </a:r>
            <a:br/>
            <a:r>
              <a:t>WorkGraph POC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148840"/>
            <a:ext cx="9875520" cy="47548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Arial"/>
              </a:defRPr>
            </a:pPr>
            <a:r>
              <a:t>May 2026 optimization evaluation: validating global atomic traffic as the queue bottleneck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971800"/>
            <a:ext cx="2240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971800"/>
            <a:ext cx="2240280" cy="73152"/>
          </a:xfrm>
          <a:prstGeom prst="rect">
            <a:avLst/>
          </a:prstGeom>
          <a:solidFill>
            <a:srgbClr val="D97000"/>
          </a:solidFill>
          <a:ln>
            <a:solidFill>
              <a:srgbClr val="D97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3136392"/>
            <a:ext cx="2093976" cy="38404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2500" b="1">
                <a:solidFill>
                  <a:srgbClr val="D97000"/>
                </a:solidFill>
                <a:latin typeface="Arial"/>
              </a:defRPr>
            </a:pPr>
            <a:r>
              <a:t>30.75 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575304"/>
            <a:ext cx="2057400" cy="29260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050" b="1">
                <a:solidFill>
                  <a:srgbClr val="333333"/>
                </a:solidFill>
                <a:latin typeface="Arial"/>
              </a:defRPr>
            </a:pPr>
            <a:r>
              <a:t>Baseline median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867912"/>
            <a:ext cx="2057400" cy="2286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850" b="0">
                <a:solidFill>
                  <a:srgbClr val="666666"/>
                </a:solidFill>
                <a:latin typeface="Arial"/>
              </a:defRPr>
            </a:pPr>
            <a:r>
              <a:t>clean compute_ms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2971800"/>
            <a:ext cx="2240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46120" y="2971800"/>
            <a:ext cx="2240280" cy="73152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19272" y="3136392"/>
            <a:ext cx="2093976" cy="38404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2500" b="1">
                <a:solidFill>
                  <a:srgbClr val="2E7D32"/>
                </a:solidFill>
                <a:latin typeface="Arial"/>
              </a:defRPr>
            </a:pPr>
            <a:r>
              <a:t>0.99 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3575304"/>
            <a:ext cx="2057400" cy="29260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050" b="1">
                <a:solidFill>
                  <a:srgbClr val="333333"/>
                </a:solidFill>
                <a:latin typeface="Arial"/>
              </a:defRPr>
            </a:pPr>
            <a:r>
              <a:t>Final median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3867912"/>
            <a:ext cx="2057400" cy="2286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850" b="0">
                <a:solidFill>
                  <a:srgbClr val="666666"/>
                </a:solidFill>
                <a:latin typeface="Arial"/>
              </a:defRPr>
            </a:pPr>
            <a:r>
              <a:t>main integrated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06440" y="2971800"/>
            <a:ext cx="2240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06440" y="2971800"/>
            <a:ext cx="2240280" cy="73152"/>
          </a:xfrm>
          <a:prstGeom prst="rect">
            <a:avLst/>
          </a:prstGeom>
          <a:solidFill>
            <a:srgbClr val="1F77B4"/>
          </a:solidFill>
          <a:ln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79592" y="3136392"/>
            <a:ext cx="2093976" cy="38404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2500" b="1">
                <a:solidFill>
                  <a:srgbClr val="1F77B4"/>
                </a:solidFill>
                <a:latin typeface="Arial"/>
              </a:defRPr>
            </a:pPr>
            <a:r>
              <a:t>31.0x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97879" y="3575304"/>
            <a:ext cx="2057400" cy="29260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050" b="1">
                <a:solidFill>
                  <a:srgbClr val="333333"/>
                </a:solidFill>
                <a:latin typeface="Arial"/>
              </a:defRPr>
            </a:pPr>
            <a:r>
              <a:t>Median speedup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97879" y="3867912"/>
            <a:ext cx="2057400" cy="2286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850" b="0">
                <a:solidFill>
                  <a:srgbClr val="666666"/>
                </a:solidFill>
                <a:latin typeface="Arial"/>
              </a:defRPr>
            </a:pPr>
            <a:r>
              <a:t>same workload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663440"/>
            <a:ext cx="9784080" cy="56692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Arial"/>
              </a:defRPr>
            </a:pPr>
            <a:r>
              <a:t>Adopted path: Q1/Q2 queue sharding + Q1 lane-pop. Request batching is tested, documented, and not adopted for the current protocol/workload.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263640"/>
            <a:ext cx="2926080" cy="18288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Arial"/>
              </a:defRPr>
            </a:pPr>
            <a:r>
              <a:t>AMD RX 7900 XTX / RDNA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7498079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850" b="1">
                <a:solidFill>
                  <a:srgbClr val="666666"/>
                </a:solidFill>
                <a:latin typeface="Arial"/>
              </a:defRPr>
            </a:pPr>
            <a:r>
              <a:t>Vulkan Persistent Thread WorkGraph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393192"/>
            <a:ext cx="9875520" cy="47548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2600" b="1">
                <a:solidFill>
                  <a:srgbClr val="111111"/>
                </a:solidFill>
                <a:latin typeface="Arial"/>
              </a:defRPr>
            </a:pPr>
            <a:r>
              <a:t>Executive summary: hypothesis to validated bottleneck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01400" y="283464"/>
            <a:ext cx="384048" cy="256032"/>
          </a:xfrm>
          <a:prstGeom prst="rect">
            <a:avLst/>
          </a:prstGeom>
          <a:solidFill>
            <a:srgbClr val="1F77B4"/>
          </a:solidFill>
          <a:ln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310896"/>
            <a:ext cx="384048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896112"/>
            <a:ext cx="11365992" cy="0"/>
          </a:xfrm>
          <a:prstGeom prst="line">
            <a:avLst/>
          </a:prstGeom>
          <a:ln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6510528"/>
            <a:ext cx="2926080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Arial"/>
              </a:defRPr>
            </a:pPr>
            <a:r>
              <a:t>2026-05-25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6510528"/>
            <a:ext cx="3017520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r">
              <a:defRPr sz="700" b="0">
                <a:solidFill>
                  <a:srgbClr val="666666"/>
                </a:solidFill>
                <a:latin typeface="Arial"/>
              </a:defRPr>
            </a:pPr>
            <a:r>
              <a:t>Optimization Evaluation v2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325880"/>
            <a:ext cx="246888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8952" y="1517904"/>
            <a:ext cx="1143000" cy="256032"/>
          </a:xfrm>
          <a:prstGeom prst="rect">
            <a:avLst/>
          </a:prstGeom>
          <a:solidFill>
            <a:srgbClr val="D97000"/>
          </a:solidFill>
          <a:ln>
            <a:solidFill>
              <a:srgbClr val="D97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1545336"/>
            <a:ext cx="1143000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HYPOTHESIS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965960"/>
            <a:ext cx="2103120" cy="34747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600" b="1">
                <a:solidFill>
                  <a:srgbClr val="D97000"/>
                </a:solidFill>
                <a:latin typeface="Arial"/>
              </a:defRPr>
            </a:pPr>
            <a:r>
              <a:t>Hypothesis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487168"/>
            <a:ext cx="2103120" cy="146304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The persistent-thread queue architecture is atomic-heavy, so global atomic traffic was suspected.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83279" y="1325880"/>
            <a:ext cx="246888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47872" y="1517904"/>
            <a:ext cx="1143000" cy="256032"/>
          </a:xfrm>
          <a:prstGeom prst="rect">
            <a:avLst/>
          </a:prstGeom>
          <a:solidFill>
            <a:srgbClr val="1F77B4"/>
          </a:solidFill>
          <a:ln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47872" y="1545336"/>
            <a:ext cx="1143000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1965960"/>
            <a:ext cx="2103120" cy="34747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600" b="1">
                <a:solidFill>
                  <a:srgbClr val="1F77B4"/>
                </a:solidFill>
                <a:latin typeface="Arial"/>
              </a:defRPr>
            </a:pPr>
            <a:r>
              <a:t>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2487168"/>
            <a:ext cx="2103120" cy="146304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Clean timing plus counter-enabled runs identify queue contention, CAS failures, backlog, and ready-spin behavior.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1325880"/>
            <a:ext cx="246888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36792" y="1517904"/>
            <a:ext cx="1143000" cy="256032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36792" y="1545336"/>
            <a:ext cx="1143000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ADOPTED PATH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1965960"/>
            <a:ext cx="2103120" cy="34747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600" b="1">
                <a:solidFill>
                  <a:srgbClr val="2E7D32"/>
                </a:solidFill>
                <a:latin typeface="Arial"/>
              </a:defRPr>
            </a:pPr>
            <a:r>
              <a:t>Adopted path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487168"/>
            <a:ext cx="2103120" cy="146304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Q1 sharding, Q2 sharding, and Q1 lane-pop reduce shared atomic hotspots.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61119" y="1325880"/>
            <a:ext cx="246888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25711" y="1517904"/>
            <a:ext cx="1143000" cy="256032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25711" y="1545336"/>
            <a:ext cx="1143000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RESULT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3999" y="1965960"/>
            <a:ext cx="2103120" cy="34747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600" b="1">
                <a:solidFill>
                  <a:srgbClr val="2E7D32"/>
                </a:solidFill>
                <a:latin typeface="Arial"/>
              </a:defRPr>
            </a:pPr>
            <a:r>
              <a:t>Result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3999" y="2487168"/>
            <a:ext cx="2103120" cy="146304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Median clean compute drops from 30.75 ms to about 0.99 ms on the final integrated path.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892040"/>
            <a:ext cx="10698480" cy="53035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350" b="1">
                <a:solidFill>
                  <a:srgbClr val="111111"/>
                </a:solidFill>
                <a:latin typeface="Arial"/>
              </a:defRPr>
            </a:pPr>
            <a:r>
              <a:t>Performance results come from clean timestamp runs; atomic counters are used to explain the bottleneck behavior.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7498079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850" b="1">
                <a:solidFill>
                  <a:srgbClr val="666666"/>
                </a:solidFill>
                <a:latin typeface="Arial"/>
              </a:defRPr>
            </a:pPr>
            <a:r>
              <a:t>Vulkan Persistent Thread WorkGraph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393192"/>
            <a:ext cx="9875520" cy="47548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2600" b="1">
                <a:solidFill>
                  <a:srgbClr val="111111"/>
                </a:solidFill>
                <a:latin typeface="Arial"/>
              </a:defRPr>
            </a:pPr>
            <a:r>
              <a:t>Recap architecture: persistent workers and atomic queues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01400" y="283464"/>
            <a:ext cx="384048" cy="256032"/>
          </a:xfrm>
          <a:prstGeom prst="rect">
            <a:avLst/>
          </a:prstGeom>
          <a:solidFill>
            <a:srgbClr val="1F77B4"/>
          </a:solidFill>
          <a:ln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310896"/>
            <a:ext cx="384048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896112"/>
            <a:ext cx="11365992" cy="0"/>
          </a:xfrm>
          <a:prstGeom prst="line">
            <a:avLst/>
          </a:prstGeom>
          <a:ln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6510528"/>
            <a:ext cx="2926080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Arial"/>
              </a:defRPr>
            </a:pPr>
            <a:r>
              <a:t>2026-05-25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6510528"/>
            <a:ext cx="3017520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r">
              <a:defRPr sz="700" b="0">
                <a:solidFill>
                  <a:srgbClr val="666666"/>
                </a:solidFill>
                <a:latin typeface="Arial"/>
              </a:defRPr>
            </a:pPr>
            <a:r>
              <a:t>Optimization Evaluation v2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828800"/>
            <a:ext cx="1234440" cy="777240"/>
          </a:xfrm>
          <a:prstGeom prst="rect">
            <a:avLst/>
          </a:prstGeom>
          <a:solidFill>
            <a:srgbClr val="FFFFFF"/>
          </a:solidFill>
          <a:ln w="17780">
            <a:solidFill>
              <a:srgbClr val="6E6E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1938528"/>
            <a:ext cx="1088136" cy="2286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150" b="1">
                <a:solidFill>
                  <a:srgbClr val="6E6E6E"/>
                </a:solidFill>
                <a:latin typeface="Arial"/>
              </a:defRPr>
            </a:pPr>
            <a:r>
              <a:t>Node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240280"/>
            <a:ext cx="1088136" cy="32004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869" b="0">
                <a:solidFill>
                  <a:srgbClr val="333333"/>
                </a:solidFill>
                <a:latin typeface="Arial"/>
              </a:defRPr>
            </a:pPr>
            <a:r>
              <a:t>Seed edges once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40280" y="1828800"/>
            <a:ext cx="1508760" cy="777240"/>
          </a:xfrm>
          <a:prstGeom prst="rect">
            <a:avLst/>
          </a:prstGeom>
          <a:solidFill>
            <a:srgbClr val="FFFFFF"/>
          </a:solidFill>
          <a:ln w="17780">
            <a:solidFill>
              <a:srgbClr val="D97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13432" y="1938528"/>
            <a:ext cx="1362456" cy="2286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150" b="1">
                <a:solidFill>
                  <a:srgbClr val="D97000"/>
                </a:solidFill>
                <a:latin typeface="Arial"/>
              </a:defRPr>
            </a:pPr>
            <a:r>
              <a:t>Q1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13432" y="2240280"/>
            <a:ext cx="1362456" cy="32004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869" b="0">
                <a:solidFill>
                  <a:srgbClr val="333333"/>
                </a:solidFill>
                <a:latin typeface="Arial"/>
              </a:defRPr>
            </a:pPr>
            <a:r>
              <a:t>atomic count/head/tail</a:t>
            </a:r>
            <a:br/>
            <a:r>
              <a:t>ready flag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60520" y="1828800"/>
            <a:ext cx="1417320" cy="777240"/>
          </a:xfrm>
          <a:prstGeom prst="rect">
            <a:avLst/>
          </a:prstGeom>
          <a:solidFill>
            <a:srgbClr val="FFFFFF"/>
          </a:solidFill>
          <a:ln w="17780">
            <a:solidFill>
              <a:srgbClr val="6E6E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33672" y="1938528"/>
            <a:ext cx="1271016" cy="2286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150" b="1">
                <a:solidFill>
                  <a:srgbClr val="6E6E6E"/>
                </a:solidFill>
                <a:latin typeface="Arial"/>
              </a:defRPr>
            </a:pPr>
            <a:r>
              <a:t>Node 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33672" y="2240280"/>
            <a:ext cx="1271016" cy="32004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869" b="0">
                <a:solidFill>
                  <a:srgbClr val="333333"/>
                </a:solidFill>
                <a:latin typeface="Arial"/>
              </a:defRPr>
            </a:pPr>
            <a:r>
              <a:t>Subdivide work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89320" y="1828800"/>
            <a:ext cx="1508760" cy="777240"/>
          </a:xfrm>
          <a:prstGeom prst="rect">
            <a:avLst/>
          </a:prstGeom>
          <a:solidFill>
            <a:srgbClr val="FFFFFF"/>
          </a:solidFill>
          <a:ln w="17780">
            <a:solidFill>
              <a:srgbClr val="D97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62472" y="1938528"/>
            <a:ext cx="1362456" cy="2286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150" b="1">
                <a:solidFill>
                  <a:srgbClr val="D97000"/>
                </a:solidFill>
                <a:latin typeface="Arial"/>
              </a:defRPr>
            </a:pPr>
            <a:r>
              <a:t>Q2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62472" y="2240280"/>
            <a:ext cx="1362456" cy="32004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869" b="0">
                <a:solidFill>
                  <a:srgbClr val="333333"/>
                </a:solidFill>
                <a:latin typeface="Arial"/>
              </a:defRPr>
            </a:pPr>
            <a:r>
              <a:t>atomic count/head/tail</a:t>
            </a:r>
            <a:br/>
            <a:r>
              <a:t>ready flag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09560" y="1828800"/>
            <a:ext cx="1417320" cy="777240"/>
          </a:xfrm>
          <a:prstGeom prst="rect">
            <a:avLst/>
          </a:prstGeom>
          <a:solidFill>
            <a:srgbClr val="FFFFFF"/>
          </a:solidFill>
          <a:ln w="17780">
            <a:solidFill>
              <a:srgbClr val="6E6E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82712" y="1938528"/>
            <a:ext cx="1271016" cy="2286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150" b="1">
                <a:solidFill>
                  <a:srgbClr val="6E6E6E"/>
                </a:solidFill>
                <a:latin typeface="Arial"/>
              </a:defRPr>
            </a:pPr>
            <a:r>
              <a:t>Node 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82712" y="2240280"/>
            <a:ext cx="1271016" cy="32004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869" b="0">
                <a:solidFill>
                  <a:srgbClr val="333333"/>
                </a:solidFill>
                <a:latin typeface="Arial"/>
              </a:defRPr>
            </a:pPr>
            <a:r>
              <a:t>Write vertices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738360" y="1828800"/>
            <a:ext cx="1508760" cy="777240"/>
          </a:xfrm>
          <a:prstGeom prst="rect">
            <a:avLst/>
          </a:prstGeom>
          <a:solidFill>
            <a:srgbClr val="FFFFFF"/>
          </a:solidFill>
          <a:ln w="17780">
            <a:solidFill>
              <a:srgbClr val="6E6E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11512" y="1938528"/>
            <a:ext cx="1362456" cy="2286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150" b="1">
                <a:solidFill>
                  <a:srgbClr val="6E6E6E"/>
                </a:solidFill>
                <a:latin typeface="Arial"/>
              </a:defRPr>
            </a:pPr>
            <a:r>
              <a:t>VB Render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11512" y="2240280"/>
            <a:ext cx="1362456" cy="32004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869" b="0">
                <a:solidFill>
                  <a:srgbClr val="333333"/>
                </a:solidFill>
                <a:latin typeface="Arial"/>
              </a:defRPr>
            </a:pPr>
            <a:r>
              <a:t>Deterministic draw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828800" y="2212848"/>
            <a:ext cx="411480" cy="0"/>
          </a:xfrm>
          <a:prstGeom prst="line">
            <a:avLst/>
          </a:prstGeom>
          <a:ln w="2032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749039" y="2212848"/>
            <a:ext cx="411481" cy="0"/>
          </a:xfrm>
          <a:prstGeom prst="line">
            <a:avLst/>
          </a:prstGeom>
          <a:ln w="2032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577840" y="2212848"/>
            <a:ext cx="411480" cy="0"/>
          </a:xfrm>
          <a:prstGeom prst="line">
            <a:avLst/>
          </a:prstGeom>
          <a:ln w="2032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498079" y="2212848"/>
            <a:ext cx="411481" cy="0"/>
          </a:xfrm>
          <a:prstGeom prst="line">
            <a:avLst/>
          </a:prstGeom>
          <a:ln w="2032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326880" y="2212848"/>
            <a:ext cx="411480" cy="0"/>
          </a:xfrm>
          <a:prstGeom prst="line">
            <a:avLst/>
          </a:prstGeom>
          <a:ln w="2032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594360" y="3337560"/>
            <a:ext cx="5074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3520440"/>
            <a:ext cx="4480560" cy="29260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550" b="1">
                <a:solidFill>
                  <a:srgbClr val="D97000"/>
                </a:solidFill>
                <a:latin typeface="Arial"/>
              </a:defRPr>
            </a:pPr>
            <a:r>
              <a:t>Why atomic traffic is plausible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3913632"/>
            <a:ext cx="448056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- Cross-workgroup handoff uses atomics for correctness on RDNA 3.</a:t>
            </a:r>
          </a:p>
          <a:p>
            <a:pPr>
              <a:spcAft>
                <a:spcPts val="5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- Queue state and ready flags are shared by many lanes and workgroups.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72200" y="3337560"/>
            <a:ext cx="5074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3520440"/>
            <a:ext cx="4480560" cy="29260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550" b="1">
                <a:solidFill>
                  <a:srgbClr val="1F77B4"/>
                </a:solidFill>
                <a:latin typeface="Arial"/>
              </a:defRPr>
            </a:pPr>
            <a:r>
              <a:t>What v2 validates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3913632"/>
            <a:ext cx="448056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- Metrics confirm queue contention instead of treating it as an assumption.</a:t>
            </a:r>
          </a:p>
          <a:p>
            <a:pPr>
              <a:spcAft>
                <a:spcPts val="5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- Optimizations that split or diversify queue access dominate the gains.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7498079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850" b="1">
                <a:solidFill>
                  <a:srgbClr val="666666"/>
                </a:solidFill>
                <a:latin typeface="Arial"/>
              </a:defRPr>
            </a:pPr>
            <a:r>
              <a:t>Vulkan Persistent Thread WorkGraph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393192"/>
            <a:ext cx="9875520" cy="47548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2600" b="1">
                <a:solidFill>
                  <a:srgbClr val="111111"/>
                </a:solidFill>
                <a:latin typeface="Arial"/>
              </a:defRPr>
            </a:pPr>
            <a:r>
              <a:t>Prior hypothesis: suspected, not yet proven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01400" y="283464"/>
            <a:ext cx="384048" cy="256032"/>
          </a:xfrm>
          <a:prstGeom prst="rect">
            <a:avLst/>
          </a:prstGeom>
          <a:solidFill>
            <a:srgbClr val="1F77B4"/>
          </a:solidFill>
          <a:ln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310896"/>
            <a:ext cx="384048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896112"/>
            <a:ext cx="11365992" cy="0"/>
          </a:xfrm>
          <a:prstGeom prst="line">
            <a:avLst/>
          </a:prstGeom>
          <a:ln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6510528"/>
            <a:ext cx="2926080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Arial"/>
              </a:defRPr>
            </a:pPr>
            <a:r>
              <a:t>2026-05-25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6510528"/>
            <a:ext cx="3017520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r">
              <a:defRPr sz="700" b="0">
                <a:solidFill>
                  <a:srgbClr val="666666"/>
                </a:solidFill>
                <a:latin typeface="Arial"/>
              </a:defRPr>
            </a:pPr>
            <a:r>
              <a:t>Optimization Evaluation v2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507492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" y="1572768"/>
            <a:ext cx="1143000" cy="256032"/>
          </a:xfrm>
          <a:prstGeom prst="rect">
            <a:avLst/>
          </a:prstGeom>
          <a:solidFill>
            <a:srgbClr val="6E6E6E"/>
          </a:solidFill>
          <a:ln>
            <a:solidFill>
              <a:srgbClr val="6E6E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600200"/>
            <a:ext cx="1143000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PRIOR REPORT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993392"/>
            <a:ext cx="4480560" cy="38404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800" b="1">
                <a:solidFill>
                  <a:srgbClr val="111111"/>
                </a:solidFill>
                <a:latin typeface="Arial"/>
              </a:defRPr>
            </a:pPr>
            <a:r>
              <a:t>Known state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514600"/>
            <a:ext cx="4389120" cy="141732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>
              <a:spcAft>
                <a:spcPts val="500"/>
              </a:spcAft>
              <a:defRPr sz="1350">
                <a:solidFill>
                  <a:srgbClr val="333333"/>
                </a:solidFill>
                <a:latin typeface="Arial"/>
              </a:defRPr>
            </a:pPr>
            <a:r>
              <a:t>- Correctness-first POC was working.</a:t>
            </a:r>
          </a:p>
          <a:p>
            <a:pPr>
              <a:spcAft>
                <a:spcPts val="500"/>
              </a:spcAft>
              <a:defRPr sz="1350">
                <a:solidFill>
                  <a:srgbClr val="333333"/>
                </a:solidFill>
                <a:latin typeface="Arial"/>
              </a:defRPr>
            </a:pPr>
            <a:r>
              <a:t>- The architecture depended heavily on atomics.</a:t>
            </a:r>
          </a:p>
          <a:p>
            <a:pPr>
              <a:spcAft>
                <a:spcPts val="500"/>
              </a:spcAft>
              <a:defRPr sz="1350">
                <a:solidFill>
                  <a:srgbClr val="333333"/>
                </a:solidFill>
                <a:latin typeface="Arial"/>
              </a:defRPr>
            </a:pPr>
            <a:r>
              <a:t>- Performance investigation was not complete.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325880"/>
            <a:ext cx="507492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29400" y="1572768"/>
            <a:ext cx="1143000" cy="256032"/>
          </a:xfrm>
          <a:prstGeom prst="rect">
            <a:avLst/>
          </a:prstGeom>
          <a:solidFill>
            <a:srgbClr val="1F77B4"/>
          </a:solidFill>
          <a:ln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1600200"/>
            <a:ext cx="1143000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THIS REPORT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1993392"/>
            <a:ext cx="4480560" cy="38404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800" b="1">
                <a:solidFill>
                  <a:srgbClr val="1F77B4"/>
                </a:solidFill>
                <a:latin typeface="Arial"/>
              </a:defRPr>
            </a:pPr>
            <a:r>
              <a:t>Validation goal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2514600"/>
            <a:ext cx="4389120" cy="141732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>
              <a:spcAft>
                <a:spcPts val="500"/>
              </a:spcAft>
              <a:defRPr sz="1350">
                <a:solidFill>
                  <a:srgbClr val="333333"/>
                </a:solidFill>
                <a:latin typeface="Arial"/>
              </a:defRPr>
            </a:pPr>
            <a:r>
              <a:t>- Build metrics that explain atomic behavior.</a:t>
            </a:r>
          </a:p>
          <a:p>
            <a:pPr>
              <a:spcAft>
                <a:spcPts val="500"/>
              </a:spcAft>
              <a:defRPr sz="1350">
                <a:solidFill>
                  <a:srgbClr val="333333"/>
                </a:solidFill>
                <a:latin typeface="Arial"/>
              </a:defRPr>
            </a:pPr>
            <a:r>
              <a:t>- Use controlled experiments to test the bottleneck hypothesis.</a:t>
            </a:r>
          </a:p>
          <a:p>
            <a:pPr>
              <a:spcAft>
                <a:spcPts val="500"/>
              </a:spcAft>
              <a:defRPr sz="1350">
                <a:solidFill>
                  <a:srgbClr val="333333"/>
                </a:solidFill>
                <a:latin typeface="Arial"/>
              </a:defRPr>
            </a:pPr>
            <a:r>
              <a:t>- Only adopt changes that improve clean timestamp runs.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577840"/>
            <a:ext cx="10332720" cy="50292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450" b="1">
                <a:solidFill>
                  <a:srgbClr val="111111"/>
                </a:solidFill>
                <a:latin typeface="Arial"/>
              </a:defRPr>
            </a:pPr>
            <a:r>
              <a:t>This report turns the atomic-traffic hypothesis into an evidence-backed bottleneck diagnosis.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7498079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850" b="1">
                <a:solidFill>
                  <a:srgbClr val="666666"/>
                </a:solidFill>
                <a:latin typeface="Arial"/>
              </a:defRPr>
            </a:pPr>
            <a:r>
              <a:t>Vulkan Persistent Thread WorkGraph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393192"/>
            <a:ext cx="9875520" cy="47548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2600" b="1">
                <a:solidFill>
                  <a:srgbClr val="111111"/>
                </a:solidFill>
                <a:latin typeface="Arial"/>
              </a:defRPr>
            </a:pPr>
            <a:r>
              <a:t>Measurement framework: separate timing from 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01400" y="283464"/>
            <a:ext cx="384048" cy="256032"/>
          </a:xfrm>
          <a:prstGeom prst="rect">
            <a:avLst/>
          </a:prstGeom>
          <a:solidFill>
            <a:srgbClr val="1F77B4"/>
          </a:solidFill>
          <a:ln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310896"/>
            <a:ext cx="384048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05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896112"/>
            <a:ext cx="11365992" cy="0"/>
          </a:xfrm>
          <a:prstGeom prst="line">
            <a:avLst/>
          </a:prstGeom>
          <a:ln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6510528"/>
            <a:ext cx="2926080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Arial"/>
              </a:defRPr>
            </a:pPr>
            <a:r>
              <a:t>2026-05-25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6510528"/>
            <a:ext cx="3017520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r">
              <a:defRPr sz="700" b="0">
                <a:solidFill>
                  <a:srgbClr val="666666"/>
                </a:solidFill>
                <a:latin typeface="Arial"/>
              </a:defRPr>
            </a:pPr>
            <a:r>
              <a:t>Optimization Evaluation v2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5800" y="1325880"/>
          <a:ext cx="1083564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920240"/>
                <a:gridCol w="3291840"/>
                <a:gridCol w="3611880"/>
              </a:tblGrid>
              <a:tr h="51435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Run type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Purpose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Primary readout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What it supports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Clean timestamp runs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Performance result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Median compute_ms after warmup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Duration and speedup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Counter-enabled runs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Bottleneck diagnosis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CAS fail ratio, backlog, ready-spin, empty-pop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Queue contention behavior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RGP occupancy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Profiler context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Wavefront view and event timing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Tool interpretation boundary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77240" y="3886200"/>
            <a:ext cx="32918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3886200"/>
            <a:ext cx="3291840" cy="73152"/>
          </a:xfrm>
          <a:prstGeom prst="rect">
            <a:avLst/>
          </a:prstGeom>
          <a:solidFill>
            <a:srgbClr val="1F77B4"/>
          </a:solidFill>
          <a:ln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4050791"/>
            <a:ext cx="3145536" cy="38404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2500" b="1">
                <a:solidFill>
                  <a:srgbClr val="1F77B4"/>
                </a:solidFill>
                <a:latin typeface="Arial"/>
              </a:defRPr>
            </a:pPr>
            <a:r>
              <a:t>Timing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489704"/>
            <a:ext cx="3108960" cy="29260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050" b="1">
                <a:solidFill>
                  <a:srgbClr val="333333"/>
                </a:solidFill>
                <a:latin typeface="Arial"/>
              </a:defRPr>
            </a:pPr>
            <a:r>
              <a:t>Clean timestamp runs quantify performance.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34840" y="3886200"/>
            <a:ext cx="32918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34840" y="3886200"/>
            <a:ext cx="3291840" cy="73152"/>
          </a:xfrm>
          <a:prstGeom prst="rect">
            <a:avLst/>
          </a:prstGeom>
          <a:solidFill>
            <a:srgbClr val="D97000"/>
          </a:solidFill>
          <a:ln>
            <a:solidFill>
              <a:srgbClr val="D97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07992" y="4050791"/>
            <a:ext cx="3145536" cy="38404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2500" b="1">
                <a:solidFill>
                  <a:srgbClr val="D97000"/>
                </a:solidFill>
                <a:latin typeface="Arial"/>
              </a:defRPr>
            </a:pPr>
            <a:r>
              <a:t>Counters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79" y="4489704"/>
            <a:ext cx="3108960" cy="29260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050" b="1">
                <a:solidFill>
                  <a:srgbClr val="333333"/>
                </a:solidFill>
                <a:latin typeface="Arial"/>
              </a:defRPr>
            </a:pPr>
            <a:r>
              <a:t>Atomic counters explain queue pressure.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92440" y="3886200"/>
            <a:ext cx="32918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2440" y="3886200"/>
            <a:ext cx="3291840" cy="73152"/>
          </a:xfrm>
          <a:prstGeom prst="rect">
            <a:avLst/>
          </a:prstGeom>
          <a:solidFill>
            <a:srgbClr val="6E6E6E"/>
          </a:solidFill>
          <a:ln>
            <a:solidFill>
              <a:srgbClr val="6E6E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65592" y="4050791"/>
            <a:ext cx="3145536" cy="38404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2500" b="1">
                <a:solidFill>
                  <a:srgbClr val="6E6E6E"/>
                </a:solidFill>
                <a:latin typeface="Arial"/>
              </a:defRPr>
            </a:pPr>
            <a:r>
              <a:t>Profiler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79" y="4489704"/>
            <a:ext cx="3108960" cy="29260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050" b="1">
                <a:solidFill>
                  <a:srgbClr val="333333"/>
                </a:solidFill>
                <a:latin typeface="Arial"/>
              </a:defRPr>
            </a:pPr>
            <a:r>
              <a:t>RGP provides context, not standalone proof.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440680"/>
            <a:ext cx="10332720" cy="50292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350" b="1">
                <a:solidFill>
                  <a:srgbClr val="111111"/>
                </a:solidFill>
                <a:latin typeface="Arial"/>
              </a:defRPr>
            </a:pPr>
            <a:r>
              <a:t>This separation keeps duration numbers comparable while still exposing why each optimization changed the queue behavior.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7498079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850" b="1">
                <a:solidFill>
                  <a:srgbClr val="666666"/>
                </a:solidFill>
                <a:latin typeface="Arial"/>
              </a:defRPr>
            </a:pPr>
            <a:r>
              <a:t>Vulkan Persistent Thread WorkGraph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393192"/>
            <a:ext cx="9875520" cy="47548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2600" b="1">
                <a:solidFill>
                  <a:srgbClr val="111111"/>
                </a:solidFill>
                <a:latin typeface="Arial"/>
              </a:defRPr>
            </a:pPr>
            <a:r>
              <a:t>Atomic metrics interpretation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01400" y="283464"/>
            <a:ext cx="384048" cy="256032"/>
          </a:xfrm>
          <a:prstGeom prst="rect">
            <a:avLst/>
          </a:prstGeom>
          <a:solidFill>
            <a:srgbClr val="1F77B4"/>
          </a:solidFill>
          <a:ln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310896"/>
            <a:ext cx="384048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06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896112"/>
            <a:ext cx="11365992" cy="0"/>
          </a:xfrm>
          <a:prstGeom prst="line">
            <a:avLst/>
          </a:prstGeom>
          <a:ln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6510528"/>
            <a:ext cx="2926080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Arial"/>
              </a:defRPr>
            </a:pPr>
            <a:r>
              <a:t>2026-05-25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6510528"/>
            <a:ext cx="3017520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r">
              <a:defRPr sz="700" b="0">
                <a:solidFill>
                  <a:srgbClr val="666666"/>
                </a:solidFill>
                <a:latin typeface="Arial"/>
              </a:defRPr>
            </a:pPr>
            <a:r>
              <a:t>Optimization Evaluation v2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1234440"/>
          <a:ext cx="110185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/>
                <a:gridCol w="4023360"/>
                <a:gridCol w="4754880"/>
              </a:tblGrid>
              <a:tr h="548640">
                <a:tc>
                  <a:txBody>
                    <a:bodyPr/>
                    <a:lstStyle/>
                    <a:p>
                      <a:pPr>
                        <a:defRPr sz="98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Metric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Interpretation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Decision use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CAS fail per success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Many lanes or workgroups retry the same queue state.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High contention; sharding should reduce this.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Attempts vs success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Control path does repeated work without throughput.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Detects wasted polling.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Queue high-water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Producer/consumer balance and backlog.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Shows B/C balance and Q2 pressure.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Ready-spin / empty-pop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Consumers claimed or probed before useful work was ready.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Explains request batching regressions.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Clean vs counter runs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Timing and diagnosis are collected separately.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Keeps performance and cause analysis comparable.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31520" y="4892040"/>
            <a:ext cx="10607040" cy="59436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450" b="1">
                <a:solidFill>
                  <a:srgbClr val="111111"/>
                </a:solidFill>
                <a:latin typeface="Arial"/>
              </a:defRPr>
            </a:pPr>
            <a:r>
              <a:t>The bottleneck diagnosis is strongest when clean duration and atomic metrics move in the same direction.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7498079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850" b="1">
                <a:solidFill>
                  <a:srgbClr val="666666"/>
                </a:solidFill>
                <a:latin typeface="Arial"/>
              </a:defRPr>
            </a:pPr>
            <a:r>
              <a:t>Vulkan Persistent Thread WorkGraph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393192"/>
            <a:ext cx="9875520" cy="47548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2600" b="1">
                <a:solidFill>
                  <a:srgbClr val="111111"/>
                </a:solidFill>
                <a:latin typeface="Arial"/>
              </a:defRPr>
            </a:pPr>
            <a:r>
              <a:t>Bottleneck timeline: median clean compute_ms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01400" y="283464"/>
            <a:ext cx="384048" cy="256032"/>
          </a:xfrm>
          <a:prstGeom prst="rect">
            <a:avLst/>
          </a:prstGeom>
          <a:solidFill>
            <a:srgbClr val="1F77B4"/>
          </a:solidFill>
          <a:ln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310896"/>
            <a:ext cx="384048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07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896112"/>
            <a:ext cx="11365992" cy="0"/>
          </a:xfrm>
          <a:prstGeom prst="line">
            <a:avLst/>
          </a:prstGeom>
          <a:ln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6510528"/>
            <a:ext cx="2926080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Arial"/>
              </a:defRPr>
            </a:pPr>
            <a:r>
              <a:t>2026-05-25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6510528"/>
            <a:ext cx="3017520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r">
              <a:defRPr sz="700" b="0">
                <a:solidFill>
                  <a:srgbClr val="666666"/>
                </a:solidFill>
                <a:latin typeface="Arial"/>
              </a:defRPr>
            </a:pPr>
            <a:r>
              <a:t>Optimization Evaluation v2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143000"/>
          <a:ext cx="6309359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3977639"/>
                <a:gridCol w="1005840"/>
              </a:tblGrid>
              <a:tr h="515982">
                <a:tc>
                  <a:txBody>
                    <a:bodyPr/>
                    <a:lstStyle/>
                    <a:p>
                      <a:pPr>
                        <a:defRPr sz="89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Stage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9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Config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9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Median ms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</a:tr>
              <a:tr h="515982">
                <a:tc>
                  <a:txBody>
                    <a:bodyPr/>
                    <a:lstStyle/>
                    <a:p>
                      <a:pPr>
                        <a:defRPr sz="89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Baseline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9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Q1 batch on, Q2 scalar, C=24/B=72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9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30.7499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15982">
                <a:tc>
                  <a:txBody>
                    <a:bodyPr/>
                    <a:lstStyle/>
                    <a:p>
                      <a:pPr>
                        <a:defRPr sz="89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B/C ratio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9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C=40/B=56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9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27.8938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15982">
                <a:tc>
                  <a:txBody>
                    <a:bodyPr/>
                    <a:lstStyle/>
                    <a:p>
                      <a:pPr>
                        <a:defRPr sz="89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Q1 sharding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9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Q1s16/Q2s1, C=38/B=58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9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13.7416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15982">
                <a:tc>
                  <a:txBody>
                    <a:bodyPr/>
                    <a:lstStyle/>
                    <a:p>
                      <a:pPr>
                        <a:defRPr sz="89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Q2 sharding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9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Q1s16/Q2s16, C=16/B=80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9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5.5708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15982">
                <a:tc>
                  <a:txBody>
                    <a:bodyPr/>
                    <a:lstStyle/>
                    <a:p>
                      <a:pPr>
                        <a:defRPr sz="89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Q1 lane-pop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9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Q1s16/Q2s16, C=24/B=72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9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3.8509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15988">
                <a:tc>
                  <a:txBody>
                    <a:bodyPr/>
                    <a:lstStyle/>
                    <a:p>
                      <a:pPr>
                        <a:defRPr sz="89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High shard scaling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9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Q1s256/Q2s256, C=24/B=72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9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0.9868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0" name="Picture 9" descr="timeline_median_comp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234440"/>
            <a:ext cx="4389120" cy="14934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5800" y="5166360"/>
            <a:ext cx="10332720" cy="50292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450" b="1">
                <a:solidFill>
                  <a:srgbClr val="2E7D32"/>
                </a:solidFill>
                <a:latin typeface="Arial"/>
              </a:defRPr>
            </a:pPr>
            <a:r>
              <a:t>Every major improvement corresponds to reducing or distributing queue atomic contention.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7498079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850" b="1">
                <a:solidFill>
                  <a:srgbClr val="666666"/>
                </a:solidFill>
                <a:latin typeface="Arial"/>
              </a:defRPr>
            </a:pPr>
            <a:r>
              <a:t>Vulkan Persistent Thread WorkGraph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393192"/>
            <a:ext cx="9875520" cy="47548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2600" b="1">
                <a:solidFill>
                  <a:srgbClr val="111111"/>
                </a:solidFill>
                <a:latin typeface="Arial"/>
              </a:defRPr>
            </a:pPr>
            <a:r>
              <a:t>Optimization 1: B/C ratio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01400" y="283464"/>
            <a:ext cx="384048" cy="256032"/>
          </a:xfrm>
          <a:prstGeom prst="rect">
            <a:avLst/>
          </a:prstGeom>
          <a:solidFill>
            <a:srgbClr val="1F77B4"/>
          </a:solidFill>
          <a:ln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310896"/>
            <a:ext cx="384048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08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896112"/>
            <a:ext cx="11365992" cy="0"/>
          </a:xfrm>
          <a:prstGeom prst="line">
            <a:avLst/>
          </a:prstGeom>
          <a:ln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6510528"/>
            <a:ext cx="2926080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Arial"/>
              </a:defRPr>
            </a:pPr>
            <a:r>
              <a:t>2026-05-25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6510528"/>
            <a:ext cx="3017520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r">
              <a:defRPr sz="700" b="0">
                <a:solidFill>
                  <a:srgbClr val="666666"/>
                </a:solidFill>
                <a:latin typeface="Arial"/>
              </a:defRPr>
            </a:pPr>
            <a:r>
              <a:t>Optimization Evaluation v2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325880"/>
          <a:ext cx="374904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325880"/>
                <a:gridCol w="1325880"/>
              </a:tblGrid>
              <a:tr h="37338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C/B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Median ms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Avg ms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24/72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30.7499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30.3533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32/64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28.5262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28.4431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40/56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27.8938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27.9742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48/48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28.5412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28.5873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64/32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30.2860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30.2509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074920" y="1325880"/>
            <a:ext cx="61722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303520" y="1554480"/>
            <a:ext cx="914400" cy="256032"/>
          </a:xfrm>
          <a:prstGeom prst="rect">
            <a:avLst/>
          </a:prstGeom>
          <a:solidFill>
            <a:srgbClr val="1F77B4"/>
          </a:solidFill>
          <a:ln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0" y="1581912"/>
            <a:ext cx="914400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1965960"/>
            <a:ext cx="5440680" cy="329184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700" b="1">
                <a:solidFill>
                  <a:srgbClr val="1F77B4"/>
                </a:solidFill>
                <a:latin typeface="Arial"/>
              </a:defRPr>
            </a:pPr>
            <a:r>
              <a:t>What this stage proved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2423160"/>
            <a:ext cx="5440680" cy="82296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333333"/>
                </a:solidFill>
                <a:latin typeface="Arial"/>
              </a:defRPr>
            </a:pPr>
            <a:r>
              <a:t>- Increasing Node C writers reduced Q2 backlog.</a:t>
            </a:r>
          </a:p>
          <a:p>
            <a:pPr>
              <a:spcAft>
                <a:spcPts val="500"/>
              </a:spcAft>
              <a:defRPr sz="1250">
                <a:solidFill>
                  <a:srgbClr val="333333"/>
                </a:solidFill>
                <a:latin typeface="Arial"/>
              </a:defRPr>
            </a:pPr>
            <a:r>
              <a:t>- C=40/B=56 improved median compute, but queue contention remained the larger bottleneck.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4160520"/>
            <a:ext cx="23317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4160520"/>
            <a:ext cx="2331720" cy="73152"/>
          </a:xfrm>
          <a:prstGeom prst="rect">
            <a:avLst/>
          </a:prstGeom>
          <a:solidFill>
            <a:srgbClr val="1F77B4"/>
          </a:solidFill>
          <a:ln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325112"/>
            <a:ext cx="2185415" cy="38404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2500" b="1">
                <a:solidFill>
                  <a:srgbClr val="1F77B4"/>
                </a:solidFill>
                <a:latin typeface="Arial"/>
              </a:defRPr>
            </a:pPr>
            <a:r>
              <a:t>50k -&gt; 9k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764024"/>
            <a:ext cx="2148839" cy="29260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050" b="1">
                <a:solidFill>
                  <a:srgbClr val="333333"/>
                </a:solidFill>
                <a:latin typeface="Arial"/>
              </a:defRPr>
            </a:pPr>
            <a:r>
              <a:t>Q2 high-water trend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056631"/>
            <a:ext cx="2148839" cy="2286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850" b="0">
                <a:solidFill>
                  <a:srgbClr val="666666"/>
                </a:solidFill>
                <a:latin typeface="Arial"/>
              </a:defRPr>
            </a:pPr>
            <a:r>
              <a:t>counter-enabled runs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720" y="4160520"/>
            <a:ext cx="23317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74720" y="4160520"/>
            <a:ext cx="2331720" cy="73152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47872" y="4325112"/>
            <a:ext cx="2185415" cy="38404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2500" b="1">
                <a:solidFill>
                  <a:srgbClr val="2E7D32"/>
                </a:solidFill>
                <a:latin typeface="Arial"/>
              </a:defRPr>
            </a:pPr>
            <a:r>
              <a:t>30.75 -&gt; 27.89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4764024"/>
            <a:ext cx="2148839" cy="29260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050" b="1">
                <a:solidFill>
                  <a:srgbClr val="333333"/>
                </a:solidFill>
                <a:latin typeface="Arial"/>
              </a:defRPr>
            </a:pPr>
            <a:r>
              <a:t>Median 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5056631"/>
            <a:ext cx="2148839" cy="2286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850" b="0">
                <a:solidFill>
                  <a:srgbClr val="666666"/>
                </a:solidFill>
                <a:latin typeface="Arial"/>
              </a:defRPr>
            </a:pPr>
            <a:r>
              <a:t>clean runs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4315968"/>
            <a:ext cx="4663440" cy="73152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350" b="1">
                <a:solidFill>
                  <a:srgbClr val="111111"/>
                </a:solidFill>
                <a:latin typeface="Arial"/>
              </a:defRPr>
            </a:pPr>
            <a:r>
              <a:t>Interpretation: writer balance matters, but it does not remove the single hot queue state.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7498079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850" b="1">
                <a:solidFill>
                  <a:srgbClr val="666666"/>
                </a:solidFill>
                <a:latin typeface="Arial"/>
              </a:defRPr>
            </a:pPr>
            <a:r>
              <a:t>Vulkan Persistent Thread WorkGraph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393192"/>
            <a:ext cx="9875520" cy="47548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2600" b="1">
                <a:solidFill>
                  <a:srgbClr val="111111"/>
                </a:solidFill>
                <a:latin typeface="Arial"/>
              </a:defRPr>
            </a:pPr>
            <a:r>
              <a:t>Optimization 2: Q1 sharding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01400" y="283464"/>
            <a:ext cx="384048" cy="256032"/>
          </a:xfrm>
          <a:prstGeom prst="rect">
            <a:avLst/>
          </a:prstGeom>
          <a:solidFill>
            <a:srgbClr val="1F77B4"/>
          </a:solidFill>
          <a:ln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310896"/>
            <a:ext cx="384048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09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896112"/>
            <a:ext cx="11365992" cy="0"/>
          </a:xfrm>
          <a:prstGeom prst="line">
            <a:avLst/>
          </a:prstGeom>
          <a:ln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6510528"/>
            <a:ext cx="2926080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Arial"/>
              </a:defRPr>
            </a:pPr>
            <a:r>
              <a:t>2026-05-25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6510528"/>
            <a:ext cx="3017520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r">
              <a:defRPr sz="700" b="0">
                <a:solidFill>
                  <a:srgbClr val="666666"/>
                </a:solidFill>
                <a:latin typeface="Arial"/>
              </a:defRPr>
            </a:pPr>
            <a:r>
              <a:t>Optimization Evaluation v2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1234440"/>
          <a:ext cx="4572000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960120"/>
                <a:gridCol w="1234440"/>
                <a:gridCol w="1234440"/>
              </a:tblGrid>
              <a:tr h="434340">
                <a:tc>
                  <a:txBody>
                    <a:bodyPr/>
                    <a:lstStyle/>
                    <a:p>
                      <a:pPr>
                        <a:defRPr sz="96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Q1 shards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C/B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Median ms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Avg ms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40/56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23.3164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23.2366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40/56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17.9518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17.9043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36/60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13.9788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13.9523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38/58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13.7416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13.7046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40/56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14.1297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14.084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943600" y="1417320"/>
            <a:ext cx="1737360" cy="868680"/>
          </a:xfrm>
          <a:prstGeom prst="rect">
            <a:avLst/>
          </a:prstGeom>
          <a:solidFill>
            <a:srgbClr val="FFFFFF"/>
          </a:solidFill>
          <a:ln w="17780">
            <a:solidFill>
              <a:srgbClr val="D97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16752" y="1527048"/>
            <a:ext cx="1591056" cy="2286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150" b="1">
                <a:solidFill>
                  <a:srgbClr val="D97000"/>
                </a:solidFill>
                <a:latin typeface="Arial"/>
              </a:defRPr>
            </a:pPr>
            <a:r>
              <a:t>Before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16752" y="1828800"/>
            <a:ext cx="1591056" cy="411479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869" b="0">
                <a:solidFill>
                  <a:srgbClr val="333333"/>
                </a:solidFill>
                <a:latin typeface="Arial"/>
              </a:defRPr>
            </a:pPr>
            <a:r>
              <a:t>Single Q1 queue</a:t>
            </a:r>
            <a:br/>
            <a:r>
              <a:t>hot count/head/tail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818120" y="1847088"/>
            <a:ext cx="640080" cy="0"/>
          </a:xfrm>
          <a:prstGeom prst="line">
            <a:avLst/>
          </a:prstGeom>
          <a:ln w="2032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8641080" y="1417320"/>
            <a:ext cx="2194560" cy="868680"/>
          </a:xfrm>
          <a:prstGeom prst="rect">
            <a:avLst/>
          </a:prstGeom>
          <a:solidFill>
            <a:srgbClr val="FFFFFF"/>
          </a:solidFill>
          <a:ln w="1778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14232" y="1527048"/>
            <a:ext cx="2048255" cy="2286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150" b="1">
                <a:solidFill>
                  <a:srgbClr val="2E7D32"/>
                </a:solidFill>
                <a:latin typeface="Arial"/>
              </a:defRPr>
            </a:pPr>
            <a:r>
              <a:t>After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14232" y="1828800"/>
            <a:ext cx="2048255" cy="411479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869" b="0">
                <a:solidFill>
                  <a:srgbClr val="333333"/>
                </a:solidFill>
                <a:latin typeface="Arial"/>
              </a:defRPr>
            </a:pPr>
            <a:r>
              <a:t>Q1 split across shards</a:t>
            </a:r>
            <a:br/>
            <a:r>
              <a:t>same queue protocol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2743200"/>
            <a:ext cx="5029200" cy="123444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>
              <a:spcAft>
                <a:spcPts val="500"/>
              </a:spcAft>
              <a:defRPr sz="1230">
                <a:solidFill>
                  <a:srgbClr val="333333"/>
                </a:solidFill>
                <a:latin typeface="Arial"/>
              </a:defRPr>
            </a:pPr>
            <a:r>
              <a:t>- Q1 sharding turns one global atomic hotspot into multiple smaller hotspots.</a:t>
            </a:r>
          </a:p>
          <a:p>
            <a:pPr>
              <a:spcAft>
                <a:spcPts val="500"/>
              </a:spcAft>
              <a:defRPr sz="1230">
                <a:solidFill>
                  <a:srgbClr val="333333"/>
                </a:solidFill>
                <a:latin typeface="Arial"/>
              </a:defRPr>
            </a:pPr>
            <a:r>
              <a:t>- After Q1 pressure drops, Q2 queue pressure becomes the next clear bottleneck.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343400"/>
            <a:ext cx="2423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4343400"/>
            <a:ext cx="2423160" cy="73152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4507992"/>
            <a:ext cx="2276856" cy="38404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2500" b="1">
                <a:solidFill>
                  <a:srgbClr val="2E7D32"/>
                </a:solidFill>
                <a:latin typeface="Arial"/>
              </a:defRPr>
            </a:pPr>
            <a:r>
              <a:t>13.74 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946904"/>
            <a:ext cx="2240279" cy="29260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050" b="1">
                <a:solidFill>
                  <a:srgbClr val="333333"/>
                </a:solidFill>
                <a:latin typeface="Arial"/>
              </a:defRPr>
            </a:pPr>
            <a:r>
              <a:t>Q1s16/Q2s1 median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4498848"/>
            <a:ext cx="7132320" cy="59436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400" b="1">
                <a:solidFill>
                  <a:srgbClr val="111111"/>
                </a:solidFill>
                <a:latin typeface="Arial"/>
              </a:defRPr>
            </a:pPr>
            <a:r>
              <a:t>The improvement stacks with B/C tuning, which supports the contention hypothesis.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7498079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850" b="1">
                <a:solidFill>
                  <a:srgbClr val="666666"/>
                </a:solidFill>
                <a:latin typeface="Arial"/>
              </a:defRPr>
            </a:pPr>
            <a:r>
              <a:t>Vulkan Persistent Thread WorkGraph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393192"/>
            <a:ext cx="9875520" cy="47548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2600" b="1">
                <a:solidFill>
                  <a:srgbClr val="111111"/>
                </a:solidFill>
                <a:latin typeface="Arial"/>
              </a:defRPr>
            </a:pPr>
            <a:r>
              <a:t>Optimization 3: Q2 sharding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01400" y="283464"/>
            <a:ext cx="384048" cy="256032"/>
          </a:xfrm>
          <a:prstGeom prst="rect">
            <a:avLst/>
          </a:prstGeom>
          <a:solidFill>
            <a:srgbClr val="1F77B4"/>
          </a:solidFill>
          <a:ln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310896"/>
            <a:ext cx="384048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10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896112"/>
            <a:ext cx="11365992" cy="0"/>
          </a:xfrm>
          <a:prstGeom prst="line">
            <a:avLst/>
          </a:prstGeom>
          <a:ln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6510528"/>
            <a:ext cx="2926080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Arial"/>
              </a:defRPr>
            </a:pPr>
            <a:r>
              <a:t>2026-05-25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6510528"/>
            <a:ext cx="3017520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r">
              <a:defRPr sz="700" b="0">
                <a:solidFill>
                  <a:srgbClr val="666666"/>
                </a:solidFill>
                <a:latin typeface="Arial"/>
              </a:defRPr>
            </a:pPr>
            <a:r>
              <a:t>Optimization Evaluation v2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1234440"/>
          <a:ext cx="4389120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1143000"/>
                <a:gridCol w="1143000"/>
                <a:gridCol w="1051560"/>
              </a:tblGrid>
              <a:tr h="434340">
                <a:tc>
                  <a:txBody>
                    <a:bodyPr/>
                    <a:lstStyle/>
                    <a:p>
                      <a:pPr>
                        <a:defRPr sz="96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Q2 shards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Median ms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Avg ms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Speedup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16.9962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16.9529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10.2455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10.2431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1.655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8.3799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8.3824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2.022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6.8738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6.8656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2.469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6.0924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6.0839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2.787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486400" y="1234440"/>
            <a:ext cx="566928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15000" y="1490472"/>
            <a:ext cx="914400" cy="256032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15000" y="1517904"/>
            <a:ext cx="914400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READOUT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0" y="1901952"/>
            <a:ext cx="5029200" cy="34747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700" b="1">
                <a:solidFill>
                  <a:srgbClr val="2E7D32"/>
                </a:solidFill>
                <a:latin typeface="Arial"/>
              </a:defRPr>
            </a:pPr>
            <a:r>
              <a:t>Second major structural optimization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0" y="2377440"/>
            <a:ext cx="502920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>
              <a:spcAft>
                <a:spcPts val="500"/>
              </a:spcAft>
              <a:defRPr sz="1230">
                <a:solidFill>
                  <a:srgbClr val="333333"/>
                </a:solidFill>
                <a:latin typeface="Arial"/>
              </a:defRPr>
            </a:pPr>
            <a:r>
              <a:t>- Q1 sharding exposed Q2 count/head/tail as the next global pressure point.</a:t>
            </a:r>
          </a:p>
          <a:p>
            <a:pPr>
              <a:spcAft>
                <a:spcPts val="500"/>
              </a:spcAft>
              <a:defRPr sz="1230">
                <a:solidFill>
                  <a:srgbClr val="333333"/>
                </a:solidFill>
                <a:latin typeface="Arial"/>
              </a:defRPr>
            </a:pPr>
            <a:r>
              <a:t>- Q2 sharding lowered median compute to about 5.57 ms after B/C rebalance.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4343400"/>
            <a:ext cx="2423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4343400"/>
            <a:ext cx="2423160" cy="73152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07992"/>
            <a:ext cx="2276856" cy="38404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2500" b="1">
                <a:solidFill>
                  <a:srgbClr val="2E7D32"/>
                </a:solidFill>
                <a:latin typeface="Arial"/>
              </a:defRPr>
            </a:pPr>
            <a:r>
              <a:t>5.57 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946904"/>
            <a:ext cx="2240279" cy="29260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050" b="1">
                <a:solidFill>
                  <a:srgbClr val="333333"/>
                </a:solidFill>
                <a:latin typeface="Arial"/>
              </a:defRPr>
            </a:pPr>
            <a:r>
              <a:t>Q1s16/Q2s16 median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66160" y="4343400"/>
            <a:ext cx="2423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66160" y="4343400"/>
            <a:ext cx="2423160" cy="73152"/>
          </a:xfrm>
          <a:prstGeom prst="rect">
            <a:avLst/>
          </a:prstGeom>
          <a:solidFill>
            <a:srgbClr val="1F77B4"/>
          </a:solidFill>
          <a:ln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39312" y="4507992"/>
            <a:ext cx="2276856" cy="38404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2500" b="1">
                <a:solidFill>
                  <a:srgbClr val="1F77B4"/>
                </a:solidFill>
                <a:latin typeface="Arial"/>
              </a:defRPr>
            </a:pPr>
            <a:r>
              <a:t>2.79x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4946904"/>
            <a:ext cx="2240279" cy="29260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050" b="1">
                <a:solidFill>
                  <a:srgbClr val="333333"/>
                </a:solidFill>
                <a:latin typeface="Arial"/>
              </a:defRPr>
            </a:pPr>
            <a:r>
              <a:t>vs Q2s1 in sweep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4480560"/>
            <a:ext cx="4663440" cy="59436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400" b="1">
                <a:solidFill>
                  <a:srgbClr val="111111"/>
                </a:solidFill>
                <a:latin typeface="Arial"/>
              </a:defRPr>
            </a:pPr>
            <a:r>
              <a:t>The repeated pattern is not general compute optimization. It is queue hotspot removal.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7498079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850" b="1">
                <a:solidFill>
                  <a:srgbClr val="666666"/>
                </a:solidFill>
                <a:latin typeface="Arial"/>
              </a:defRPr>
            </a:pPr>
            <a:r>
              <a:t>Vulkan Persistent Thread WorkGraph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393192"/>
            <a:ext cx="9875520" cy="47548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2600" b="1">
                <a:solidFill>
                  <a:srgbClr val="111111"/>
                </a:solidFill>
                <a:latin typeface="Arial"/>
              </a:defRPr>
            </a:pPr>
            <a:r>
              <a:t>Optimization 4: Q1 lane-pop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01400" y="283464"/>
            <a:ext cx="384048" cy="256032"/>
          </a:xfrm>
          <a:prstGeom prst="rect">
            <a:avLst/>
          </a:prstGeom>
          <a:solidFill>
            <a:srgbClr val="1F77B4"/>
          </a:solidFill>
          <a:ln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310896"/>
            <a:ext cx="384048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11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896112"/>
            <a:ext cx="11365992" cy="0"/>
          </a:xfrm>
          <a:prstGeom prst="line">
            <a:avLst/>
          </a:prstGeom>
          <a:ln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6510528"/>
            <a:ext cx="2926080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Arial"/>
              </a:defRPr>
            </a:pPr>
            <a:r>
              <a:t>2026-05-25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6510528"/>
            <a:ext cx="3017520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r">
              <a:defRPr sz="700" b="0">
                <a:solidFill>
                  <a:srgbClr val="666666"/>
                </a:solidFill>
                <a:latin typeface="Arial"/>
              </a:defRPr>
            </a:pPr>
            <a:r>
              <a:t>Optimization Evaluation v2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1234440"/>
          <a:ext cx="548640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/>
                <a:gridCol w="914400"/>
                <a:gridCol w="822960"/>
                <a:gridCol w="777240"/>
              </a:tblGrid>
              <a:tr h="537210">
                <a:tc>
                  <a:txBody>
                    <a:bodyPr/>
                    <a:lstStyle/>
                    <a:p>
                      <a:pPr>
                        <a:defRPr sz="94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Mode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Median ms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Avg ms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Min ms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94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lane-pop off, C=16/B=80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5.60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6.01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5.54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94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lane-pop on, C=16/B=80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4.00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4.39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3.90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94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lane-pop on, C=24/B=72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3.8509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3.8526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3.7292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583680" y="1234440"/>
            <a:ext cx="47091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12280" y="1508760"/>
            <a:ext cx="4160520" cy="329184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700" b="1">
                <a:solidFill>
                  <a:srgbClr val="1F77B4"/>
                </a:solidFill>
                <a:latin typeface="Arial"/>
              </a:defRPr>
            </a:pPr>
            <a:r>
              <a:t>Scan-start change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1920240"/>
            <a:ext cx="4069080" cy="41148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200" b="1">
                <a:solidFill>
                  <a:srgbClr val="D97000"/>
                </a:solidFill>
                <a:latin typeface="Arial"/>
              </a:defRPr>
            </a:pPr>
            <a:r>
              <a:t>Old: wgId % Q1_QUEUE_SHARDS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2395728"/>
            <a:ext cx="4069080" cy="4572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100" b="1">
                <a:solidFill>
                  <a:srgbClr val="2E7D32"/>
                </a:solidFill>
                <a:latin typeface="Arial"/>
              </a:defRPr>
            </a:pPr>
            <a:r>
              <a:t>New: (wgId * local_size_x + localId) % Q1_QUEUE_SHARDS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977639"/>
            <a:ext cx="10424160" cy="82296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450" b="1">
                <a:solidFill>
                  <a:srgbClr val="111111"/>
                </a:solidFill>
                <a:latin typeface="Arial"/>
              </a:defRPr>
            </a:pPr>
            <a:r>
              <a:t>This is not request batching. It keeps the queue protocol but diversifies where lanes begin scanning, reducing avoidable local shard contention.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7498079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850" b="1">
                <a:solidFill>
                  <a:srgbClr val="666666"/>
                </a:solidFill>
                <a:latin typeface="Arial"/>
              </a:defRPr>
            </a:pPr>
            <a:r>
              <a:t>Vulkan Persistent Thread WorkGraph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393192"/>
            <a:ext cx="9875520" cy="47548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2600" b="1">
                <a:solidFill>
                  <a:srgbClr val="111111"/>
                </a:solidFill>
                <a:latin typeface="Arial"/>
              </a:defRPr>
            </a:pPr>
            <a:r>
              <a:t>Optimization 5: high shard scaling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01400" y="283464"/>
            <a:ext cx="384048" cy="256032"/>
          </a:xfrm>
          <a:prstGeom prst="rect">
            <a:avLst/>
          </a:prstGeom>
          <a:solidFill>
            <a:srgbClr val="1F77B4"/>
          </a:solidFill>
          <a:ln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310896"/>
            <a:ext cx="384048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12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896112"/>
            <a:ext cx="11365992" cy="0"/>
          </a:xfrm>
          <a:prstGeom prst="line">
            <a:avLst/>
          </a:prstGeom>
          <a:ln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6510528"/>
            <a:ext cx="2926080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Arial"/>
              </a:defRPr>
            </a:pPr>
            <a:r>
              <a:t>2026-05-25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6510528"/>
            <a:ext cx="3017520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r">
              <a:defRPr sz="700" b="0">
                <a:solidFill>
                  <a:srgbClr val="666666"/>
                </a:solidFill>
                <a:latin typeface="Arial"/>
              </a:defRPr>
            </a:pPr>
            <a:r>
              <a:t>Optimization Evaluation v2</a:t>
            </a:r>
          </a:p>
        </p:txBody>
      </p:sp>
      <p:pic>
        <p:nvPicPr>
          <p:cNvPr id="9" name="Picture 8" descr="high_shard_scaling_medi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6400800" cy="2166359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452360" y="1234440"/>
          <a:ext cx="361188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1280160"/>
                <a:gridCol w="1280160"/>
              </a:tblGrid>
              <a:tr h="33528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Q1/Q2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Median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P90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3.8509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3.8998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2.4002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2.4205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64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1.5427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1.5572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128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1.1372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1.1545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192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1.0808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1.0969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256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0.9868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1.0068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384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1.0478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1.0688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512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1.1178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1.1342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868680" y="4892040"/>
            <a:ext cx="23774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4892040"/>
            <a:ext cx="2377440" cy="73152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5056631"/>
            <a:ext cx="2231136" cy="38404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2500" b="1">
                <a:solidFill>
                  <a:srgbClr val="2E7D32"/>
                </a:solidFill>
                <a:latin typeface="Arial"/>
              </a:defRPr>
            </a:pPr>
            <a:r>
              <a:t>256 / 256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5495544"/>
            <a:ext cx="2194560" cy="29260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050" b="1">
                <a:solidFill>
                  <a:srgbClr val="333333"/>
                </a:solidFill>
                <a:latin typeface="Arial"/>
              </a:defRPr>
            </a:pPr>
            <a:r>
              <a:t>Adopted default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4983480"/>
            <a:ext cx="7223760" cy="6858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400" b="1">
                <a:solidFill>
                  <a:srgbClr val="111111"/>
                </a:solidFill>
                <a:latin typeface="Arial"/>
              </a:defRPr>
            </a:pPr>
            <a:r>
              <a:t>256 shards is the effective range in this architecture. Higher counts begin losing benefit to probing and indexing overhead.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7498079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850" b="1">
                <a:solidFill>
                  <a:srgbClr val="666666"/>
                </a:solidFill>
                <a:latin typeface="Arial"/>
              </a:defRPr>
            </a:pPr>
            <a:r>
              <a:t>Vulkan Persistent Thread WorkGraph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393192"/>
            <a:ext cx="9875520" cy="47548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2600" b="1">
                <a:solidFill>
                  <a:srgbClr val="111111"/>
                </a:solidFill>
                <a:latin typeface="Arial"/>
              </a:defRPr>
            </a:pPr>
            <a:r>
              <a:t>Request batching: why the idea was plausible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01400" y="283464"/>
            <a:ext cx="384048" cy="256032"/>
          </a:xfrm>
          <a:prstGeom prst="rect">
            <a:avLst/>
          </a:prstGeom>
          <a:solidFill>
            <a:srgbClr val="1F77B4"/>
          </a:solidFill>
          <a:ln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310896"/>
            <a:ext cx="384048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13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896112"/>
            <a:ext cx="11365992" cy="0"/>
          </a:xfrm>
          <a:prstGeom prst="line">
            <a:avLst/>
          </a:prstGeom>
          <a:ln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6510528"/>
            <a:ext cx="2926080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Arial"/>
              </a:defRPr>
            </a:pPr>
            <a:r>
              <a:t>2026-05-25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6510528"/>
            <a:ext cx="3017520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r">
              <a:defRPr sz="700" b="0">
                <a:solidFill>
                  <a:srgbClr val="666666"/>
                </a:solidFill>
                <a:latin typeface="Arial"/>
              </a:defRPr>
            </a:pPr>
            <a:r>
              <a:t>Optimization Evaluation v2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417320"/>
            <a:ext cx="2057400" cy="914400"/>
          </a:xfrm>
          <a:prstGeom prst="rect">
            <a:avLst/>
          </a:prstGeom>
          <a:solidFill>
            <a:srgbClr val="FFFFFF"/>
          </a:solidFill>
          <a:ln w="17780">
            <a:solidFill>
              <a:srgbClr val="D97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527048"/>
            <a:ext cx="1911095" cy="2286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150" b="1">
                <a:solidFill>
                  <a:srgbClr val="D97000"/>
                </a:solidFill>
                <a:latin typeface="Arial"/>
              </a:defRPr>
            </a:pPr>
            <a:r>
              <a:t>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828800"/>
            <a:ext cx="1911095" cy="4572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869" b="0">
                <a:solidFill>
                  <a:srgbClr val="333333"/>
                </a:solidFill>
                <a:latin typeface="Arial"/>
              </a:defRPr>
            </a:pPr>
            <a:r>
              <a:t>Per-item dequeue CAS</a:t>
            </a:r>
            <a:br/>
            <a:r>
              <a:t>creates heavy retry traffic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926080" y="1874519"/>
            <a:ext cx="731520" cy="0"/>
          </a:xfrm>
          <a:prstGeom prst="line">
            <a:avLst/>
          </a:prstGeom>
          <a:ln w="2032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3794760" y="1417320"/>
            <a:ext cx="2057400" cy="914400"/>
          </a:xfrm>
          <a:prstGeom prst="rect">
            <a:avLst/>
          </a:prstGeom>
          <a:solidFill>
            <a:srgbClr val="FFFFFF"/>
          </a:solidFill>
          <a:ln w="17780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67912" y="1527048"/>
            <a:ext cx="1911095" cy="2286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150" b="1">
                <a:solidFill>
                  <a:srgbClr val="1F77B4"/>
                </a:solidFill>
                <a:latin typeface="Arial"/>
              </a:defRPr>
            </a:pPr>
            <a:r>
              <a:t>Idea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67912" y="1828800"/>
            <a:ext cx="1911095" cy="4572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869" b="0">
                <a:solidFill>
                  <a:srgbClr val="333333"/>
                </a:solidFill>
                <a:latin typeface="Arial"/>
              </a:defRPr>
            </a:pPr>
            <a:r>
              <a:t>One subgroup claim</a:t>
            </a:r>
            <a:br/>
            <a:r>
              <a:t>reserves multiple slots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35040" y="1874519"/>
            <a:ext cx="731520" cy="0"/>
          </a:xfrm>
          <a:prstGeom prst="line">
            <a:avLst/>
          </a:prstGeom>
          <a:ln w="2032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6903720" y="1417320"/>
            <a:ext cx="2057400" cy="914400"/>
          </a:xfrm>
          <a:prstGeom prst="rect">
            <a:avLst/>
          </a:prstGeom>
          <a:solidFill>
            <a:srgbClr val="FFFFFF"/>
          </a:solidFill>
          <a:ln w="1778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76872" y="1527048"/>
            <a:ext cx="1911095" cy="2286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150" b="1">
                <a:solidFill>
                  <a:srgbClr val="2E7D32"/>
                </a:solidFill>
                <a:latin typeface="Arial"/>
              </a:defRPr>
            </a:pPr>
            <a:r>
              <a:t>Expected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76872" y="1828800"/>
            <a:ext cx="1911095" cy="4572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869" b="0">
                <a:solidFill>
                  <a:srgbClr val="333333"/>
                </a:solidFill>
                <a:latin typeface="Arial"/>
              </a:defRPr>
            </a:pPr>
            <a:r>
              <a:t>Fewer CAS attempts</a:t>
            </a:r>
            <a:br/>
            <a:r>
              <a:t>per consumed item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44000" y="1874519"/>
            <a:ext cx="731520" cy="0"/>
          </a:xfrm>
          <a:prstGeom prst="line">
            <a:avLst/>
          </a:prstGeom>
          <a:ln w="2032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10012680" y="1417320"/>
            <a:ext cx="1508760" cy="914400"/>
          </a:xfrm>
          <a:prstGeom prst="rect">
            <a:avLst/>
          </a:prstGeom>
          <a:solidFill>
            <a:srgbClr val="FFFFFF"/>
          </a:solidFill>
          <a:ln w="17780">
            <a:solidFill>
              <a:srgbClr val="D97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85832" y="1527048"/>
            <a:ext cx="1362456" cy="2286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150" b="1">
                <a:solidFill>
                  <a:srgbClr val="D97000"/>
                </a:solidFill>
                <a:latin typeface="Arial"/>
              </a:defRPr>
            </a:pPr>
            <a:r>
              <a:t>Risk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85832" y="1828800"/>
            <a:ext cx="1362456" cy="4572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869" b="0">
                <a:solidFill>
                  <a:srgbClr val="333333"/>
                </a:solidFill>
                <a:latin typeface="Arial"/>
              </a:defRPr>
            </a:pPr>
            <a:r>
              <a:t>More ready-spin</a:t>
            </a:r>
            <a:br/>
            <a:r>
              <a:t>or empty slots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3246120"/>
            <a:ext cx="106984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3520440"/>
            <a:ext cx="10058400" cy="34747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700" b="1">
                <a:solidFill>
                  <a:srgbClr val="1F77B4"/>
                </a:solidFill>
                <a:latin typeface="Arial"/>
              </a:defRPr>
            </a:pPr>
            <a:r>
              <a:t>Validation question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3950208"/>
            <a:ext cx="9966960" cy="4572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350" b="1">
                <a:solidFill>
                  <a:srgbClr val="111111"/>
                </a:solidFill>
                <a:latin typeface="Arial"/>
              </a:defRPr>
            </a:pPr>
            <a:r>
              <a:t>Does request batching improve clean median and P90 in the same controlled suite, or does it only move the cost into ready-spin and wasted polling?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7498079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850" b="1">
                <a:solidFill>
                  <a:srgbClr val="666666"/>
                </a:solidFill>
                <a:latin typeface="Arial"/>
              </a:defRPr>
            </a:pPr>
            <a:r>
              <a:t>Vulkan Persistent Thread WorkGraph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393192"/>
            <a:ext cx="9875520" cy="47548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2600" b="1">
                <a:solidFill>
                  <a:srgbClr val="111111"/>
                </a:solidFill>
                <a:latin typeface="Arial"/>
              </a:defRPr>
            </a:pPr>
            <a:r>
              <a:t>Request batching controlled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01400" y="283464"/>
            <a:ext cx="384048" cy="256032"/>
          </a:xfrm>
          <a:prstGeom prst="rect">
            <a:avLst/>
          </a:prstGeom>
          <a:solidFill>
            <a:srgbClr val="1F77B4"/>
          </a:solidFill>
          <a:ln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310896"/>
            <a:ext cx="384048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14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896112"/>
            <a:ext cx="11365992" cy="0"/>
          </a:xfrm>
          <a:prstGeom prst="line">
            <a:avLst/>
          </a:prstGeom>
          <a:ln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6510528"/>
            <a:ext cx="2926080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Arial"/>
              </a:defRPr>
            </a:pPr>
            <a:r>
              <a:t>2026-05-25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6510528"/>
            <a:ext cx="3017520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r">
              <a:defRPr sz="700" b="0">
                <a:solidFill>
                  <a:srgbClr val="666666"/>
                </a:solidFill>
                <a:latin typeface="Arial"/>
              </a:defRPr>
            </a:pPr>
            <a:r>
              <a:t>Optimization Evaluation v2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143000"/>
          <a:ext cx="5257800" cy="27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960120"/>
                <a:gridCol w="1371600"/>
                <a:gridCol w="1371600"/>
              </a:tblGrid>
              <a:tr h="348615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Default 256 suite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Samples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Median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P90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</a:tr>
              <a:tr h="34861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off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354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1.9432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1.9691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4861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l8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354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11.7109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11.7553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4861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l16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354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11.4284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11.4658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4861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l32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354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11.2778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11.3034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4861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l1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no samples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no samples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4861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l2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no samples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no samples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4861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l4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no samples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no samples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55080" y="1143000"/>
          <a:ext cx="493776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554480"/>
                <a:gridCol w="1554480"/>
              </a:tblGrid>
              <a:tr h="3886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Stress 16 suite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Median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P90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off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4.2442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4.9059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l4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4.2553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4.6734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l8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4.1737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5.1022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l16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4.2623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5.3898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l32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4.1165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5.2635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822960" y="4343400"/>
            <a:ext cx="24688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4343400"/>
            <a:ext cx="2468880" cy="73152"/>
          </a:xfrm>
          <a:prstGeom prst="rect">
            <a:avLst/>
          </a:prstGeom>
          <a:solidFill>
            <a:srgbClr val="6E6E6E"/>
          </a:solidFill>
          <a:ln>
            <a:solidFill>
              <a:srgbClr val="6E6E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4507992"/>
            <a:ext cx="2322576" cy="38404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2500" b="1">
                <a:solidFill>
                  <a:srgbClr val="6E6E6E"/>
                </a:solidFill>
                <a:latin typeface="Arial"/>
              </a:defRPr>
            </a:pPr>
            <a:r>
              <a:t>1.9432 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946904"/>
            <a:ext cx="2286000" cy="29260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050" b="1">
                <a:solidFill>
                  <a:srgbClr val="333333"/>
                </a:solidFill>
                <a:latin typeface="Arial"/>
              </a:defRPr>
            </a:pPr>
            <a:r>
              <a:t>Suite-local off baseline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11880" y="4343400"/>
            <a:ext cx="24688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11880" y="4343400"/>
            <a:ext cx="2468880" cy="73152"/>
          </a:xfrm>
          <a:prstGeom prst="rect">
            <a:avLst/>
          </a:prstGeom>
          <a:solidFill>
            <a:srgbClr val="C62828"/>
          </a:solidFill>
          <a:ln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85032" y="4507992"/>
            <a:ext cx="2322576" cy="38404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2500" b="1">
                <a:solidFill>
                  <a:srgbClr val="C62828"/>
                </a:solidFill>
                <a:latin typeface="Arial"/>
              </a:defRPr>
            </a:pPr>
            <a:r>
              <a:t>11 ms range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946904"/>
            <a:ext cx="2286000" cy="29260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050" b="1">
                <a:solidFill>
                  <a:srgbClr val="333333"/>
                </a:solidFill>
                <a:latin typeface="Arial"/>
              </a:defRPr>
            </a:pPr>
            <a:r>
              <a:t>Default 256 batching regression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434840"/>
            <a:ext cx="4754880" cy="82296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350" b="1">
                <a:solidFill>
                  <a:srgbClr val="C62828"/>
                </a:solidFill>
                <a:latin typeface="Arial"/>
              </a:defRPr>
            </a:pPr>
            <a:r>
              <a:t>Conclusion: batching can help selected stress medians, but it does not generalize and can severely regress the default 256-shard setup.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7498079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850" b="1">
                <a:solidFill>
                  <a:srgbClr val="666666"/>
                </a:solidFill>
                <a:latin typeface="Arial"/>
              </a:defRPr>
            </a:pPr>
            <a:r>
              <a:t>Vulkan Persistent Thread WorkGraph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393192"/>
            <a:ext cx="9875520" cy="47548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2600" b="1">
                <a:solidFill>
                  <a:srgbClr val="111111"/>
                </a:solidFill>
                <a:latin typeface="Arial"/>
              </a:defRPr>
            </a:pPr>
            <a:r>
              <a:t>Adopted default: current main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01400" y="283464"/>
            <a:ext cx="384048" cy="256032"/>
          </a:xfrm>
          <a:prstGeom prst="rect">
            <a:avLst/>
          </a:prstGeom>
          <a:solidFill>
            <a:srgbClr val="1F77B4"/>
          </a:solidFill>
          <a:ln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310896"/>
            <a:ext cx="384048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15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896112"/>
            <a:ext cx="11365992" cy="0"/>
          </a:xfrm>
          <a:prstGeom prst="line">
            <a:avLst/>
          </a:prstGeom>
          <a:ln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6510528"/>
            <a:ext cx="2926080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Arial"/>
              </a:defRPr>
            </a:pPr>
            <a:r>
              <a:t>2026-05-25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6510528"/>
            <a:ext cx="3017520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r">
              <a:defRPr sz="700" b="0">
                <a:solidFill>
                  <a:srgbClr val="666666"/>
                </a:solidFill>
                <a:latin typeface="Arial"/>
              </a:defRPr>
            </a:pPr>
            <a:r>
              <a:t>Optimization Evaluation v2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234440"/>
            <a:ext cx="23774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234440"/>
            <a:ext cx="2377440" cy="73152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1399032"/>
            <a:ext cx="2231136" cy="38404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2500" b="1">
                <a:solidFill>
                  <a:srgbClr val="2E7D32"/>
                </a:solidFill>
                <a:latin typeface="Arial"/>
              </a:defRPr>
            </a:pPr>
            <a:r>
              <a:t>256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837944"/>
            <a:ext cx="2194560" cy="29260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050" b="1">
                <a:solidFill>
                  <a:srgbClr val="333333"/>
                </a:solidFill>
                <a:latin typeface="Arial"/>
              </a:defRPr>
            </a:pPr>
            <a:r>
              <a:t>Q1 shards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29000" y="1234440"/>
            <a:ext cx="23774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29000" y="1234440"/>
            <a:ext cx="2377440" cy="73152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02152" y="1399032"/>
            <a:ext cx="2231136" cy="38404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2500" b="1">
                <a:solidFill>
                  <a:srgbClr val="2E7D32"/>
                </a:solidFill>
                <a:latin typeface="Arial"/>
              </a:defRPr>
            </a:pPr>
            <a:r>
              <a:t>256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1837944"/>
            <a:ext cx="2194560" cy="29260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050" b="1">
                <a:solidFill>
                  <a:srgbClr val="333333"/>
                </a:solidFill>
                <a:latin typeface="Arial"/>
              </a:defRPr>
            </a:pPr>
            <a:r>
              <a:t>Q2 shards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0760" y="1234440"/>
            <a:ext cx="23774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80760" y="1234440"/>
            <a:ext cx="2377440" cy="73152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53912" y="1399032"/>
            <a:ext cx="2231136" cy="38404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2500" b="1">
                <a:solidFill>
                  <a:srgbClr val="2E7D32"/>
                </a:solidFill>
                <a:latin typeface="Arial"/>
              </a:defRPr>
            </a:pPr>
            <a:r>
              <a:t>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1837944"/>
            <a:ext cx="2194560" cy="29260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050" b="1">
                <a:solidFill>
                  <a:srgbClr val="333333"/>
                </a:solidFill>
                <a:latin typeface="Arial"/>
              </a:defRPr>
            </a:pPr>
            <a:r>
              <a:t>Q1 lane-pop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32520" y="1234440"/>
            <a:ext cx="23774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32520" y="1234440"/>
            <a:ext cx="2377440" cy="73152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05672" y="1399032"/>
            <a:ext cx="2231136" cy="38404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2500" b="1">
                <a:solidFill>
                  <a:srgbClr val="2E7D32"/>
                </a:solidFill>
                <a:latin typeface="Arial"/>
              </a:defRPr>
            </a:pPr>
            <a:r>
              <a:t>24 / 72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23960" y="1837944"/>
            <a:ext cx="2194560" cy="29260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050" b="1">
                <a:solidFill>
                  <a:srgbClr val="333333"/>
                </a:solidFill>
                <a:latin typeface="Arial"/>
              </a:defRPr>
            </a:pPr>
            <a:r>
              <a:t>C/B workers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822960" y="2971800"/>
          <a:ext cx="484632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737360"/>
              </a:tblGrid>
              <a:tr h="342900">
                <a:tc>
                  <a:txBody>
                    <a:bodyPr/>
                    <a:lstStyle/>
                    <a:p>
                      <a:pPr>
                        <a:defRPr sz="1019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Setting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Value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MAX_QUEUE_SHARDS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256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Q1_QUEUE_SHARDS_DEFAULT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256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Q2_QUEUE_SHARDS_DEFAULT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256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ENABLE_Q1_LANE_POP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default on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NODE_C_START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72, so C=24/B=72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6400800" y="3154680"/>
            <a:ext cx="4663440" cy="82296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450" b="1">
                <a:solidFill>
                  <a:srgbClr val="111111"/>
                </a:solidFill>
                <a:latin typeface="Arial"/>
              </a:defRPr>
            </a:pPr>
            <a:r>
              <a:t>The main path is not a magic parameter. It is the endpoint of a sequence that repeatedly removed queue/global atomic contention.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7498079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850" b="1">
                <a:solidFill>
                  <a:srgbClr val="666666"/>
                </a:solidFill>
                <a:latin typeface="Arial"/>
              </a:defRPr>
            </a:pPr>
            <a:r>
              <a:t>Vulkan Persistent Thread WorkGraph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393192"/>
            <a:ext cx="9875520" cy="47548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2600" b="1">
                <a:solidFill>
                  <a:srgbClr val="111111"/>
                </a:solidFill>
                <a:latin typeface="Arial"/>
              </a:defRPr>
            </a:pPr>
            <a:r>
              <a:t>Final confirmation: main integrated repeats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01400" y="283464"/>
            <a:ext cx="384048" cy="256032"/>
          </a:xfrm>
          <a:prstGeom prst="rect">
            <a:avLst/>
          </a:prstGeom>
          <a:solidFill>
            <a:srgbClr val="1F77B4"/>
          </a:solidFill>
          <a:ln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310896"/>
            <a:ext cx="384048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16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896112"/>
            <a:ext cx="11365992" cy="0"/>
          </a:xfrm>
          <a:prstGeom prst="line">
            <a:avLst/>
          </a:prstGeom>
          <a:ln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6510528"/>
            <a:ext cx="2926080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Arial"/>
              </a:defRPr>
            </a:pPr>
            <a:r>
              <a:t>2026-05-25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6510528"/>
            <a:ext cx="3017520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r">
              <a:defRPr sz="700" b="0">
                <a:solidFill>
                  <a:srgbClr val="666666"/>
                </a:solidFill>
                <a:latin typeface="Arial"/>
              </a:defRPr>
            </a:pPr>
            <a:r>
              <a:t>Optimization Evaluation v2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5800" y="1234440"/>
          <a:ext cx="978408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371600"/>
                <a:gridCol w="1645920"/>
                <a:gridCol w="1645920"/>
                <a:gridCol w="1645920"/>
                <a:gridCol w="1645920"/>
              </a:tblGrid>
              <a:tr h="448056">
                <a:tc>
                  <a:txBody>
                    <a:bodyPr/>
                    <a:lstStyle/>
                    <a:p>
                      <a:pPr>
                        <a:defRPr sz="103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Run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Samples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Median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P10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P90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Min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repeat 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1836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0.9904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0.9804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1.0036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0.9659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repeat 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1867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0.9916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0.9819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1.0053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0.9657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repeat 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1868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0.9907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0.9810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1.0042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0.9593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repeat 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1866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0.9903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0.9807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1.0038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0.9615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868680" y="4160520"/>
            <a:ext cx="25603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4160520"/>
            <a:ext cx="2560320" cy="73152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4325112"/>
            <a:ext cx="2414015" cy="38404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2500" b="1">
                <a:solidFill>
                  <a:srgbClr val="2E7D32"/>
                </a:solidFill>
                <a:latin typeface="Arial"/>
              </a:defRPr>
            </a:pPr>
            <a:r>
              <a:t>~0.99 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764024"/>
            <a:ext cx="2377439" cy="29260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050" b="1">
                <a:solidFill>
                  <a:srgbClr val="333333"/>
                </a:solidFill>
                <a:latin typeface="Arial"/>
              </a:defRPr>
            </a:pPr>
            <a:r>
              <a:t>Median band across repeats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86200" y="4160520"/>
            <a:ext cx="25603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86200" y="4160520"/>
            <a:ext cx="2560320" cy="73152"/>
          </a:xfrm>
          <a:prstGeom prst="rect">
            <a:avLst/>
          </a:prstGeom>
          <a:solidFill>
            <a:srgbClr val="1F77B4"/>
          </a:solidFill>
          <a:ln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59352" y="4325112"/>
            <a:ext cx="2414015" cy="38404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2500" b="1">
                <a:solidFill>
                  <a:srgbClr val="1F77B4"/>
                </a:solidFill>
                <a:latin typeface="Arial"/>
              </a:defRPr>
            </a:pPr>
            <a:r>
              <a:t>~1.00 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77639" y="4764024"/>
            <a:ext cx="2377439" cy="29260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050" b="1">
                <a:solidFill>
                  <a:srgbClr val="333333"/>
                </a:solidFill>
                <a:latin typeface="Arial"/>
              </a:defRPr>
            </a:pPr>
            <a:r>
              <a:t>P90 band across repeats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4343400"/>
            <a:ext cx="4206240" cy="73152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400" b="1">
                <a:solidFill>
                  <a:srgbClr val="111111"/>
                </a:solidFill>
                <a:latin typeface="Arial"/>
              </a:defRPr>
            </a:pPr>
            <a:r>
              <a:t>Repeat runs show a stable median near 0.99 ms with P90 close to 1.00 ms.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7498079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850" b="1">
                <a:solidFill>
                  <a:srgbClr val="666666"/>
                </a:solidFill>
                <a:latin typeface="Arial"/>
              </a:defRPr>
            </a:pPr>
            <a:r>
              <a:t>Vulkan Persistent Thread WorkGraph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393192"/>
            <a:ext cx="9875520" cy="47548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2600" b="1">
                <a:solidFill>
                  <a:srgbClr val="111111"/>
                </a:solidFill>
                <a:latin typeface="Arial"/>
              </a:defRPr>
            </a:pPr>
            <a:r>
              <a:t>Key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01400" y="283464"/>
            <a:ext cx="384048" cy="256032"/>
          </a:xfrm>
          <a:prstGeom prst="rect">
            <a:avLst/>
          </a:prstGeom>
          <a:solidFill>
            <a:srgbClr val="1F77B4"/>
          </a:solidFill>
          <a:ln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310896"/>
            <a:ext cx="384048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17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896112"/>
            <a:ext cx="11365992" cy="0"/>
          </a:xfrm>
          <a:prstGeom prst="line">
            <a:avLst/>
          </a:prstGeom>
          <a:ln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6510528"/>
            <a:ext cx="2926080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Arial"/>
              </a:defRPr>
            </a:pPr>
            <a:r>
              <a:t>2026-05-25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6510528"/>
            <a:ext cx="3017520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r">
              <a:defRPr sz="700" b="0">
                <a:solidFill>
                  <a:srgbClr val="666666"/>
                </a:solidFill>
                <a:latin typeface="Arial"/>
              </a:defRPr>
            </a:pPr>
            <a:r>
              <a:t>Optimization Evaluation v2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1325880"/>
            <a:ext cx="2788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" y="1325880"/>
            <a:ext cx="2788920" cy="73152"/>
          </a:xfrm>
          <a:prstGeom prst="rect">
            <a:avLst/>
          </a:prstGeom>
          <a:solidFill>
            <a:srgbClr val="1F77B4"/>
          </a:solidFill>
          <a:ln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1490472"/>
            <a:ext cx="2642615" cy="38404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2500" b="1">
                <a:solidFill>
                  <a:srgbClr val="1F77B4"/>
                </a:solidFill>
                <a:latin typeface="Arial"/>
              </a:defRPr>
            </a:pPr>
            <a:r>
              <a:t>Verified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1929384"/>
            <a:ext cx="2606039" cy="29260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050" b="1">
                <a:solidFill>
                  <a:srgbClr val="333333"/>
                </a:solidFill>
                <a:latin typeface="Arial"/>
              </a:defRPr>
            </a:pPr>
            <a:r>
              <a:t>Atomic traffic was validated as the bottleneck class.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77639" y="1325880"/>
            <a:ext cx="2788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77639" y="1325880"/>
            <a:ext cx="2788920" cy="73152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50791" y="1490472"/>
            <a:ext cx="2642615" cy="38404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2500" b="1">
                <a:solidFill>
                  <a:srgbClr val="2E7D32"/>
                </a:solidFill>
                <a:latin typeface="Arial"/>
              </a:defRPr>
            </a:pPr>
            <a:r>
              <a:t>Adopted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9079" y="1929384"/>
            <a:ext cx="2606039" cy="29260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050" b="1">
                <a:solidFill>
                  <a:srgbClr val="333333"/>
                </a:solidFill>
                <a:latin typeface="Arial"/>
              </a:defRPr>
            </a:pPr>
            <a:r>
              <a:t>Sharding plus lane-pop is the main optimization path.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86600" y="1325880"/>
            <a:ext cx="2788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86600" y="1325880"/>
            <a:ext cx="2788920" cy="73152"/>
          </a:xfrm>
          <a:prstGeom prst="rect">
            <a:avLst/>
          </a:prstGeom>
          <a:solidFill>
            <a:srgbClr val="C62828"/>
          </a:solidFill>
          <a:ln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59752" y="1490472"/>
            <a:ext cx="2642615" cy="38404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2500" b="1">
                <a:solidFill>
                  <a:srgbClr val="C62828"/>
                </a:solidFill>
                <a:latin typeface="Arial"/>
              </a:defRPr>
            </a:pPr>
            <a:r>
              <a:t>Rejected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1929384"/>
            <a:ext cx="2606039" cy="29260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050" b="1">
                <a:solidFill>
                  <a:srgbClr val="333333"/>
                </a:solidFill>
                <a:latin typeface="Arial"/>
              </a:defRPr>
            </a:pPr>
            <a:r>
              <a:t>Request batching is not adopted for this protocol/workload.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" y="3337560"/>
            <a:ext cx="101498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3611880"/>
            <a:ext cx="9601200" cy="50292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550" b="1">
                <a:solidFill>
                  <a:srgbClr val="111111"/>
                </a:solidFill>
                <a:latin typeface="Arial"/>
              </a:defRPr>
            </a:pPr>
            <a:r>
              <a:t>The current architecture can reach about 0.99 ms median, but the remaining design question is whether work can stay more local before spilling to global queues.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7498079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850" b="1">
                <a:solidFill>
                  <a:srgbClr val="666666"/>
                </a:solidFill>
                <a:latin typeface="Arial"/>
              </a:defRPr>
            </a:pPr>
            <a:r>
              <a:t>Vulkan Persistent Thread WorkGraph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393192"/>
            <a:ext cx="9875520" cy="47548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2600" b="1">
                <a:solidFill>
                  <a:srgbClr val="111111"/>
                </a:solidFill>
                <a:latin typeface="Arial"/>
              </a:defRPr>
            </a:pPr>
            <a:r>
              <a:t>Next plan: wave-local work retention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01400" y="283464"/>
            <a:ext cx="384048" cy="256032"/>
          </a:xfrm>
          <a:prstGeom prst="rect">
            <a:avLst/>
          </a:prstGeom>
          <a:solidFill>
            <a:srgbClr val="1F77B4"/>
          </a:solidFill>
          <a:ln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310896"/>
            <a:ext cx="384048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18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896112"/>
            <a:ext cx="11365992" cy="0"/>
          </a:xfrm>
          <a:prstGeom prst="line">
            <a:avLst/>
          </a:prstGeom>
          <a:ln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6510528"/>
            <a:ext cx="2926080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Arial"/>
              </a:defRPr>
            </a:pPr>
            <a:r>
              <a:t>2026-05-25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6510528"/>
            <a:ext cx="3017520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r">
              <a:defRPr sz="700" b="0">
                <a:solidFill>
                  <a:srgbClr val="666666"/>
                </a:solidFill>
                <a:latin typeface="Arial"/>
              </a:defRPr>
            </a:pPr>
            <a:r>
              <a:t>Optimization Evaluation v2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463040"/>
            <a:ext cx="2743200" cy="1097280"/>
          </a:xfrm>
          <a:prstGeom prst="rect">
            <a:avLst/>
          </a:prstGeom>
          <a:solidFill>
            <a:srgbClr val="FFFFFF"/>
          </a:solidFill>
          <a:ln w="1778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1572768"/>
            <a:ext cx="2596896" cy="2286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150" b="1">
                <a:solidFill>
                  <a:srgbClr val="2E7D32"/>
                </a:solidFill>
                <a:latin typeface="Arial"/>
              </a:defRPr>
            </a:pPr>
            <a:r>
              <a:t>Current baseline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1874520"/>
            <a:ext cx="2596896" cy="64008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869" b="0">
                <a:solidFill>
                  <a:srgbClr val="333333"/>
                </a:solidFill>
                <a:latin typeface="Arial"/>
              </a:defRPr>
            </a:pPr>
            <a:r>
              <a:t>Global sharded queues</a:t>
            </a:r>
            <a:br/>
            <a:r>
              <a:t>Q1/Q2 = 256/256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703320" y="2011680"/>
            <a:ext cx="731520" cy="0"/>
          </a:xfrm>
          <a:prstGeom prst="line">
            <a:avLst/>
          </a:prstGeom>
          <a:ln w="2032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572000" y="1463040"/>
            <a:ext cx="2743200" cy="1097280"/>
          </a:xfrm>
          <a:prstGeom prst="rect">
            <a:avLst/>
          </a:prstGeom>
          <a:solidFill>
            <a:srgbClr val="FFFFFF"/>
          </a:solidFill>
          <a:ln w="17780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5152" y="1572768"/>
            <a:ext cx="2596896" cy="2286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150" b="1">
                <a:solidFill>
                  <a:srgbClr val="1F77B4"/>
                </a:solidFill>
                <a:latin typeface="Arial"/>
              </a:defRPr>
            </a:pPr>
            <a:r>
              <a:t>Prototype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1874520"/>
            <a:ext cx="2596896" cy="64008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869" b="0">
                <a:solidFill>
                  <a:srgbClr val="333333"/>
                </a:solidFill>
                <a:latin typeface="Arial"/>
              </a:defRPr>
            </a:pPr>
            <a:r>
              <a:t>Wave-local retention</a:t>
            </a:r>
            <a:br/>
            <a:r>
              <a:t>spill-to-global fallback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498079" y="2011680"/>
            <a:ext cx="731521" cy="0"/>
          </a:xfrm>
          <a:prstGeom prst="line">
            <a:avLst/>
          </a:prstGeom>
          <a:ln w="2032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8366760" y="1463040"/>
            <a:ext cx="2743200" cy="1097280"/>
          </a:xfrm>
          <a:prstGeom prst="rect">
            <a:avLst/>
          </a:prstGeom>
          <a:solidFill>
            <a:srgbClr val="FFFFFF"/>
          </a:solidFill>
          <a:ln w="17780">
            <a:solidFill>
              <a:srgbClr val="6E6E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39912" y="1572768"/>
            <a:ext cx="2596896" cy="2286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150" b="1">
                <a:solidFill>
                  <a:srgbClr val="6E6E6E"/>
                </a:solidFill>
                <a:latin typeface="Arial"/>
              </a:defRPr>
            </a:pPr>
            <a:r>
              <a:t>Compare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9912" y="1874520"/>
            <a:ext cx="2596896" cy="64008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869" b="0">
                <a:solidFill>
                  <a:srgbClr val="333333"/>
                </a:solidFill>
                <a:latin typeface="Arial"/>
              </a:defRPr>
            </a:pPr>
            <a:r>
              <a:t>global atomic count</a:t>
            </a:r>
            <a:br/>
            <a:r>
              <a:t>spill ratio</a:t>
            </a:r>
            <a:br/>
            <a:r>
              <a:t>tail stability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429000"/>
            <a:ext cx="4663440" cy="109728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- Keep 256-shard main path as the baseline.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- Measure global atomic count, wave-local handoff count, spill-to-global ratio, and compute duration.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3429000"/>
            <a:ext cx="4663440" cy="109728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- Revisit request batching only if the queue protocol changes.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- Keep timing and atomic-counter diagnosis separate in the next experiment.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7498079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850" b="1">
                <a:solidFill>
                  <a:srgbClr val="666666"/>
                </a:solidFill>
                <a:latin typeface="Arial"/>
              </a:defRPr>
            </a:pPr>
            <a:r>
              <a:t>Vulkan Persistent Thread WorkGraph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393192"/>
            <a:ext cx="9875520" cy="47548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2600" b="1">
                <a:solidFill>
                  <a:srgbClr val="111111"/>
                </a:solidFill>
                <a:latin typeface="Arial"/>
              </a:defRPr>
            </a:pPr>
            <a:r>
              <a:t>Appendix: code snippets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01400" y="283464"/>
            <a:ext cx="384048" cy="256032"/>
          </a:xfrm>
          <a:prstGeom prst="rect">
            <a:avLst/>
          </a:prstGeom>
          <a:solidFill>
            <a:srgbClr val="1F77B4"/>
          </a:solidFill>
          <a:ln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310896"/>
            <a:ext cx="384048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19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896112"/>
            <a:ext cx="11365992" cy="0"/>
          </a:xfrm>
          <a:prstGeom prst="line">
            <a:avLst/>
          </a:prstGeom>
          <a:ln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6510528"/>
            <a:ext cx="2926080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Arial"/>
              </a:defRPr>
            </a:pPr>
            <a:r>
              <a:t>2026-05-25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6510528"/>
            <a:ext cx="3017520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r">
              <a:defRPr sz="700" b="0">
                <a:solidFill>
                  <a:srgbClr val="666666"/>
                </a:solidFill>
                <a:latin typeface="Arial"/>
              </a:defRPr>
            </a:pPr>
            <a:r>
              <a:t>Optimization Evaluation v2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234440"/>
            <a:ext cx="34290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1" y="1444752"/>
            <a:ext cx="1417320" cy="256032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1" y="1472184"/>
            <a:ext cx="1417320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SHARD PUSH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1856231"/>
            <a:ext cx="3063240" cy="36576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400" b="1">
                <a:solidFill>
                  <a:srgbClr val="2E7D32"/>
                </a:solidFill>
                <a:latin typeface="Arial"/>
              </a:defRPr>
            </a:pPr>
            <a:r>
              <a:t>Shard push / ready publish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2331720"/>
            <a:ext cx="3108960" cy="2651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80">
                <a:solidFill>
                  <a:srgbClr val="111111"/>
                </a:solidFill>
                <a:latin typeface="Consolas"/>
              </a:defRPr>
            </a:pPr>
            <a:r>
              <a:t>uint shard = mixHash(h) % Q1_QUEUE_SHARDS;</a:t>
            </a:r>
            <a:br/>
            <a:r>
              <a:t>if (atomicCompSwap(control.q1[shard].count, cur, cur + 1u) == cur) {</a:t>
            </a:r>
            <a:br/>
            <a:r>
              <a:t>    uint localSlot = atomicAdd(control.q1[shard].tail, 1u) % capacity;</a:t>
            </a:r>
            <a:br/>
            <a:r>
              <a:t>    atomicExchange(queue1.tasks[slot].payload[5], 1u);</a:t>
            </a:r>
            <a:br/>
            <a:r>
              <a:t>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34840" y="1234440"/>
            <a:ext cx="34290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99432" y="1444752"/>
            <a:ext cx="1417320" cy="256032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99432" y="1472184"/>
            <a:ext cx="1417320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Q1 LANE-POP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9432" y="1856231"/>
            <a:ext cx="3063240" cy="36576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400" b="1">
                <a:solidFill>
                  <a:srgbClr val="2E7D32"/>
                </a:solidFill>
                <a:latin typeface="Arial"/>
              </a:defRPr>
            </a:pPr>
            <a:r>
              <a:t>Q1 lane-pop start shard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9432" y="2331720"/>
            <a:ext cx="3108960" cy="2651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80">
                <a:solidFill>
                  <a:srgbClr val="111111"/>
                </a:solidFill>
                <a:latin typeface="Consolas"/>
              </a:defRPr>
            </a:pPr>
            <a:r>
              <a:t>uint worker = wgId * local_size_x + localId;</a:t>
            </a:r>
            <a:br/>
            <a:r>
              <a:t>uint homeShard =</a:t>
            </a:r>
            <a:br/>
            <a:r>
              <a:t>    (ENABLE_Q1_LANE_POP != 0u)</a:t>
            </a:r>
            <a:br/>
            <a:r>
              <a:t>        ? (worker % Q1_QUEUE_SHARDS)</a:t>
            </a:r>
            <a:br/>
            <a:r>
              <a:t>        : (wgId % Q1_QUEUE_SHARDS);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1234440"/>
            <a:ext cx="34290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94192" y="1444752"/>
            <a:ext cx="1417320" cy="256032"/>
          </a:xfrm>
          <a:prstGeom prst="rect">
            <a:avLst/>
          </a:prstGeom>
          <a:solidFill>
            <a:srgbClr val="C62828"/>
          </a:solidFill>
          <a:ln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94192" y="1472184"/>
            <a:ext cx="1417320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Q2 BATCH CAS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94192" y="1856231"/>
            <a:ext cx="3063240" cy="36576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400" b="1">
                <a:solidFill>
                  <a:srgbClr val="C62828"/>
                </a:solidFill>
                <a:latin typeface="Arial"/>
              </a:defRPr>
            </a:pPr>
            <a:r>
              <a:t>Request batching CAS claim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94192" y="2331720"/>
            <a:ext cx="3108960" cy="2651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80">
                <a:solidFill>
                  <a:srgbClr val="111111"/>
                </a:solidFill>
                <a:latin typeface="Consolas"/>
              </a:defRPr>
            </a:pPr>
            <a:r>
              <a:t>uint claim = min(available, Q2_DEQUEUE_BATCH_LIMIT);</a:t>
            </a:r>
            <a:br/>
            <a:r>
              <a:t>if (atomicCompSwap(control.q2[shard].count, cur, cur - claim) == cur) {</a:t>
            </a:r>
            <a:br/>
            <a:r>
              <a:t>    baseHead = atomicAdd(control.q2[shard].head, claim);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7498079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850" b="1">
                <a:solidFill>
                  <a:srgbClr val="666666"/>
                </a:solidFill>
                <a:latin typeface="Arial"/>
              </a:defRPr>
            </a:pPr>
            <a:r>
              <a:t>Vulkan Persistent Thread WorkGraph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393192"/>
            <a:ext cx="9875520" cy="47548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2600" b="1">
                <a:solidFill>
                  <a:srgbClr val="111111"/>
                </a:solidFill>
                <a:latin typeface="Arial"/>
              </a:defRPr>
            </a:pPr>
            <a:r>
              <a:t>Appendix: numeric source files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01400" y="283464"/>
            <a:ext cx="384048" cy="256032"/>
          </a:xfrm>
          <a:prstGeom prst="rect">
            <a:avLst/>
          </a:prstGeom>
          <a:solidFill>
            <a:srgbClr val="1F77B4"/>
          </a:solidFill>
          <a:ln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310896"/>
            <a:ext cx="384048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20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896112"/>
            <a:ext cx="11365992" cy="0"/>
          </a:xfrm>
          <a:prstGeom prst="line">
            <a:avLst/>
          </a:prstGeom>
          <a:ln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6510528"/>
            <a:ext cx="2926080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Arial"/>
              </a:defRPr>
            </a:pPr>
            <a:r>
              <a:t>2026-05-25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6510528"/>
            <a:ext cx="3017520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r">
              <a:defRPr sz="700" b="0">
                <a:solidFill>
                  <a:srgbClr val="666666"/>
                </a:solidFill>
                <a:latin typeface="Arial"/>
              </a:defRPr>
            </a:pPr>
            <a:r>
              <a:t>Optimization Evaluation v2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1234440"/>
          <a:ext cx="10972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8046720"/>
              </a:tblGrid>
              <a:tr h="548640">
                <a:tc>
                  <a:txBody>
                    <a:bodyPr/>
                    <a:lstStyle/>
                    <a:p>
                      <a:pPr>
                        <a:defRPr sz="93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Artifact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Path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Normalized measurements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reports/2026-05/metrics/monthly_v2_normalized_measurements_20260525.csv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Measurement notes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reports/2026-05/metrics/monthly_v2_measurement_notes_20260525.md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Main backbone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reports/2026-05/metrics/q2_shards_20260510/research_backbone_20260510.md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Request batching summary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reports/2026-05/metrics/request_batching_validation_20260525/request_batching_validation_summary.csv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77240" y="4617720"/>
            <a:ext cx="10332720" cy="59436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450" b="1">
                <a:solidFill>
                  <a:srgbClr val="1F77B4"/>
                </a:solidFill>
                <a:latin typeface="Arial"/>
              </a:defRPr>
            </a:pPr>
            <a:r>
              <a:t>Primary performance numbers are sourced from the normalized measurement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