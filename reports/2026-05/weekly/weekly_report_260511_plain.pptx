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羅文謙" initials="羅文謙" lastIdx="1" clrIdx="0">
    <p:extLst>
      <p:ext uri="{19B8F6BF-5375-455C-9EA6-DF929625EA0E}">
        <p15:presenceInfo xmlns:p15="http://schemas.microsoft.com/office/powerpoint/2012/main" userId="S::111062113@office365.nthu.edu.tw::405572b7-deb6-4bbe-b6af-c4e57f3f2ae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8" d="100"/>
          <a:sy n="58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Median compute ms</c:v>
          </c:tx>
          <c:cat>
            <c:numLit>
              <c:formatCode>General</c:formatCode>
              <c:ptCount val="8"/>
              <c:pt idx="0">
                <c:v>16</c:v>
              </c:pt>
              <c:pt idx="1">
                <c:v>32</c:v>
              </c:pt>
              <c:pt idx="2">
                <c:v>64</c:v>
              </c:pt>
              <c:pt idx="3">
                <c:v>128</c:v>
              </c:pt>
              <c:pt idx="4">
                <c:v>192</c:v>
              </c:pt>
              <c:pt idx="5">
                <c:v>256</c:v>
              </c:pt>
              <c:pt idx="6">
                <c:v>384</c:v>
              </c:pt>
              <c:pt idx="7">
                <c:v>512</c:v>
              </c:pt>
            </c:numLit>
          </c:cat>
          <c:val>
            <c:numLit>
              <c:formatCode>General</c:formatCode>
              <c:ptCount val="8"/>
              <c:pt idx="0">
                <c:v>3.86</c:v>
              </c:pt>
              <c:pt idx="1">
                <c:v>2.4</c:v>
              </c:pt>
              <c:pt idx="2">
                <c:v>1.54</c:v>
              </c:pt>
              <c:pt idx="3">
                <c:v>1.1399999999999999</c:v>
              </c:pt>
              <c:pt idx="4">
                <c:v>1.08</c:v>
              </c:pt>
              <c:pt idx="5">
                <c:v>0.99</c:v>
              </c:pt>
              <c:pt idx="6">
                <c:v>1.05</c:v>
              </c:pt>
              <c:pt idx="7">
                <c:v>1.1200000000000001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24C-4777-877E-0ECA28F34B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bg">
            <a:extLst>
              <a:ext uri="{FF2B5EF4-FFF2-40B4-BE49-F238E27FC236}">
                <a16:creationId xmlns:a16="http://schemas.microsoft.com/office/drawing/2014/main" id="{A5385F88-5716-4F60-AA2E-7A8ABDC157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FC8683FA-EFCF-4ACD-97A4-B71CC20B37BE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619250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4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Weekly Report 260511</a:t>
            </a:r>
          </a:p>
        </p:txBody>
      </p:sp>
      <p:sp>
        <p:nvSpPr>
          <p:cNvPr id="3" name="cover-rule">
            <a:extLst>
              <a:ext uri="{FF2B5EF4-FFF2-40B4-BE49-F238E27FC236}">
                <a16:creationId xmlns:a16="http://schemas.microsoft.com/office/drawing/2014/main" id="{850E6BAB-EDE6-45B2-A485-6CF2812C3D28}"/>
              </a:ext>
            </a:extLst>
          </p:cNvPr>
          <p:cNvSpPr>
            <a:spLocks noGrp="1"/>
          </p:cNvSpPr>
          <p:nvPr/>
        </p:nvSpPr>
        <p:spPr>
          <a:xfrm>
            <a:off x="1047750" y="4800600"/>
            <a:ext cx="304800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AE32A984-89EB-4174-8856-198A5F5EFA20}"/>
              </a:ext>
            </a:extLst>
          </p:cNvPr>
          <p:cNvSpPr>
            <a:spLocks noGrp="1"/>
          </p:cNvSpPr>
          <p:nvPr/>
        </p:nvSpPr>
        <p:spPr>
          <a:xfrm>
            <a:off x="1047750" y="5105400"/>
            <a:ext cx="16192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Vulkan Persistent Thread WorkGraph POC</a:t>
            </a:r>
          </a:p>
        </p:txBody>
      </p:sp>
      <p:sp>
        <p:nvSpPr>
          <p:cNvPr id="5" name="cover-thesis">
            <a:extLst>
              <a:ext uri="{FF2B5EF4-FFF2-40B4-BE49-F238E27FC236}">
                <a16:creationId xmlns:a16="http://schemas.microsoft.com/office/drawing/2014/main" id="{C7F0D6E0-1677-4245-AFFB-CB62779BC70F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6192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Bottleneck timeline: Q1/Q2 sharding + Q1 lane-pop</a:t>
            </a:r>
          </a:p>
        </p:txBody>
      </p:sp>
      <p:sp>
        <p:nvSpPr>
          <p:cNvPr id="6" name="cover-date">
            <a:extLst>
              <a:ext uri="{FF2B5EF4-FFF2-40B4-BE49-F238E27FC236}">
                <a16:creationId xmlns:a16="http://schemas.microsoft.com/office/drawing/2014/main" id="{09DD31A7-2B28-45D7-B3E9-A40595F391E6}"/>
              </a:ext>
            </a:extLst>
          </p:cNvPr>
          <p:cNvSpPr>
            <a:spLocks noGrp="1"/>
          </p:cNvSpPr>
          <p:nvPr/>
        </p:nvSpPr>
        <p:spPr>
          <a:xfrm>
            <a:off x="1047750" y="6438900"/>
            <a:ext cx="16192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2026 / 05 / 11</a:t>
            </a:r>
          </a:p>
        </p:txBody>
      </p:sp>
    </p:spTree>
    <p:extLst>
      <p:ext uri="{BB962C8B-B14F-4D97-AF65-F5344CB8AC3E}">
        <p14:creationId xmlns:p14="http://schemas.microsoft.com/office/powerpoint/2010/main" val="90887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5-bg">
            <a:extLst>
              <a:ext uri="{FF2B5EF4-FFF2-40B4-BE49-F238E27FC236}">
                <a16:creationId xmlns:a16="http://schemas.microsoft.com/office/drawing/2014/main" id="{13A20CE8-EF7B-407C-AFDC-92908344E3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A25F922-2EDC-41BD-8E4B-D685918FDDF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結果總表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03CBF365-D5DD-4039-80C2-1AB613778EC7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result-table-rheader-c0">
            <a:extLst>
              <a:ext uri="{FF2B5EF4-FFF2-40B4-BE49-F238E27FC236}">
                <a16:creationId xmlns:a16="http://schemas.microsoft.com/office/drawing/2014/main" id="{2DD27203-166C-4060-AB03-6B6326A1DBBB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4095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階段</a:t>
            </a:r>
          </a:p>
        </p:txBody>
      </p:sp>
      <p:sp>
        <p:nvSpPr>
          <p:cNvPr id="5" name="result-table-rheader-c1">
            <a:extLst>
              <a:ext uri="{FF2B5EF4-FFF2-40B4-BE49-F238E27FC236}">
                <a16:creationId xmlns:a16="http://schemas.microsoft.com/office/drawing/2014/main" id="{7AFCA535-DAFA-433D-ABA9-88202405D3AB}"/>
              </a:ext>
            </a:extLst>
          </p:cNvPr>
          <p:cNvSpPr>
            <a:spLocks noGrp="1"/>
          </p:cNvSpPr>
          <p:nvPr/>
        </p:nvSpPr>
        <p:spPr>
          <a:xfrm>
            <a:off x="4876800" y="1714500"/>
            <a:ext cx="7524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6" name="result-table-rheader-c2">
            <a:extLst>
              <a:ext uri="{FF2B5EF4-FFF2-40B4-BE49-F238E27FC236}">
                <a16:creationId xmlns:a16="http://schemas.microsoft.com/office/drawing/2014/main" id="{E76A962A-427F-4DE9-A9E5-3D42F7A42C3D}"/>
              </a:ext>
            </a:extLst>
          </p:cNvPr>
          <p:cNvSpPr>
            <a:spLocks noGrp="1"/>
          </p:cNvSpPr>
          <p:nvPr/>
        </p:nvSpPr>
        <p:spPr>
          <a:xfrm>
            <a:off x="12630150" y="1714500"/>
            <a:ext cx="3429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Compute duration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DAA19A-7283-47FE-8DEC-4CC0C78CA4E7}"/>
              </a:ext>
            </a:extLst>
          </p:cNvPr>
          <p:cNvSpPr>
            <a:spLocks noGrp="1"/>
          </p:cNvSpPr>
          <p:nvPr/>
        </p:nvSpPr>
        <p:spPr>
          <a:xfrm>
            <a:off x="552450" y="2171700"/>
            <a:ext cx="171831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8" name="result-table-r0-c0">
            <a:extLst>
              <a:ext uri="{FF2B5EF4-FFF2-40B4-BE49-F238E27FC236}">
                <a16:creationId xmlns:a16="http://schemas.microsoft.com/office/drawing/2014/main" id="{D30D980B-8237-4531-8165-5F0DA4578C51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RDP/RGP occupancy validation</a:t>
            </a:r>
          </a:p>
        </p:txBody>
      </p:sp>
      <p:sp>
        <p:nvSpPr>
          <p:cNvPr id="9" name="result-table-r0-c1">
            <a:extLst>
              <a:ext uri="{FF2B5EF4-FFF2-40B4-BE49-F238E27FC236}">
                <a16:creationId xmlns:a16="http://schemas.microsoft.com/office/drawing/2014/main" id="{3C39F50D-8922-4CCF-B1D7-D2458589BC71}"/>
              </a:ext>
            </a:extLst>
          </p:cNvPr>
          <p:cNvSpPr>
            <a:spLocks noGrp="1"/>
          </p:cNvSpPr>
          <p:nvPr/>
        </p:nvSpPr>
        <p:spPr>
          <a:xfrm>
            <a:off x="4876800" y="2381250"/>
            <a:ext cx="7524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多組 RGP capture / RDP-RDS trace</a:t>
            </a:r>
          </a:p>
        </p:txBody>
      </p:sp>
      <p:sp>
        <p:nvSpPr>
          <p:cNvPr id="10" name="result-table-r0-c2">
            <a:extLst>
              <a:ext uri="{FF2B5EF4-FFF2-40B4-BE49-F238E27FC236}">
                <a16:creationId xmlns:a16="http://schemas.microsoft.com/office/drawing/2014/main" id="{F0DE537B-201F-40C1-A34C-9DBEFAED9D1B}"/>
              </a:ext>
            </a:extLst>
          </p:cNvPr>
          <p:cNvSpPr>
            <a:spLocks noGrp="1"/>
          </p:cNvSpPr>
          <p:nvPr/>
        </p:nvSpPr>
        <p:spPr>
          <a:xfrm>
            <a:off x="12630150" y="2381250"/>
            <a:ext cx="3429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排除 wavefront=0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393F5B-884D-4A92-8F55-7AB97E304FE5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2" name="result-table-r1-c0">
            <a:extLst>
              <a:ext uri="{FF2B5EF4-FFF2-40B4-BE49-F238E27FC236}">
                <a16:creationId xmlns:a16="http://schemas.microsoft.com/office/drawing/2014/main" id="{F9AAAD75-191C-4084-9491-1FE1752055C2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修正量測後 baseline</a:t>
            </a:r>
          </a:p>
        </p:txBody>
      </p:sp>
      <p:sp>
        <p:nvSpPr>
          <p:cNvPr id="13" name="result-table-r1-c1">
            <a:extLst>
              <a:ext uri="{FF2B5EF4-FFF2-40B4-BE49-F238E27FC236}">
                <a16:creationId xmlns:a16="http://schemas.microsoft.com/office/drawing/2014/main" id="{C3CF6604-8E8C-4561-BD0A-C18B68BE3E6A}"/>
              </a:ext>
            </a:extLst>
          </p:cNvPr>
          <p:cNvSpPr>
            <a:spLocks noGrp="1"/>
          </p:cNvSpPr>
          <p:nvPr/>
        </p:nvSpPr>
        <p:spPr>
          <a:xfrm>
            <a:off x="4876800" y="3048000"/>
            <a:ext cx="7524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 batch on, Q2 scalar, C=24/B=72</a:t>
            </a:r>
          </a:p>
        </p:txBody>
      </p:sp>
      <p:sp>
        <p:nvSpPr>
          <p:cNvPr id="14" name="result-table-r1-c2">
            <a:extLst>
              <a:ext uri="{FF2B5EF4-FFF2-40B4-BE49-F238E27FC236}">
                <a16:creationId xmlns:a16="http://schemas.microsoft.com/office/drawing/2014/main" id="{D83B4F4F-B0C0-4119-82B6-688928CB8925}"/>
              </a:ext>
            </a:extLst>
          </p:cNvPr>
          <p:cNvSpPr>
            <a:spLocks noGrp="1"/>
          </p:cNvSpPr>
          <p:nvPr/>
        </p:nvSpPr>
        <p:spPr>
          <a:xfrm>
            <a:off x="12630150" y="3048000"/>
            <a:ext cx="3429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30.13-30.35 ms avg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127098-6593-4596-BA81-F02D1D24BF54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6" name="result-table-r2-c0">
            <a:extLst>
              <a:ext uri="{FF2B5EF4-FFF2-40B4-BE49-F238E27FC236}">
                <a16:creationId xmlns:a16="http://schemas.microsoft.com/office/drawing/2014/main" id="{0631FBDA-EF81-4555-B03E-812F9AEE9B40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B/C ratio</a:t>
            </a:r>
          </a:p>
        </p:txBody>
      </p:sp>
      <p:sp>
        <p:nvSpPr>
          <p:cNvPr id="17" name="result-table-r2-c1">
            <a:extLst>
              <a:ext uri="{FF2B5EF4-FFF2-40B4-BE49-F238E27FC236}">
                <a16:creationId xmlns:a16="http://schemas.microsoft.com/office/drawing/2014/main" id="{367129AE-BDB7-4455-B3B5-EF9CB29843E6}"/>
              </a:ext>
            </a:extLst>
          </p:cNvPr>
          <p:cNvSpPr>
            <a:spLocks noGrp="1"/>
          </p:cNvSpPr>
          <p:nvPr/>
        </p:nvSpPr>
        <p:spPr>
          <a:xfrm>
            <a:off x="4876800" y="3714750"/>
            <a:ext cx="7524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 batch on, Q2 scalar, C=40/B=56</a:t>
            </a:r>
          </a:p>
        </p:txBody>
      </p:sp>
      <p:sp>
        <p:nvSpPr>
          <p:cNvPr id="18" name="result-table-r2-c2">
            <a:extLst>
              <a:ext uri="{FF2B5EF4-FFF2-40B4-BE49-F238E27FC236}">
                <a16:creationId xmlns:a16="http://schemas.microsoft.com/office/drawing/2014/main" id="{CA000275-721C-45DD-AF21-E8311F6E5CE2}"/>
              </a:ext>
            </a:extLst>
          </p:cNvPr>
          <p:cNvSpPr>
            <a:spLocks noGrp="1"/>
          </p:cNvSpPr>
          <p:nvPr/>
        </p:nvSpPr>
        <p:spPr>
          <a:xfrm>
            <a:off x="12630150" y="3714750"/>
            <a:ext cx="3429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27.97 ms avg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1EEEAB-49E3-47EC-800D-C14CE3210923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0" name="result-table-r3-c0">
            <a:extLst>
              <a:ext uri="{FF2B5EF4-FFF2-40B4-BE49-F238E27FC236}">
                <a16:creationId xmlns:a16="http://schemas.microsoft.com/office/drawing/2014/main" id="{85FB9D4F-C56F-4130-987F-A9B0B0856B66}"/>
              </a:ext>
            </a:extLst>
          </p:cNvPr>
          <p:cNvSpPr>
            <a:spLocks noGrp="1"/>
          </p:cNvSpPr>
          <p:nvPr/>
        </p:nvSpPr>
        <p:spPr>
          <a:xfrm>
            <a:off x="552450" y="438150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 sharding + B/C refine</a:t>
            </a:r>
          </a:p>
        </p:txBody>
      </p:sp>
      <p:sp>
        <p:nvSpPr>
          <p:cNvPr id="21" name="result-table-r3-c1">
            <a:extLst>
              <a:ext uri="{FF2B5EF4-FFF2-40B4-BE49-F238E27FC236}">
                <a16:creationId xmlns:a16="http://schemas.microsoft.com/office/drawing/2014/main" id="{EF253869-6C9F-4A34-8F77-9F285B1831C7}"/>
              </a:ext>
            </a:extLst>
          </p:cNvPr>
          <p:cNvSpPr>
            <a:spLocks noGrp="1"/>
          </p:cNvSpPr>
          <p:nvPr/>
        </p:nvSpPr>
        <p:spPr>
          <a:xfrm>
            <a:off x="4876800" y="4381500"/>
            <a:ext cx="7524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Q1s16/Q2s1, C=38/B=58</a:t>
            </a:r>
          </a:p>
        </p:txBody>
      </p:sp>
      <p:sp>
        <p:nvSpPr>
          <p:cNvPr id="22" name="result-table-r3-c2">
            <a:extLst>
              <a:ext uri="{FF2B5EF4-FFF2-40B4-BE49-F238E27FC236}">
                <a16:creationId xmlns:a16="http://schemas.microsoft.com/office/drawing/2014/main" id="{5543BA43-761E-4C53-87E4-F005254C6C55}"/>
              </a:ext>
            </a:extLst>
          </p:cNvPr>
          <p:cNvSpPr>
            <a:spLocks noGrp="1"/>
          </p:cNvSpPr>
          <p:nvPr/>
        </p:nvSpPr>
        <p:spPr>
          <a:xfrm>
            <a:off x="12630150" y="4381500"/>
            <a:ext cx="3429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13.70 ms avg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46DE4FB-20D3-4544-81A5-9A4ADD868DA0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4" name="result-table-r4-c0">
            <a:extLst>
              <a:ext uri="{FF2B5EF4-FFF2-40B4-BE49-F238E27FC236}">
                <a16:creationId xmlns:a16="http://schemas.microsoft.com/office/drawing/2014/main" id="{ACC360B2-60DB-441B-AFC6-8F1D14410388}"/>
              </a:ext>
            </a:extLst>
          </p:cNvPr>
          <p:cNvSpPr>
            <a:spLocks noGrp="1"/>
          </p:cNvSpPr>
          <p:nvPr/>
        </p:nvSpPr>
        <p:spPr>
          <a:xfrm>
            <a:off x="552450" y="504825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 sharding + rebalance</a:t>
            </a:r>
          </a:p>
        </p:txBody>
      </p:sp>
      <p:sp>
        <p:nvSpPr>
          <p:cNvPr id="25" name="result-table-r4-c1">
            <a:extLst>
              <a:ext uri="{FF2B5EF4-FFF2-40B4-BE49-F238E27FC236}">
                <a16:creationId xmlns:a16="http://schemas.microsoft.com/office/drawing/2014/main" id="{A49305DA-6A50-4731-8D76-003387F9B97B}"/>
              </a:ext>
            </a:extLst>
          </p:cNvPr>
          <p:cNvSpPr>
            <a:spLocks noGrp="1"/>
          </p:cNvSpPr>
          <p:nvPr/>
        </p:nvSpPr>
        <p:spPr>
          <a:xfrm>
            <a:off x="4876800" y="5048250"/>
            <a:ext cx="7524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Q1s16/Q2s16, C=16/B=80</a:t>
            </a:r>
          </a:p>
        </p:txBody>
      </p:sp>
      <p:sp>
        <p:nvSpPr>
          <p:cNvPr id="26" name="result-table-r4-c2">
            <a:extLst>
              <a:ext uri="{FF2B5EF4-FFF2-40B4-BE49-F238E27FC236}">
                <a16:creationId xmlns:a16="http://schemas.microsoft.com/office/drawing/2014/main" id="{4DC37038-DB87-4AE1-9217-478FC6F63683}"/>
              </a:ext>
            </a:extLst>
          </p:cNvPr>
          <p:cNvSpPr>
            <a:spLocks noGrp="1"/>
          </p:cNvSpPr>
          <p:nvPr/>
        </p:nvSpPr>
        <p:spPr>
          <a:xfrm>
            <a:off x="12630150" y="5048250"/>
            <a:ext cx="3429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5.57 ms avg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18325E-6BA6-4987-A113-24A35AEE8AD5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8" name="result-table-r5-c0">
            <a:extLst>
              <a:ext uri="{FF2B5EF4-FFF2-40B4-BE49-F238E27FC236}">
                <a16:creationId xmlns:a16="http://schemas.microsoft.com/office/drawing/2014/main" id="{1BBD2DC5-088E-4232-9302-6F73F607E97A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+</a:t>
            </a: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 lane-pop</a:t>
            </a:r>
          </a:p>
        </p:txBody>
      </p:sp>
      <p:sp>
        <p:nvSpPr>
          <p:cNvPr id="29" name="result-table-r5-c1">
            <a:extLst>
              <a:ext uri="{FF2B5EF4-FFF2-40B4-BE49-F238E27FC236}">
                <a16:creationId xmlns:a16="http://schemas.microsoft.com/office/drawing/2014/main" id="{36C768EE-48AA-4F4B-8C06-B8BD59BE01BA}"/>
              </a:ext>
            </a:extLst>
          </p:cNvPr>
          <p:cNvSpPr>
            <a:spLocks noGrp="1"/>
          </p:cNvSpPr>
          <p:nvPr/>
        </p:nvSpPr>
        <p:spPr>
          <a:xfrm>
            <a:off x="4876800" y="5715000"/>
            <a:ext cx="7524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Q1s16/Q2s16, lane-pop on, C=24/B=72</a:t>
            </a:r>
          </a:p>
        </p:txBody>
      </p:sp>
      <p:sp>
        <p:nvSpPr>
          <p:cNvPr id="30" name="result-table-r5-c2">
            <a:extLst>
              <a:ext uri="{FF2B5EF4-FFF2-40B4-BE49-F238E27FC236}">
                <a16:creationId xmlns:a16="http://schemas.microsoft.com/office/drawing/2014/main" id="{156A0778-1A58-4F7E-98B2-F7452F777C4C}"/>
              </a:ext>
            </a:extLst>
          </p:cNvPr>
          <p:cNvSpPr>
            <a:spLocks noGrp="1"/>
          </p:cNvSpPr>
          <p:nvPr/>
        </p:nvSpPr>
        <p:spPr>
          <a:xfrm>
            <a:off x="12630150" y="5715000"/>
            <a:ext cx="3429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3.84 ms median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D33E3E-723A-40B5-9A9C-06D0BAAB99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2" name="result-table-r6-c0">
            <a:extLst>
              <a:ext uri="{FF2B5EF4-FFF2-40B4-BE49-F238E27FC236}">
                <a16:creationId xmlns:a16="http://schemas.microsoft.com/office/drawing/2014/main" id="{02A1FECF-2E95-4AF1-823C-144340528C9A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4095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High shard default</a:t>
            </a:r>
          </a:p>
        </p:txBody>
      </p:sp>
      <p:sp>
        <p:nvSpPr>
          <p:cNvPr id="33" name="result-table-r6-c1">
            <a:extLst>
              <a:ext uri="{FF2B5EF4-FFF2-40B4-BE49-F238E27FC236}">
                <a16:creationId xmlns:a16="http://schemas.microsoft.com/office/drawing/2014/main" id="{816C4002-F3F8-4F27-9EB6-3ECA674A1064}"/>
              </a:ext>
            </a:extLst>
          </p:cNvPr>
          <p:cNvSpPr>
            <a:spLocks noGrp="1"/>
          </p:cNvSpPr>
          <p:nvPr/>
        </p:nvSpPr>
        <p:spPr>
          <a:xfrm>
            <a:off x="4876800" y="6381750"/>
            <a:ext cx="7524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Q1s256/Q2s256, lane-pop on, C=24/B=72</a:t>
            </a:r>
          </a:p>
        </p:txBody>
      </p:sp>
      <p:sp>
        <p:nvSpPr>
          <p:cNvPr id="34" name="result-table-r6-c2">
            <a:extLst>
              <a:ext uri="{FF2B5EF4-FFF2-40B4-BE49-F238E27FC236}">
                <a16:creationId xmlns:a16="http://schemas.microsoft.com/office/drawing/2014/main" id="{B2D2A664-A4E4-4475-9883-2D3B81D02394}"/>
              </a:ext>
            </a:extLst>
          </p:cNvPr>
          <p:cNvSpPr>
            <a:spLocks noGrp="1"/>
          </p:cNvSpPr>
          <p:nvPr/>
        </p:nvSpPr>
        <p:spPr>
          <a:xfrm>
            <a:off x="12630150" y="6381750"/>
            <a:ext cx="3429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0.99 ms median</a:t>
            </a:r>
          </a:p>
        </p:txBody>
      </p:sp>
      <p:sp>
        <p:nvSpPr>
          <p:cNvPr id="35" name="callout-rule">
            <a:extLst>
              <a:ext uri="{FF2B5EF4-FFF2-40B4-BE49-F238E27FC236}">
                <a16:creationId xmlns:a16="http://schemas.microsoft.com/office/drawing/2014/main" id="{FEA14C74-00F5-46F6-9C2E-73F907E25E41}"/>
              </a:ext>
            </a:extLst>
          </p:cNvPr>
          <p:cNvSpPr>
            <a:spLocks noGrp="1"/>
          </p:cNvSpPr>
          <p:nvPr/>
        </p:nvSpPr>
        <p:spPr>
          <a:xfrm>
            <a:off x="552450" y="9334500"/>
            <a:ext cx="95250" cy="5524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36" name="callout-text">
            <a:extLst>
              <a:ext uri="{FF2B5EF4-FFF2-40B4-BE49-F238E27FC236}">
                <a16:creationId xmlns:a16="http://schemas.microsoft.com/office/drawing/2014/main" id="{83AF0476-10E2-485A-A364-2DF7F156D6C6}"/>
              </a:ext>
            </a:extLst>
          </p:cNvPr>
          <p:cNvSpPr>
            <a:spLocks noGrp="1"/>
          </p:cNvSpPr>
          <p:nvPr/>
        </p:nvSpPr>
        <p:spPr>
          <a:xfrm>
            <a:off x="819150" y="9410700"/>
            <a:ext cx="169164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從 baseline 約 30 ms 收斂到約 0.99 ms median；主要改善都來自 queue contention 分散。</a:t>
            </a:r>
            <a:r>
              <a:rPr lang="en-US"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(WG: ~0.05 ms)</a:t>
            </a:r>
            <a:endParaRPr sz="2625" b="1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3166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6-bg">
            <a:extLst>
              <a:ext uri="{FF2B5EF4-FFF2-40B4-BE49-F238E27FC236}">
                <a16:creationId xmlns:a16="http://schemas.microsoft.com/office/drawing/2014/main" id="{C65D7CC8-C724-440C-915F-65E7BCE293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46FC885-A80C-422A-8BC3-4A98B5D9FCC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CN"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Disable Metrics Counter</a:t>
            </a:r>
            <a:endParaRPr sz="5250" b="1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60ACB9F4-B8BB-494F-AA36-08EBB7485F04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1C0C29-E6DE-46AC-936E-F5F95F850E4A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71831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duration run 被 shader-side metrics counters 污染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9113E5-1B77-4E6B-ADB0-21A56DCFEF95}"/>
              </a:ext>
            </a:extLst>
          </p:cNvPr>
          <p:cNvSpPr>
            <a:spLocks noGrp="1"/>
          </p:cNvSpPr>
          <p:nvPr/>
        </p:nvSpPr>
        <p:spPr>
          <a:xfrm>
            <a:off x="552450" y="3448050"/>
            <a:ext cx="2667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FBF65A-0A28-4CF7-86FB-4E3BC4795D73}"/>
              </a:ext>
            </a:extLst>
          </p:cNvPr>
          <p:cNvSpPr>
            <a:spLocks noGrp="1"/>
          </p:cNvSpPr>
          <p:nvPr/>
        </p:nvSpPr>
        <p:spPr>
          <a:xfrm>
            <a:off x="933450" y="3448050"/>
            <a:ext cx="16802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duration 採 app 端 GPU timestamp。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C9F369-7A1E-49F0-8C78-53EDE5C0F605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2667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803028-8207-4D4A-992C-154C362574B2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16802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shader counters 只用來看 queue pressure、atomic contention、backlog 等結構。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D1229A-F20A-4C1A-A471-C4289020F968}"/>
              </a:ext>
            </a:extLst>
          </p:cNvPr>
          <p:cNvSpPr>
            <a:spLocks noGrp="1"/>
          </p:cNvSpPr>
          <p:nvPr/>
        </p:nvSpPr>
        <p:spPr>
          <a:xfrm>
            <a:off x="552450" y="4914900"/>
            <a:ext cx="2667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AF0D72-27E8-4CF3-8161-0197716C69A6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16802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RGP event timing 只作輔助，不作單獨結論。</a:t>
            </a:r>
          </a:p>
        </p:txBody>
      </p:sp>
      <p:sp>
        <p:nvSpPr>
          <p:cNvPr id="20" name="callout-rule">
            <a:extLst>
              <a:ext uri="{FF2B5EF4-FFF2-40B4-BE49-F238E27FC236}">
                <a16:creationId xmlns:a16="http://schemas.microsoft.com/office/drawing/2014/main" id="{DF4D1669-4F52-4EA5-8172-3DBE4693C347}"/>
              </a:ext>
            </a:extLst>
          </p:cNvPr>
          <p:cNvSpPr>
            <a:spLocks noGrp="1"/>
          </p:cNvSpPr>
          <p:nvPr/>
        </p:nvSpPr>
        <p:spPr>
          <a:xfrm>
            <a:off x="552450" y="9163050"/>
            <a:ext cx="95250" cy="7239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1" name="callout-text">
            <a:extLst>
              <a:ext uri="{FF2B5EF4-FFF2-40B4-BE49-F238E27FC236}">
                <a16:creationId xmlns:a16="http://schemas.microsoft.com/office/drawing/2014/main" id="{04139891-AEB3-4830-9C86-D21658E0836E}"/>
              </a:ext>
            </a:extLst>
          </p:cNvPr>
          <p:cNvSpPr>
            <a:spLocks noGrp="1"/>
          </p:cNvSpPr>
          <p:nvPr/>
        </p:nvSpPr>
        <p:spPr>
          <a:xfrm>
            <a:off x="819150" y="9315450"/>
            <a:ext cx="169164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這一步先修正證據來源，再繼續追 bottleneck。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5B922A-A8DF-44F5-828C-9E665C02FDEE}"/>
              </a:ext>
            </a:extLst>
          </p:cNvPr>
          <p:cNvSpPr>
            <a:spLocks noGrp="1"/>
          </p:cNvSpPr>
          <p:nvPr/>
        </p:nvSpPr>
        <p:spPr>
          <a:xfrm>
            <a:off x="552450" y="5638800"/>
            <a:ext cx="2667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1D2D37-B1F0-451E-85D1-02ED7AF58DE2}"/>
              </a:ext>
            </a:extLst>
          </p:cNvPr>
          <p:cNvSpPr>
            <a:spLocks noGrp="1"/>
          </p:cNvSpPr>
          <p:nvPr/>
        </p:nvSpPr>
        <p:spPr>
          <a:xfrm>
            <a:off x="933450" y="5638800"/>
            <a:ext cx="16802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8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Batch on: 30.35 ms</a:t>
            </a:r>
          </a:p>
        </p:txBody>
      </p:sp>
    </p:spTree>
    <p:extLst>
      <p:ext uri="{BB962C8B-B14F-4D97-AF65-F5344CB8AC3E}">
        <p14:creationId xmlns:p14="http://schemas.microsoft.com/office/powerpoint/2010/main" val="177648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7-bg">
            <a:extLst>
              <a:ext uri="{FF2B5EF4-FFF2-40B4-BE49-F238E27FC236}">
                <a16:creationId xmlns:a16="http://schemas.microsoft.com/office/drawing/2014/main" id="{6BF91275-DC01-44B7-8C2D-4DAE19280E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4A25D6D-D21B-4E2A-BC04-605EE2DB0F09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RGP occupancy validation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B0B1978F-5B35-421D-B74B-96DAF724A4C3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D6C7C6-C266-4BBC-8C56-5E9D32A545B0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7183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wavefront=</a:t>
            </a:r>
            <a:r>
              <a:rPr lang="en-US"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 不能直接推論 shader 結束，也不能直接推論 memory/atomic stall。</a:t>
            </a:r>
          </a:p>
        </p:txBody>
      </p:sp>
      <p:sp>
        <p:nvSpPr>
          <p:cNvPr id="14" name="callout-rule">
            <a:extLst>
              <a:ext uri="{FF2B5EF4-FFF2-40B4-BE49-F238E27FC236}">
                <a16:creationId xmlns:a16="http://schemas.microsoft.com/office/drawing/2014/main" id="{8F16D569-E4CE-4BDE-9999-800216EFF8AE}"/>
              </a:ext>
            </a:extLst>
          </p:cNvPr>
          <p:cNvSpPr>
            <a:spLocks noGrp="1"/>
          </p:cNvSpPr>
          <p:nvPr/>
        </p:nvSpPr>
        <p:spPr>
          <a:xfrm>
            <a:off x="552450" y="9010650"/>
            <a:ext cx="95250" cy="5524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5" name="callout-text">
            <a:extLst>
              <a:ext uri="{FF2B5EF4-FFF2-40B4-BE49-F238E27FC236}">
                <a16:creationId xmlns:a16="http://schemas.microsoft.com/office/drawing/2014/main" id="{DF79E74D-261F-48FE-8F14-EEF9F5BE273D}"/>
              </a:ext>
            </a:extLst>
          </p:cNvPr>
          <p:cNvSpPr>
            <a:spLocks noGrp="1"/>
          </p:cNvSpPr>
          <p:nvPr/>
        </p:nvSpPr>
        <p:spPr>
          <a:xfrm>
            <a:off x="819150" y="9105900"/>
            <a:ext cx="16916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觀察：0 occupancy + long event bar；驗證：ALU-only 仍同型態，所以這組 RGP 圖只能作輔助。</a:t>
            </a:r>
          </a:p>
        </p:txBody>
      </p:sp>
      <p:sp>
        <p:nvSpPr>
          <p:cNvPr id="17" name="rgp-alu-only-title">
            <a:extLst>
              <a:ext uri="{FF2B5EF4-FFF2-40B4-BE49-F238E27FC236}">
                <a16:creationId xmlns:a16="http://schemas.microsoft.com/office/drawing/2014/main" id="{85CF8AB2-245D-4BB6-B204-4D23A5EC835C}"/>
              </a:ext>
            </a:extLst>
          </p:cNvPr>
          <p:cNvSpPr>
            <a:spLocks noGrp="1"/>
          </p:cNvSpPr>
          <p:nvPr/>
        </p:nvSpPr>
        <p:spPr>
          <a:xfrm>
            <a:off x="552450" y="2438399"/>
            <a:ext cx="5711568" cy="58733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ALU-only shader</a:t>
            </a:r>
          </a:p>
        </p:txBody>
      </p:sp>
      <p:pic>
        <p:nvPicPr>
          <p:cNvPr id="18" name="rgp-alu-only-image">
            <a:extLst>
              <a:ext uri="{FF2B5EF4-FFF2-40B4-BE49-F238E27FC236}">
                <a16:creationId xmlns:a16="http://schemas.microsoft.com/office/drawing/2014/main" id="{6FC51C52-059C-46DF-91EF-1A3C7BF5D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3561" y="2900832"/>
            <a:ext cx="10024382" cy="563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7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8-bg">
            <a:extLst>
              <a:ext uri="{FF2B5EF4-FFF2-40B4-BE49-F238E27FC236}">
                <a16:creationId xmlns:a16="http://schemas.microsoft.com/office/drawing/2014/main" id="{F2DEC42F-42C2-457C-9BF7-BC0809BEE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B6B45F4-F21B-4F10-B5A8-4D316B9D6B7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GTX 1080 Ti</a:t>
            </a:r>
            <a:endParaRPr lang="zh-TW" altLang="en-US" sz="5250" b="1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68BCEB0-9664-4CA5-B0C7-A8E41D84D1F6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nvidia-gtx-row-title">
            <a:extLst>
              <a:ext uri="{FF2B5EF4-FFF2-40B4-BE49-F238E27FC236}">
                <a16:creationId xmlns:a16="http://schemas.microsoft.com/office/drawing/2014/main" id="{136D22A4-7435-4B9E-A694-3E106F14369E}"/>
              </a:ext>
            </a:extLst>
          </p:cNvPr>
          <p:cNvSpPr>
            <a:spLocks noGrp="1"/>
          </p:cNvSpPr>
          <p:nvPr/>
        </p:nvSpPr>
        <p:spPr>
          <a:xfrm>
            <a:off x="4658937" y="1657350"/>
            <a:ext cx="925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Nsight Graphics GPUs Full List：GeForce GTX 1080 Ti[1]</a:t>
            </a:r>
          </a:p>
        </p:txBody>
      </p:sp>
      <p:pic>
        <p:nvPicPr>
          <p:cNvPr id="5" name="nvidia-gtx-row-ima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90654" y="1975485"/>
            <a:ext cx="8601559" cy="1409700"/>
          </a:xfrm>
          <a:prstGeom prst="rect">
            <a:avLst/>
          </a:prstGeom>
        </p:spPr>
      </p:pic>
      <p:sp>
        <p:nvSpPr>
          <p:cNvPr id="6" name="nvidia-footnote-title">
            <a:extLst>
              <a:ext uri="{FF2B5EF4-FFF2-40B4-BE49-F238E27FC236}">
                <a16:creationId xmlns:a16="http://schemas.microsoft.com/office/drawing/2014/main" id="{FEF80684-9894-43EB-AA92-AE762124A1EA}"/>
              </a:ext>
            </a:extLst>
          </p:cNvPr>
          <p:cNvSpPr>
            <a:spLocks noGrp="1"/>
          </p:cNvSpPr>
          <p:nvPr/>
        </p:nvSpPr>
        <p:spPr>
          <a:xfrm>
            <a:off x="4658937" y="3486150"/>
            <a:ext cx="925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註解 [1]：profiling activities are not supported</a:t>
            </a:r>
          </a:p>
        </p:txBody>
      </p:sp>
      <p:pic>
        <p:nvPicPr>
          <p:cNvPr id="7" name="nvidia-footnote-imag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58937" y="3923684"/>
            <a:ext cx="9264993" cy="1064222"/>
          </a:xfrm>
          <a:prstGeom prst="rect">
            <a:avLst/>
          </a:prstGeom>
        </p:spPr>
      </p:pic>
      <p:sp>
        <p:nvSpPr>
          <p:cNvPr id="8" name="nvidia-trace-overview-title">
            <a:extLst>
              <a:ext uri="{FF2B5EF4-FFF2-40B4-BE49-F238E27FC236}">
                <a16:creationId xmlns:a16="http://schemas.microsoft.com/office/drawing/2014/main" id="{8A6DD812-9663-4B6A-B5E3-ED56A5522B26}"/>
              </a:ext>
            </a:extLst>
          </p:cNvPr>
          <p:cNvSpPr>
            <a:spLocks noGrp="1"/>
          </p:cNvSpPr>
          <p:nvPr/>
        </p:nvSpPr>
        <p:spPr>
          <a:xfrm>
            <a:off x="4658937" y="5200650"/>
            <a:ext cx="925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GPU Trace Profiler：低階 profiler，觀察 GPU units utilization</a:t>
            </a:r>
          </a:p>
        </p:txBody>
      </p:sp>
      <p:pic>
        <p:nvPicPr>
          <p:cNvPr id="9" name="nvidia-trace-overview-image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58937" y="5571945"/>
            <a:ext cx="9264993" cy="2175870"/>
          </a:xfrm>
          <a:prstGeom prst="rect">
            <a:avLst/>
          </a:prstGeom>
        </p:spPr>
      </p:pic>
      <p:sp>
        <p:nvSpPr>
          <p:cNvPr id="10" name="nvidia-turing-support-title">
            <a:extLst>
              <a:ext uri="{FF2B5EF4-FFF2-40B4-BE49-F238E27FC236}">
                <a16:creationId xmlns:a16="http://schemas.microsoft.com/office/drawing/2014/main" id="{2117F4E2-523E-4CD4-9FA6-C0D3A62F438E}"/>
              </a:ext>
            </a:extLst>
          </p:cNvPr>
          <p:cNvSpPr>
            <a:spLocks noGrp="1"/>
          </p:cNvSpPr>
          <p:nvPr/>
        </p:nvSpPr>
        <p:spPr>
          <a:xfrm>
            <a:off x="4658937" y="7886700"/>
            <a:ext cx="925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GPU Trace 支援範圍：Turing architecture and above</a:t>
            </a:r>
          </a:p>
        </p:txBody>
      </p:sp>
      <p:pic>
        <p:nvPicPr>
          <p:cNvPr id="11" name="nvidia-turing-support-image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754221" y="8216265"/>
            <a:ext cx="9074426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53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-9-bg">
            <a:extLst>
              <a:ext uri="{FF2B5EF4-FFF2-40B4-BE49-F238E27FC236}">
                <a16:creationId xmlns:a16="http://schemas.microsoft.com/office/drawing/2014/main" id="{173E46AC-6DC4-4081-9917-70EEBAABC2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BF64C28-92B1-46E8-990D-5C5FA67BB543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B/C ratio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ECD94756-1229-4BB9-8064-4421FE1BDF6F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3436C9-6D1B-4E6F-A1F8-A3B70FBD0142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5247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問題：Node C writer 是否不足，造成 Q2 backlog？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963A75-ACE9-4858-8CD7-A38F28E8277E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觀察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3CA03-63F5-4A6F-82E5-F59FF2371B8D}"/>
              </a:ext>
            </a:extLst>
          </p:cNvPr>
          <p:cNvSpPr>
            <a:spLocks noGrp="1"/>
          </p:cNvSpPr>
          <p:nvPr/>
        </p:nvSpPr>
        <p:spPr>
          <a:xfrm>
            <a:off x="1695450" y="3962400"/>
            <a:ext cx="6381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 high-water 50k；Q2 enq fail 67.8x。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B538DD-945B-4392-88E6-E99D664A2384}"/>
              </a:ext>
            </a:extLst>
          </p:cNvPr>
          <p:cNvSpPr>
            <a:spLocks noGrp="1"/>
          </p:cNvSpPr>
          <p:nvPr/>
        </p:nvSpPr>
        <p:spPr>
          <a:xfrm>
            <a:off x="552450" y="440055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猜測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F3DCE1-F4EC-4A39-8DA5-9C491C5B3996}"/>
              </a:ext>
            </a:extLst>
          </p:cNvPr>
          <p:cNvSpPr>
            <a:spLocks noGrp="1"/>
          </p:cNvSpPr>
          <p:nvPr/>
        </p:nvSpPr>
        <p:spPr>
          <a:xfrm>
            <a:off x="1695450" y="4362450"/>
            <a:ext cx="6381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C writers 原本不足，Q2 backlog 放大 enqueue 競爭。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CFDD80-5C23-4B63-A9B3-24BCEE88B973}"/>
              </a:ext>
            </a:extLst>
          </p:cNvPr>
          <p:cNvSpPr>
            <a:spLocks noGrp="1"/>
          </p:cNvSpPr>
          <p:nvPr/>
        </p:nvSpPr>
        <p:spPr>
          <a:xfrm>
            <a:off x="552450" y="481965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A785A7-4F61-4E9B-A1EB-E25CB0D6C412}"/>
              </a:ext>
            </a:extLst>
          </p:cNvPr>
          <p:cNvSpPr>
            <a:spLocks noGrp="1"/>
          </p:cNvSpPr>
          <p:nvPr/>
        </p:nvSpPr>
        <p:spPr>
          <a:xfrm>
            <a:off x="1695450" y="4781550"/>
            <a:ext cx="63817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C40 後 high-water 9k、enq fail 31.8x、27.97 ms。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B7D3B6-ECF7-420B-8CF8-155829837295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676650" cy="723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C=40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FC09E8-9DFC-4413-BA64-CD7B0984FEC3}"/>
              </a:ext>
            </a:extLst>
          </p:cNvPr>
          <p:cNvSpPr>
            <a:spLocks noGrp="1"/>
          </p:cNvSpPr>
          <p:nvPr/>
        </p:nvSpPr>
        <p:spPr>
          <a:xfrm>
            <a:off x="552450" y="7391400"/>
            <a:ext cx="3676650" cy="285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4D11B7-E1C2-4929-9973-8AEB9555046C}"/>
              </a:ext>
            </a:extLst>
          </p:cNvPr>
          <p:cNvSpPr>
            <a:spLocks noGrp="1"/>
          </p:cNvSpPr>
          <p:nvPr/>
        </p:nvSpPr>
        <p:spPr>
          <a:xfrm>
            <a:off x="552450" y="748665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best writer count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5B8A03-305B-4170-ADA6-568F8CBCF30A}"/>
              </a:ext>
            </a:extLst>
          </p:cNvPr>
          <p:cNvSpPr>
            <a:spLocks noGrp="1"/>
          </p:cNvSpPr>
          <p:nvPr/>
        </p:nvSpPr>
        <p:spPr>
          <a:xfrm>
            <a:off x="4400550" y="6591300"/>
            <a:ext cx="3676650" cy="723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27.97 ms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0A1059-17A1-4466-AEBC-B5D6C60810DE}"/>
              </a:ext>
            </a:extLst>
          </p:cNvPr>
          <p:cNvSpPr>
            <a:spLocks noGrp="1"/>
          </p:cNvSpPr>
          <p:nvPr/>
        </p:nvSpPr>
        <p:spPr>
          <a:xfrm>
            <a:off x="4400550" y="7391400"/>
            <a:ext cx="36766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F29E91-5D2A-43B5-888E-99E3AAD8FF2E}"/>
              </a:ext>
            </a:extLst>
          </p:cNvPr>
          <p:cNvSpPr>
            <a:spLocks noGrp="1"/>
          </p:cNvSpPr>
          <p:nvPr/>
        </p:nvSpPr>
        <p:spPr>
          <a:xfrm>
            <a:off x="4400550" y="748665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avg compute</a:t>
            </a:r>
          </a:p>
        </p:txBody>
      </p:sp>
      <p:sp>
        <p:nvSpPr>
          <p:cNvPr id="17" name="callout-rule">
            <a:extLst>
              <a:ext uri="{FF2B5EF4-FFF2-40B4-BE49-F238E27FC236}">
                <a16:creationId xmlns:a16="http://schemas.microsoft.com/office/drawing/2014/main" id="{C826DC68-746B-413D-9E50-BBA5C687B83D}"/>
              </a:ext>
            </a:extLst>
          </p:cNvPr>
          <p:cNvSpPr>
            <a:spLocks noGrp="1"/>
          </p:cNvSpPr>
          <p:nvPr/>
        </p:nvSpPr>
        <p:spPr>
          <a:xfrm>
            <a:off x="552450" y="9277350"/>
            <a:ext cx="95250" cy="6096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8" name="callout-text">
            <a:extLst>
              <a:ext uri="{FF2B5EF4-FFF2-40B4-BE49-F238E27FC236}">
                <a16:creationId xmlns:a16="http://schemas.microsoft.com/office/drawing/2014/main" id="{E71F0A3D-87C0-4F95-9EF8-7BF534D89F30}"/>
              </a:ext>
            </a:extLst>
          </p:cNvPr>
          <p:cNvSpPr>
            <a:spLocks noGrp="1"/>
          </p:cNvSpPr>
          <p:nvPr/>
        </p:nvSpPr>
        <p:spPr>
          <a:xfrm>
            <a:off x="819150" y="9391650"/>
            <a:ext cx="72580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Q2 high-water 約從 50k 降到 9k。</a:t>
            </a:r>
          </a:p>
        </p:txBody>
      </p:sp>
      <p:sp>
        <p:nvSpPr>
          <p:cNvPr id="19" name="bc-table-rheader-c0">
            <a:extLst>
              <a:ext uri="{FF2B5EF4-FFF2-40B4-BE49-F238E27FC236}">
                <a16:creationId xmlns:a16="http://schemas.microsoft.com/office/drawing/2014/main" id="{1237A30C-D67D-4A25-833C-8148405D7C90}"/>
              </a:ext>
            </a:extLst>
          </p:cNvPr>
          <p:cNvSpPr>
            <a:spLocks noGrp="1"/>
          </p:cNvSpPr>
          <p:nvPr/>
        </p:nvSpPr>
        <p:spPr>
          <a:xfrm>
            <a:off x="8534400" y="1714500"/>
            <a:ext cx="1333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0" name="bc-table-rheader-c1">
            <a:extLst>
              <a:ext uri="{FF2B5EF4-FFF2-40B4-BE49-F238E27FC236}">
                <a16:creationId xmlns:a16="http://schemas.microsoft.com/office/drawing/2014/main" id="{EB449039-C64C-437A-9320-BE1442CDF8DB}"/>
              </a:ext>
            </a:extLst>
          </p:cNvPr>
          <p:cNvSpPr>
            <a:spLocks noGrp="1"/>
          </p:cNvSpPr>
          <p:nvPr/>
        </p:nvSpPr>
        <p:spPr>
          <a:xfrm>
            <a:off x="10096500" y="1714500"/>
            <a:ext cx="1333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21" name="bc-table-rheader-c2">
            <a:extLst>
              <a:ext uri="{FF2B5EF4-FFF2-40B4-BE49-F238E27FC236}">
                <a16:creationId xmlns:a16="http://schemas.microsoft.com/office/drawing/2014/main" id="{D8614C6B-B696-4A89-A223-31E6D2C394C4}"/>
              </a:ext>
            </a:extLst>
          </p:cNvPr>
          <p:cNvSpPr>
            <a:spLocks noGrp="1"/>
          </p:cNvSpPr>
          <p:nvPr/>
        </p:nvSpPr>
        <p:spPr>
          <a:xfrm>
            <a:off x="11658600" y="1714500"/>
            <a:ext cx="2476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Avg compute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606387-83E5-43EF-BD2B-39F335C35F02}"/>
              </a:ext>
            </a:extLst>
          </p:cNvPr>
          <p:cNvSpPr>
            <a:spLocks noGrp="1"/>
          </p:cNvSpPr>
          <p:nvPr/>
        </p:nvSpPr>
        <p:spPr>
          <a:xfrm>
            <a:off x="8534400" y="2266950"/>
            <a:ext cx="920115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23" name="bc-table-r0-c0">
            <a:extLst>
              <a:ext uri="{FF2B5EF4-FFF2-40B4-BE49-F238E27FC236}">
                <a16:creationId xmlns:a16="http://schemas.microsoft.com/office/drawing/2014/main" id="{7DA85E0E-DEF3-4339-9A16-A2F74F1E8EBC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24" name="bc-table-r0-c1">
            <a:extLst>
              <a:ext uri="{FF2B5EF4-FFF2-40B4-BE49-F238E27FC236}">
                <a16:creationId xmlns:a16="http://schemas.microsoft.com/office/drawing/2014/main" id="{1CC1E36C-205E-474F-850E-9C5B26CD8137}"/>
              </a:ext>
            </a:extLst>
          </p:cNvPr>
          <p:cNvSpPr>
            <a:spLocks noGrp="1"/>
          </p:cNvSpPr>
          <p:nvPr/>
        </p:nvSpPr>
        <p:spPr>
          <a:xfrm>
            <a:off x="10096500" y="251460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72</a:t>
            </a:r>
          </a:p>
        </p:txBody>
      </p:sp>
      <p:sp>
        <p:nvSpPr>
          <p:cNvPr id="25" name="bc-table-r0-c2">
            <a:extLst>
              <a:ext uri="{FF2B5EF4-FFF2-40B4-BE49-F238E27FC236}">
                <a16:creationId xmlns:a16="http://schemas.microsoft.com/office/drawing/2014/main" id="{3F936770-8006-4163-B330-AEDE199DF4AA}"/>
              </a:ext>
            </a:extLst>
          </p:cNvPr>
          <p:cNvSpPr>
            <a:spLocks noGrp="1"/>
          </p:cNvSpPr>
          <p:nvPr/>
        </p:nvSpPr>
        <p:spPr>
          <a:xfrm>
            <a:off x="11658600" y="2514600"/>
            <a:ext cx="2476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30.35 ms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634F12-E11B-4AA0-9B07-59A3E9CDB994}"/>
              </a:ext>
            </a:extLst>
          </p:cNvPr>
          <p:cNvSpPr>
            <a:spLocks noGrp="1"/>
          </p:cNvSpPr>
          <p:nvPr/>
        </p:nvSpPr>
        <p:spPr>
          <a:xfrm>
            <a:off x="8534400" y="3105150"/>
            <a:ext cx="92011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7" name="bc-table-r1-c0">
            <a:extLst>
              <a:ext uri="{FF2B5EF4-FFF2-40B4-BE49-F238E27FC236}">
                <a16:creationId xmlns:a16="http://schemas.microsoft.com/office/drawing/2014/main" id="{46158077-7AE2-471B-A750-67C4A1A56B54}"/>
              </a:ext>
            </a:extLst>
          </p:cNvPr>
          <p:cNvSpPr>
            <a:spLocks noGrp="1"/>
          </p:cNvSpPr>
          <p:nvPr/>
        </p:nvSpPr>
        <p:spPr>
          <a:xfrm>
            <a:off x="8534400" y="335280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28" name="bc-table-r1-c1">
            <a:extLst>
              <a:ext uri="{FF2B5EF4-FFF2-40B4-BE49-F238E27FC236}">
                <a16:creationId xmlns:a16="http://schemas.microsoft.com/office/drawing/2014/main" id="{46DB47DF-7316-41A2-9D77-34B9D36AE2A9}"/>
              </a:ext>
            </a:extLst>
          </p:cNvPr>
          <p:cNvSpPr>
            <a:spLocks noGrp="1"/>
          </p:cNvSpPr>
          <p:nvPr/>
        </p:nvSpPr>
        <p:spPr>
          <a:xfrm>
            <a:off x="10096500" y="335280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64</a:t>
            </a:r>
          </a:p>
        </p:txBody>
      </p:sp>
      <p:sp>
        <p:nvSpPr>
          <p:cNvPr id="29" name="bc-table-r1-c2">
            <a:extLst>
              <a:ext uri="{FF2B5EF4-FFF2-40B4-BE49-F238E27FC236}">
                <a16:creationId xmlns:a16="http://schemas.microsoft.com/office/drawing/2014/main" id="{5514246E-E635-47D9-B075-3CA47B30D6A8}"/>
              </a:ext>
            </a:extLst>
          </p:cNvPr>
          <p:cNvSpPr>
            <a:spLocks noGrp="1"/>
          </p:cNvSpPr>
          <p:nvPr/>
        </p:nvSpPr>
        <p:spPr>
          <a:xfrm>
            <a:off x="11658600" y="3352800"/>
            <a:ext cx="2476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28.44 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C24CA0-9FDE-4B0B-9A02-C7D0858E2E3C}"/>
              </a:ext>
            </a:extLst>
          </p:cNvPr>
          <p:cNvSpPr>
            <a:spLocks noGrp="1"/>
          </p:cNvSpPr>
          <p:nvPr/>
        </p:nvSpPr>
        <p:spPr>
          <a:xfrm>
            <a:off x="8534400" y="3943350"/>
            <a:ext cx="92011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1" name="bc-table-r2-c0">
            <a:extLst>
              <a:ext uri="{FF2B5EF4-FFF2-40B4-BE49-F238E27FC236}">
                <a16:creationId xmlns:a16="http://schemas.microsoft.com/office/drawing/2014/main" id="{ABC5E481-2563-4E2F-9E85-D853BE099E29}"/>
              </a:ext>
            </a:extLst>
          </p:cNvPr>
          <p:cNvSpPr>
            <a:spLocks noGrp="1"/>
          </p:cNvSpPr>
          <p:nvPr/>
        </p:nvSpPr>
        <p:spPr>
          <a:xfrm>
            <a:off x="8534400" y="417195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32" name="bc-table-r2-c1">
            <a:extLst>
              <a:ext uri="{FF2B5EF4-FFF2-40B4-BE49-F238E27FC236}">
                <a16:creationId xmlns:a16="http://schemas.microsoft.com/office/drawing/2014/main" id="{35B0C826-C19C-4BD4-8214-22F0607C6340}"/>
              </a:ext>
            </a:extLst>
          </p:cNvPr>
          <p:cNvSpPr>
            <a:spLocks noGrp="1"/>
          </p:cNvSpPr>
          <p:nvPr/>
        </p:nvSpPr>
        <p:spPr>
          <a:xfrm>
            <a:off x="10096500" y="417195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  <p:sp>
        <p:nvSpPr>
          <p:cNvPr id="33" name="bc-table-r2-c2">
            <a:extLst>
              <a:ext uri="{FF2B5EF4-FFF2-40B4-BE49-F238E27FC236}">
                <a16:creationId xmlns:a16="http://schemas.microsoft.com/office/drawing/2014/main" id="{08E838A0-FA30-48A0-A278-C1084561324C}"/>
              </a:ext>
            </a:extLst>
          </p:cNvPr>
          <p:cNvSpPr>
            <a:spLocks noGrp="1"/>
          </p:cNvSpPr>
          <p:nvPr/>
        </p:nvSpPr>
        <p:spPr>
          <a:xfrm>
            <a:off x="11658600" y="4171950"/>
            <a:ext cx="2476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27.97 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6B9C43-372E-4044-A10A-C733BF79E925}"/>
              </a:ext>
            </a:extLst>
          </p:cNvPr>
          <p:cNvSpPr>
            <a:spLocks noGrp="1"/>
          </p:cNvSpPr>
          <p:nvPr/>
        </p:nvSpPr>
        <p:spPr>
          <a:xfrm>
            <a:off x="8534400" y="4781550"/>
            <a:ext cx="92011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5" name="bc-table-r3-c0">
            <a:extLst>
              <a:ext uri="{FF2B5EF4-FFF2-40B4-BE49-F238E27FC236}">
                <a16:creationId xmlns:a16="http://schemas.microsoft.com/office/drawing/2014/main" id="{D206E2AD-64E8-4747-BB78-ADE92CE3AFEF}"/>
              </a:ext>
            </a:extLst>
          </p:cNvPr>
          <p:cNvSpPr>
            <a:spLocks noGrp="1"/>
          </p:cNvSpPr>
          <p:nvPr/>
        </p:nvSpPr>
        <p:spPr>
          <a:xfrm>
            <a:off x="8534400" y="501015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36" name="bc-table-r3-c1">
            <a:extLst>
              <a:ext uri="{FF2B5EF4-FFF2-40B4-BE49-F238E27FC236}">
                <a16:creationId xmlns:a16="http://schemas.microsoft.com/office/drawing/2014/main" id="{84177BC4-3094-4C93-BF36-DB4FA71AAF1C}"/>
              </a:ext>
            </a:extLst>
          </p:cNvPr>
          <p:cNvSpPr>
            <a:spLocks noGrp="1"/>
          </p:cNvSpPr>
          <p:nvPr/>
        </p:nvSpPr>
        <p:spPr>
          <a:xfrm>
            <a:off x="10096500" y="501015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37" name="bc-table-r3-c2">
            <a:extLst>
              <a:ext uri="{FF2B5EF4-FFF2-40B4-BE49-F238E27FC236}">
                <a16:creationId xmlns:a16="http://schemas.microsoft.com/office/drawing/2014/main" id="{33A62C2D-A910-491D-AD8E-E860EFA24C7B}"/>
              </a:ext>
            </a:extLst>
          </p:cNvPr>
          <p:cNvSpPr>
            <a:spLocks noGrp="1"/>
          </p:cNvSpPr>
          <p:nvPr/>
        </p:nvSpPr>
        <p:spPr>
          <a:xfrm>
            <a:off x="11658600" y="5010150"/>
            <a:ext cx="2476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28.59 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E3F0EFF-80DB-4BFF-B383-C0D1A272C496}"/>
              </a:ext>
            </a:extLst>
          </p:cNvPr>
          <p:cNvSpPr>
            <a:spLocks noGrp="1"/>
          </p:cNvSpPr>
          <p:nvPr/>
        </p:nvSpPr>
        <p:spPr>
          <a:xfrm>
            <a:off x="8534400" y="5600700"/>
            <a:ext cx="92011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9" name="bc-table-r4-c0">
            <a:extLst>
              <a:ext uri="{FF2B5EF4-FFF2-40B4-BE49-F238E27FC236}">
                <a16:creationId xmlns:a16="http://schemas.microsoft.com/office/drawing/2014/main" id="{A49305BE-9758-4792-BE00-8D5802EFB14A}"/>
              </a:ext>
            </a:extLst>
          </p:cNvPr>
          <p:cNvSpPr>
            <a:spLocks noGrp="1"/>
          </p:cNvSpPr>
          <p:nvPr/>
        </p:nvSpPr>
        <p:spPr>
          <a:xfrm>
            <a:off x="8534400" y="584835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64</a:t>
            </a:r>
          </a:p>
        </p:txBody>
      </p:sp>
      <p:sp>
        <p:nvSpPr>
          <p:cNvPr id="40" name="bc-table-r4-c1">
            <a:extLst>
              <a:ext uri="{FF2B5EF4-FFF2-40B4-BE49-F238E27FC236}">
                <a16:creationId xmlns:a16="http://schemas.microsoft.com/office/drawing/2014/main" id="{B32A2E2D-CAA6-4CDF-8389-CFB05FF643D9}"/>
              </a:ext>
            </a:extLst>
          </p:cNvPr>
          <p:cNvSpPr>
            <a:spLocks noGrp="1"/>
          </p:cNvSpPr>
          <p:nvPr/>
        </p:nvSpPr>
        <p:spPr>
          <a:xfrm>
            <a:off x="10096500" y="5848350"/>
            <a:ext cx="1333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1" name="bc-table-r4-c2">
            <a:extLst>
              <a:ext uri="{FF2B5EF4-FFF2-40B4-BE49-F238E27FC236}">
                <a16:creationId xmlns:a16="http://schemas.microsoft.com/office/drawing/2014/main" id="{CE6E14D2-C977-4D54-8AB9-210B77676C09}"/>
              </a:ext>
            </a:extLst>
          </p:cNvPr>
          <p:cNvSpPr>
            <a:spLocks noGrp="1"/>
          </p:cNvSpPr>
          <p:nvPr/>
        </p:nvSpPr>
        <p:spPr>
          <a:xfrm>
            <a:off x="11658600" y="5848350"/>
            <a:ext cx="2476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30.25 ms</a:t>
            </a:r>
          </a:p>
        </p:txBody>
      </p:sp>
    </p:spTree>
    <p:extLst>
      <p:ext uri="{BB962C8B-B14F-4D97-AF65-F5344CB8AC3E}">
        <p14:creationId xmlns:p14="http://schemas.microsoft.com/office/powerpoint/2010/main" val="1180919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10-bg">
            <a:extLst>
              <a:ext uri="{FF2B5EF4-FFF2-40B4-BE49-F238E27FC236}">
                <a16:creationId xmlns:a16="http://schemas.microsoft.com/office/drawing/2014/main" id="{0C87BF92-7E1D-4B61-A63C-81C9841F55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E757079-A515-406D-AA26-51AA810AA0D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Q1 sharding + B/C refine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E00780DF-A223-454C-8F25-87999BACB878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79D94C-7D61-4F1A-8279-39EFE953595B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83629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Q1 enqueue/dequeue contention 仍然明顯；先把 Q1 global queue 分散。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53EC92-D693-485F-88F8-EE5A7D8F2B96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990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觀察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277523-E871-420E-AC9E-6BAAD6A7CBDB}"/>
              </a:ext>
            </a:extLst>
          </p:cNvPr>
          <p:cNvSpPr>
            <a:spLocks noGrp="1"/>
          </p:cNvSpPr>
          <p:nvPr/>
        </p:nvSpPr>
        <p:spPr>
          <a:xfrm>
            <a:off x="1695450" y="5219700"/>
            <a:ext cx="7219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Q1s16 單獨把 compute 拉到 22.96 ms。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20F2ED-0F89-47A1-8495-47853B99AF7F}"/>
              </a:ext>
            </a:extLst>
          </p:cNvPr>
          <p:cNvSpPr>
            <a:spLocks noGrp="1"/>
          </p:cNvSpPr>
          <p:nvPr/>
        </p:nvSpPr>
        <p:spPr>
          <a:xfrm>
            <a:off x="552450" y="5695950"/>
            <a:ext cx="990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猜測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DA9688-A0F0-408B-9BC4-9B1DDA2CBF56}"/>
              </a:ext>
            </a:extLst>
          </p:cNvPr>
          <p:cNvSpPr>
            <a:spLocks noGrp="1"/>
          </p:cNvSpPr>
          <p:nvPr/>
        </p:nvSpPr>
        <p:spPr>
          <a:xfrm>
            <a:off x="1695450" y="5676900"/>
            <a:ext cx="7219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 global queue 是 hot atomic 結構。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0452B2-036A-4577-96CF-A7F54614C545}"/>
              </a:ext>
            </a:extLst>
          </p:cNvPr>
          <p:cNvSpPr>
            <a:spLocks noGrp="1"/>
          </p:cNvSpPr>
          <p:nvPr/>
        </p:nvSpPr>
        <p:spPr>
          <a:xfrm>
            <a:off x="552450" y="6172200"/>
            <a:ext cx="990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9ADE63-D74C-4F68-8331-5DA7301FFE5D}"/>
              </a:ext>
            </a:extLst>
          </p:cNvPr>
          <p:cNvSpPr>
            <a:spLocks noGrp="1"/>
          </p:cNvSpPr>
          <p:nvPr/>
        </p:nvSpPr>
        <p:spPr>
          <a:xfrm>
            <a:off x="1695450" y="6153150"/>
            <a:ext cx="7219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B/C refine 疊加後到 13.70 ms；Q2 counters 仍高。</a:t>
            </a:r>
          </a:p>
        </p:txBody>
      </p:sp>
      <p:sp>
        <p:nvSpPr>
          <p:cNvPr id="11" name="callout-rule">
            <a:extLst>
              <a:ext uri="{FF2B5EF4-FFF2-40B4-BE49-F238E27FC236}">
                <a16:creationId xmlns:a16="http://schemas.microsoft.com/office/drawing/2014/main" id="{6A7DB3D0-29AF-4C6B-887D-09F14A83EBD4}"/>
              </a:ext>
            </a:extLst>
          </p:cNvPr>
          <p:cNvSpPr>
            <a:spLocks noGrp="1"/>
          </p:cNvSpPr>
          <p:nvPr/>
        </p:nvSpPr>
        <p:spPr>
          <a:xfrm>
            <a:off x="552450" y="9220200"/>
            <a:ext cx="95250" cy="6667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2" name="callout-text">
            <a:extLst>
              <a:ext uri="{FF2B5EF4-FFF2-40B4-BE49-F238E27FC236}">
                <a16:creationId xmlns:a16="http://schemas.microsoft.com/office/drawing/2014/main" id="{2130F062-C4B8-4B17-92AF-2DF90CE3AAA7}"/>
              </a:ext>
            </a:extLst>
          </p:cNvPr>
          <p:cNvSpPr>
            <a:spLocks noGrp="1"/>
          </p:cNvSpPr>
          <p:nvPr/>
        </p:nvSpPr>
        <p:spPr>
          <a:xfrm>
            <a:off x="819150" y="9353550"/>
            <a:ext cx="8096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13.70 ms avg</a:t>
            </a:r>
          </a:p>
        </p:txBody>
      </p:sp>
      <p:sp>
        <p:nvSpPr>
          <p:cNvPr id="13" name="q1-table-rheader-c0">
            <a:extLst>
              <a:ext uri="{FF2B5EF4-FFF2-40B4-BE49-F238E27FC236}">
                <a16:creationId xmlns:a16="http://schemas.microsoft.com/office/drawing/2014/main" id="{97828A9B-4B16-4036-A97F-653066B5A095}"/>
              </a:ext>
            </a:extLst>
          </p:cNvPr>
          <p:cNvSpPr>
            <a:spLocks noGrp="1"/>
          </p:cNvSpPr>
          <p:nvPr/>
        </p:nvSpPr>
        <p:spPr>
          <a:xfrm>
            <a:off x="9372600" y="17145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Q1 shards</a:t>
            </a:r>
          </a:p>
        </p:txBody>
      </p:sp>
      <p:sp>
        <p:nvSpPr>
          <p:cNvPr id="14" name="q1-table-rheader-c1">
            <a:extLst>
              <a:ext uri="{FF2B5EF4-FFF2-40B4-BE49-F238E27FC236}">
                <a16:creationId xmlns:a16="http://schemas.microsoft.com/office/drawing/2014/main" id="{053A0E86-8057-4508-937E-AC3872887200}"/>
              </a:ext>
            </a:extLst>
          </p:cNvPr>
          <p:cNvSpPr>
            <a:spLocks noGrp="1"/>
          </p:cNvSpPr>
          <p:nvPr/>
        </p:nvSpPr>
        <p:spPr>
          <a:xfrm>
            <a:off x="11696700" y="17145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C/B</a:t>
            </a:r>
          </a:p>
        </p:txBody>
      </p:sp>
      <p:sp>
        <p:nvSpPr>
          <p:cNvPr id="15" name="q1-table-rheader-c2">
            <a:extLst>
              <a:ext uri="{FF2B5EF4-FFF2-40B4-BE49-F238E27FC236}">
                <a16:creationId xmlns:a16="http://schemas.microsoft.com/office/drawing/2014/main" id="{6BC4485E-D499-4B4E-A3BF-24D5733CE9BF}"/>
              </a:ext>
            </a:extLst>
          </p:cNvPr>
          <p:cNvSpPr>
            <a:spLocks noGrp="1"/>
          </p:cNvSpPr>
          <p:nvPr/>
        </p:nvSpPr>
        <p:spPr>
          <a:xfrm>
            <a:off x="13925550" y="17145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Avg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161023-2071-45E0-9098-F0F033BD5CB8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836295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17" name="q1-table-r0-c0">
            <a:extLst>
              <a:ext uri="{FF2B5EF4-FFF2-40B4-BE49-F238E27FC236}">
                <a16:creationId xmlns:a16="http://schemas.microsoft.com/office/drawing/2014/main" id="{DE6368E4-8E0D-44AE-AD91-DC467E9CB469}"/>
              </a:ext>
            </a:extLst>
          </p:cNvPr>
          <p:cNvSpPr>
            <a:spLocks noGrp="1"/>
          </p:cNvSpPr>
          <p:nvPr/>
        </p:nvSpPr>
        <p:spPr>
          <a:xfrm>
            <a:off x="9372600" y="251460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q1-table-r0-c1">
            <a:extLst>
              <a:ext uri="{FF2B5EF4-FFF2-40B4-BE49-F238E27FC236}">
                <a16:creationId xmlns:a16="http://schemas.microsoft.com/office/drawing/2014/main" id="{A9FC3CC9-9819-43C1-B0E3-7D32880CBDB4}"/>
              </a:ext>
            </a:extLst>
          </p:cNvPr>
          <p:cNvSpPr>
            <a:spLocks noGrp="1"/>
          </p:cNvSpPr>
          <p:nvPr/>
        </p:nvSpPr>
        <p:spPr>
          <a:xfrm>
            <a:off x="11696700" y="251460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40/56</a:t>
            </a:r>
          </a:p>
        </p:txBody>
      </p:sp>
      <p:sp>
        <p:nvSpPr>
          <p:cNvPr id="19" name="q1-table-r0-c2">
            <a:extLst>
              <a:ext uri="{FF2B5EF4-FFF2-40B4-BE49-F238E27FC236}">
                <a16:creationId xmlns:a16="http://schemas.microsoft.com/office/drawing/2014/main" id="{68B1F191-7CE5-4963-9263-4B77286670CC}"/>
              </a:ext>
            </a:extLst>
          </p:cNvPr>
          <p:cNvSpPr>
            <a:spLocks noGrp="1"/>
          </p:cNvSpPr>
          <p:nvPr/>
        </p:nvSpPr>
        <p:spPr>
          <a:xfrm>
            <a:off x="13925550" y="251460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23.24 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4227ED-B6BF-4B5D-B3F8-34F3BBA84E01}"/>
              </a:ext>
            </a:extLst>
          </p:cNvPr>
          <p:cNvSpPr>
            <a:spLocks noGrp="1"/>
          </p:cNvSpPr>
          <p:nvPr/>
        </p:nvSpPr>
        <p:spPr>
          <a:xfrm>
            <a:off x="9372600" y="310515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1" name="q1-table-r1-c0">
            <a:extLst>
              <a:ext uri="{FF2B5EF4-FFF2-40B4-BE49-F238E27FC236}">
                <a16:creationId xmlns:a16="http://schemas.microsoft.com/office/drawing/2014/main" id="{7F853C74-1D04-4AD1-92AF-EF8D24D8F634}"/>
              </a:ext>
            </a:extLst>
          </p:cNvPr>
          <p:cNvSpPr>
            <a:spLocks noGrp="1"/>
          </p:cNvSpPr>
          <p:nvPr/>
        </p:nvSpPr>
        <p:spPr>
          <a:xfrm>
            <a:off x="9372600" y="333375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22" name="q1-table-r1-c1">
            <a:extLst>
              <a:ext uri="{FF2B5EF4-FFF2-40B4-BE49-F238E27FC236}">
                <a16:creationId xmlns:a16="http://schemas.microsoft.com/office/drawing/2014/main" id="{282CA239-C15F-420B-9021-FC5870E1AEA3}"/>
              </a:ext>
            </a:extLst>
          </p:cNvPr>
          <p:cNvSpPr>
            <a:spLocks noGrp="1"/>
          </p:cNvSpPr>
          <p:nvPr/>
        </p:nvSpPr>
        <p:spPr>
          <a:xfrm>
            <a:off x="11696700" y="333375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40/56</a:t>
            </a:r>
          </a:p>
        </p:txBody>
      </p:sp>
      <p:sp>
        <p:nvSpPr>
          <p:cNvPr id="23" name="q1-table-r1-c2">
            <a:extLst>
              <a:ext uri="{FF2B5EF4-FFF2-40B4-BE49-F238E27FC236}">
                <a16:creationId xmlns:a16="http://schemas.microsoft.com/office/drawing/2014/main" id="{2DDF94BB-2BC5-457D-8DE5-746D27778022}"/>
              </a:ext>
            </a:extLst>
          </p:cNvPr>
          <p:cNvSpPr>
            <a:spLocks noGrp="1"/>
          </p:cNvSpPr>
          <p:nvPr/>
        </p:nvSpPr>
        <p:spPr>
          <a:xfrm>
            <a:off x="13925550" y="333375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17.90 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7F1BDD-D14D-4873-9F09-B0FD0E6A8303}"/>
              </a:ext>
            </a:extLst>
          </p:cNvPr>
          <p:cNvSpPr>
            <a:spLocks noGrp="1"/>
          </p:cNvSpPr>
          <p:nvPr/>
        </p:nvSpPr>
        <p:spPr>
          <a:xfrm>
            <a:off x="9372600" y="392430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5" name="q1-table-r2-c0">
            <a:extLst>
              <a:ext uri="{FF2B5EF4-FFF2-40B4-BE49-F238E27FC236}">
                <a16:creationId xmlns:a16="http://schemas.microsoft.com/office/drawing/2014/main" id="{65266AE0-4B5E-4F19-9C12-3956453C2753}"/>
              </a:ext>
            </a:extLst>
          </p:cNvPr>
          <p:cNvSpPr>
            <a:spLocks noGrp="1"/>
          </p:cNvSpPr>
          <p:nvPr/>
        </p:nvSpPr>
        <p:spPr>
          <a:xfrm>
            <a:off x="9372600" y="415290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6" name="q1-table-r2-c1">
            <a:extLst>
              <a:ext uri="{FF2B5EF4-FFF2-40B4-BE49-F238E27FC236}">
                <a16:creationId xmlns:a16="http://schemas.microsoft.com/office/drawing/2014/main" id="{B4EA390A-5AFA-4D14-8037-72D04EB399D6}"/>
              </a:ext>
            </a:extLst>
          </p:cNvPr>
          <p:cNvSpPr>
            <a:spLocks noGrp="1"/>
          </p:cNvSpPr>
          <p:nvPr/>
        </p:nvSpPr>
        <p:spPr>
          <a:xfrm>
            <a:off x="11696700" y="415290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36/60</a:t>
            </a:r>
          </a:p>
        </p:txBody>
      </p:sp>
      <p:sp>
        <p:nvSpPr>
          <p:cNvPr id="27" name="q1-table-r2-c2">
            <a:extLst>
              <a:ext uri="{FF2B5EF4-FFF2-40B4-BE49-F238E27FC236}">
                <a16:creationId xmlns:a16="http://schemas.microsoft.com/office/drawing/2014/main" id="{8B80F68C-1DD1-42E0-AF38-0CA19FC08AC0}"/>
              </a:ext>
            </a:extLst>
          </p:cNvPr>
          <p:cNvSpPr>
            <a:spLocks noGrp="1"/>
          </p:cNvSpPr>
          <p:nvPr/>
        </p:nvSpPr>
        <p:spPr>
          <a:xfrm>
            <a:off x="13925550" y="415290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13.95 ms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B095DE-1977-4AE3-9155-216C0C9165F1}"/>
              </a:ext>
            </a:extLst>
          </p:cNvPr>
          <p:cNvSpPr>
            <a:spLocks noGrp="1"/>
          </p:cNvSpPr>
          <p:nvPr/>
        </p:nvSpPr>
        <p:spPr>
          <a:xfrm>
            <a:off x="9372600" y="474345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9" name="q1-table-r3-c0">
            <a:extLst>
              <a:ext uri="{FF2B5EF4-FFF2-40B4-BE49-F238E27FC236}">
                <a16:creationId xmlns:a16="http://schemas.microsoft.com/office/drawing/2014/main" id="{F00F2E20-3F5B-4D04-B7CB-AA1E22B073A0}"/>
              </a:ext>
            </a:extLst>
          </p:cNvPr>
          <p:cNvSpPr>
            <a:spLocks noGrp="1"/>
          </p:cNvSpPr>
          <p:nvPr/>
        </p:nvSpPr>
        <p:spPr>
          <a:xfrm>
            <a:off x="9372600" y="497205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0" name="q1-table-r3-c1">
            <a:extLst>
              <a:ext uri="{FF2B5EF4-FFF2-40B4-BE49-F238E27FC236}">
                <a16:creationId xmlns:a16="http://schemas.microsoft.com/office/drawing/2014/main" id="{3F3F4045-2922-4D1C-8BF4-73471951B169}"/>
              </a:ext>
            </a:extLst>
          </p:cNvPr>
          <p:cNvSpPr>
            <a:spLocks noGrp="1"/>
          </p:cNvSpPr>
          <p:nvPr/>
        </p:nvSpPr>
        <p:spPr>
          <a:xfrm>
            <a:off x="11696700" y="497205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38/58</a:t>
            </a:r>
          </a:p>
        </p:txBody>
      </p:sp>
      <p:sp>
        <p:nvSpPr>
          <p:cNvPr id="31" name="q1-table-r3-c2">
            <a:extLst>
              <a:ext uri="{FF2B5EF4-FFF2-40B4-BE49-F238E27FC236}">
                <a16:creationId xmlns:a16="http://schemas.microsoft.com/office/drawing/2014/main" id="{2AACBF25-913A-49D7-BD51-3131891CA992}"/>
              </a:ext>
            </a:extLst>
          </p:cNvPr>
          <p:cNvSpPr>
            <a:spLocks noGrp="1"/>
          </p:cNvSpPr>
          <p:nvPr/>
        </p:nvSpPr>
        <p:spPr>
          <a:xfrm>
            <a:off x="13925550" y="497205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13.70 ms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5EA417-61F7-4D5A-A62E-0463C09AB1CB}"/>
              </a:ext>
            </a:extLst>
          </p:cNvPr>
          <p:cNvSpPr>
            <a:spLocks noGrp="1"/>
          </p:cNvSpPr>
          <p:nvPr/>
        </p:nvSpPr>
        <p:spPr>
          <a:xfrm>
            <a:off x="9372600" y="556260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3" name="q1-table-r4-c0">
            <a:extLst>
              <a:ext uri="{FF2B5EF4-FFF2-40B4-BE49-F238E27FC236}">
                <a16:creationId xmlns:a16="http://schemas.microsoft.com/office/drawing/2014/main" id="{4C3F8FC3-1E03-480B-95FC-FAA5F6D2BCC4}"/>
              </a:ext>
            </a:extLst>
          </p:cNvPr>
          <p:cNvSpPr>
            <a:spLocks noGrp="1"/>
          </p:cNvSpPr>
          <p:nvPr/>
        </p:nvSpPr>
        <p:spPr>
          <a:xfrm>
            <a:off x="9372600" y="5791200"/>
            <a:ext cx="2095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4" name="q1-table-r4-c1">
            <a:extLst>
              <a:ext uri="{FF2B5EF4-FFF2-40B4-BE49-F238E27FC236}">
                <a16:creationId xmlns:a16="http://schemas.microsoft.com/office/drawing/2014/main" id="{50017AB1-D81C-4FAD-B9A7-1D80C859E3C1}"/>
              </a:ext>
            </a:extLst>
          </p:cNvPr>
          <p:cNvSpPr>
            <a:spLocks noGrp="1"/>
          </p:cNvSpPr>
          <p:nvPr/>
        </p:nvSpPr>
        <p:spPr>
          <a:xfrm>
            <a:off x="11696700" y="579120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40/56</a:t>
            </a:r>
          </a:p>
        </p:txBody>
      </p:sp>
      <p:sp>
        <p:nvSpPr>
          <p:cNvPr id="35" name="q1-table-r4-c2">
            <a:extLst>
              <a:ext uri="{FF2B5EF4-FFF2-40B4-BE49-F238E27FC236}">
                <a16:creationId xmlns:a16="http://schemas.microsoft.com/office/drawing/2014/main" id="{20AFF5EB-7958-423D-B5AC-F446120BA0C2}"/>
              </a:ext>
            </a:extLst>
          </p:cNvPr>
          <p:cNvSpPr>
            <a:spLocks noGrp="1"/>
          </p:cNvSpPr>
          <p:nvPr/>
        </p:nvSpPr>
        <p:spPr>
          <a:xfrm>
            <a:off x="13925550" y="5791200"/>
            <a:ext cx="2000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14.08 ms</a:t>
            </a:r>
          </a:p>
        </p:txBody>
      </p:sp>
    </p:spTree>
    <p:extLst>
      <p:ext uri="{BB962C8B-B14F-4D97-AF65-F5344CB8AC3E}">
        <p14:creationId xmlns:p14="http://schemas.microsoft.com/office/powerpoint/2010/main" val="144052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-11-bg">
            <a:extLst>
              <a:ext uri="{FF2B5EF4-FFF2-40B4-BE49-F238E27FC236}">
                <a16:creationId xmlns:a16="http://schemas.microsoft.com/office/drawing/2014/main" id="{AED1D3B8-B6BE-4532-9482-084686C7C5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50552FA-0F2B-4BE2-985F-937E0B1315C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Q2 sharding + rebalance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E8A2B626-B332-4BB1-AF8C-E08B37CE1BD3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q2-shards-table-rheader-c0">
            <a:extLst>
              <a:ext uri="{FF2B5EF4-FFF2-40B4-BE49-F238E27FC236}">
                <a16:creationId xmlns:a16="http://schemas.microsoft.com/office/drawing/2014/main" id="{2265580E-BC38-488B-88C3-D3C39AC8C0A3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2381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Q2 shards</a:t>
            </a:r>
          </a:p>
        </p:txBody>
      </p:sp>
      <p:sp>
        <p:nvSpPr>
          <p:cNvPr id="5" name="q2-shards-table-rheader-c1">
            <a:extLst>
              <a:ext uri="{FF2B5EF4-FFF2-40B4-BE49-F238E27FC236}">
                <a16:creationId xmlns:a16="http://schemas.microsoft.com/office/drawing/2014/main" id="{7A428184-6C3A-4DBC-85B3-B31EEA468458}"/>
              </a:ext>
            </a:extLst>
          </p:cNvPr>
          <p:cNvSpPr>
            <a:spLocks noGrp="1"/>
          </p:cNvSpPr>
          <p:nvPr/>
        </p:nvSpPr>
        <p:spPr>
          <a:xfrm>
            <a:off x="3162300" y="1714500"/>
            <a:ext cx="2667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Avg compute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9CCFA9-DBFD-4645-8E89-C44934D271CE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836295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7" name="q2-shards-table-r0-c0">
            <a:extLst>
              <a:ext uri="{FF2B5EF4-FFF2-40B4-BE49-F238E27FC236}">
                <a16:creationId xmlns:a16="http://schemas.microsoft.com/office/drawing/2014/main" id="{F8B732FE-6212-42C4-A920-A9AF867BB386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381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q2-shards-table-r0-c1">
            <a:extLst>
              <a:ext uri="{FF2B5EF4-FFF2-40B4-BE49-F238E27FC236}">
                <a16:creationId xmlns:a16="http://schemas.microsoft.com/office/drawing/2014/main" id="{0320D8C2-D729-4439-AD29-756779E5DD45}"/>
              </a:ext>
            </a:extLst>
          </p:cNvPr>
          <p:cNvSpPr>
            <a:spLocks noGrp="1"/>
          </p:cNvSpPr>
          <p:nvPr/>
        </p:nvSpPr>
        <p:spPr>
          <a:xfrm>
            <a:off x="3162300" y="2571750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16.95 ms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BB2A7D-085B-4021-AA47-DB85A6220B81}"/>
              </a:ext>
            </a:extLst>
          </p:cNvPr>
          <p:cNvSpPr>
            <a:spLocks noGrp="1"/>
          </p:cNvSpPr>
          <p:nvPr/>
        </p:nvSpPr>
        <p:spPr>
          <a:xfrm>
            <a:off x="552450" y="318135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0" name="q2-shards-table-r1-c0">
            <a:extLst>
              <a:ext uri="{FF2B5EF4-FFF2-40B4-BE49-F238E27FC236}">
                <a16:creationId xmlns:a16="http://schemas.microsoft.com/office/drawing/2014/main" id="{A1DFEBB0-808B-4F93-9C93-6B4571C3798F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2381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q2-shards-table-r1-c1">
            <a:extLst>
              <a:ext uri="{FF2B5EF4-FFF2-40B4-BE49-F238E27FC236}">
                <a16:creationId xmlns:a16="http://schemas.microsoft.com/office/drawing/2014/main" id="{1C727026-474B-47FB-BA85-5E7254E1FE85}"/>
              </a:ext>
            </a:extLst>
          </p:cNvPr>
          <p:cNvSpPr>
            <a:spLocks noGrp="1"/>
          </p:cNvSpPr>
          <p:nvPr/>
        </p:nvSpPr>
        <p:spPr>
          <a:xfrm>
            <a:off x="3162300" y="3429000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10.24 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568AD7-BB53-42F4-BF88-766221E6E76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3" name="q2-shards-table-r2-c0">
            <a:extLst>
              <a:ext uri="{FF2B5EF4-FFF2-40B4-BE49-F238E27FC236}">
                <a16:creationId xmlns:a16="http://schemas.microsoft.com/office/drawing/2014/main" id="{FF8331EC-5C0F-458F-BED5-3F63B6DF0679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2381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4" name="q2-shards-table-r2-c1">
            <a:extLst>
              <a:ext uri="{FF2B5EF4-FFF2-40B4-BE49-F238E27FC236}">
                <a16:creationId xmlns:a16="http://schemas.microsoft.com/office/drawing/2014/main" id="{14722E69-89BE-4968-AA26-F451D7B12924}"/>
              </a:ext>
            </a:extLst>
          </p:cNvPr>
          <p:cNvSpPr>
            <a:spLocks noGrp="1"/>
          </p:cNvSpPr>
          <p:nvPr/>
        </p:nvSpPr>
        <p:spPr>
          <a:xfrm>
            <a:off x="3162300" y="4305300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8.38 ms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FF9194-6819-445F-B261-8478D9DDF2FE}"/>
              </a:ext>
            </a:extLst>
          </p:cNvPr>
          <p:cNvSpPr>
            <a:spLocks noGrp="1"/>
          </p:cNvSpPr>
          <p:nvPr/>
        </p:nvSpPr>
        <p:spPr>
          <a:xfrm>
            <a:off x="552450" y="491490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6" name="q2-shards-table-r3-c0">
            <a:extLst>
              <a:ext uri="{FF2B5EF4-FFF2-40B4-BE49-F238E27FC236}">
                <a16:creationId xmlns:a16="http://schemas.microsoft.com/office/drawing/2014/main" id="{979385B9-D16B-4870-83AB-A6302CBA1662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2381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17" name="q2-shards-table-r3-c1">
            <a:extLst>
              <a:ext uri="{FF2B5EF4-FFF2-40B4-BE49-F238E27FC236}">
                <a16:creationId xmlns:a16="http://schemas.microsoft.com/office/drawing/2014/main" id="{EBCBB9C5-D1B8-4F5E-9714-B956DC042462}"/>
              </a:ext>
            </a:extLst>
          </p:cNvPr>
          <p:cNvSpPr>
            <a:spLocks noGrp="1"/>
          </p:cNvSpPr>
          <p:nvPr/>
        </p:nvSpPr>
        <p:spPr>
          <a:xfrm>
            <a:off x="3162300" y="5181600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6.87 ms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48122A-3995-411D-86F4-BE8F4974E662}"/>
              </a:ext>
            </a:extLst>
          </p:cNvPr>
          <p:cNvSpPr>
            <a:spLocks noGrp="1"/>
          </p:cNvSpPr>
          <p:nvPr/>
        </p:nvSpPr>
        <p:spPr>
          <a:xfrm>
            <a:off x="552450" y="579120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9" name="q2-shards-table-r4-c0">
            <a:extLst>
              <a:ext uri="{FF2B5EF4-FFF2-40B4-BE49-F238E27FC236}">
                <a16:creationId xmlns:a16="http://schemas.microsoft.com/office/drawing/2014/main" id="{F75572E7-386C-4B04-8505-7238C1838CAE}"/>
              </a:ext>
            </a:extLst>
          </p:cNvPr>
          <p:cNvSpPr>
            <a:spLocks noGrp="1"/>
          </p:cNvSpPr>
          <p:nvPr/>
        </p:nvSpPr>
        <p:spPr>
          <a:xfrm>
            <a:off x="552450" y="6038850"/>
            <a:ext cx="2381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0" name="q2-shards-table-r4-c1">
            <a:extLst>
              <a:ext uri="{FF2B5EF4-FFF2-40B4-BE49-F238E27FC236}">
                <a16:creationId xmlns:a16="http://schemas.microsoft.com/office/drawing/2014/main" id="{C0D8BEA3-09EA-47DF-A5A1-DF8654623F72}"/>
              </a:ext>
            </a:extLst>
          </p:cNvPr>
          <p:cNvSpPr>
            <a:spLocks noGrp="1"/>
          </p:cNvSpPr>
          <p:nvPr/>
        </p:nvSpPr>
        <p:spPr>
          <a:xfrm>
            <a:off x="3162300" y="6038850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6.08 ms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71951C-880A-4C9B-991F-38AC74969159}"/>
              </a:ext>
            </a:extLst>
          </p:cNvPr>
          <p:cNvSpPr>
            <a:spLocks noGrp="1"/>
          </p:cNvSpPr>
          <p:nvPr/>
        </p:nvSpPr>
        <p:spPr>
          <a:xfrm>
            <a:off x="9372600" y="1657350"/>
            <a:ext cx="83629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Q2 global `count/head/tail` 是 Q1 sharded 後的下一個主要壓力點。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6F3EA9-1A5D-4300-A585-1865F8DFB9BC}"/>
              </a:ext>
            </a:extLst>
          </p:cNvPr>
          <p:cNvSpPr>
            <a:spLocks noGrp="1"/>
          </p:cNvSpPr>
          <p:nvPr/>
        </p:nvSpPr>
        <p:spPr>
          <a:xfrm>
            <a:off x="9372600" y="318135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觀察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4E86C3-BF04-447D-80E7-970C34BB89BA}"/>
              </a:ext>
            </a:extLst>
          </p:cNvPr>
          <p:cNvSpPr>
            <a:spLocks noGrp="1"/>
          </p:cNvSpPr>
          <p:nvPr/>
        </p:nvSpPr>
        <p:spPr>
          <a:xfrm>
            <a:off x="10515600" y="3143250"/>
            <a:ext cx="7219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 enq/deq 47.8x / 255.9x；high-water 68k。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92E818-6A3F-447A-83FA-000047AAC53C}"/>
              </a:ext>
            </a:extLst>
          </p:cNvPr>
          <p:cNvSpPr>
            <a:spLocks noGrp="1"/>
          </p:cNvSpPr>
          <p:nvPr/>
        </p:nvSpPr>
        <p:spPr>
          <a:xfrm>
            <a:off x="9372600" y="356235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猜測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2BF398-5C9C-48D0-90EB-31D2A46F9124}"/>
              </a:ext>
            </a:extLst>
          </p:cNvPr>
          <p:cNvSpPr>
            <a:spLocks noGrp="1"/>
          </p:cNvSpPr>
          <p:nvPr/>
        </p:nvSpPr>
        <p:spPr>
          <a:xfrm>
            <a:off x="10515600" y="3524250"/>
            <a:ext cx="7219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 count/head/tail 是下一個 hot spot。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0DAA78D-47A3-40FC-8DDE-D14E666CA245}"/>
              </a:ext>
            </a:extLst>
          </p:cNvPr>
          <p:cNvSpPr>
            <a:spLocks noGrp="1"/>
          </p:cNvSpPr>
          <p:nvPr/>
        </p:nvSpPr>
        <p:spPr>
          <a:xfrm>
            <a:off x="9372600" y="3962400"/>
            <a:ext cx="99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4BE443F-151A-4375-ACAD-0BD0333F1116}"/>
              </a:ext>
            </a:extLst>
          </p:cNvPr>
          <p:cNvSpPr>
            <a:spLocks noGrp="1"/>
          </p:cNvSpPr>
          <p:nvPr/>
        </p:nvSpPr>
        <p:spPr>
          <a:xfrm>
            <a:off x="10515600" y="3924300"/>
            <a:ext cx="7219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Q2s16 後 high-water 68k -&gt; 1.5k，最佳到 5.57 ms。</a:t>
            </a:r>
          </a:p>
        </p:txBody>
      </p:sp>
      <p:sp>
        <p:nvSpPr>
          <p:cNvPr id="28" name="q2-bc-table-rheader-c0">
            <a:extLst>
              <a:ext uri="{FF2B5EF4-FFF2-40B4-BE49-F238E27FC236}">
                <a16:creationId xmlns:a16="http://schemas.microsoft.com/office/drawing/2014/main" id="{B5A1F00B-B913-4E2F-B886-837DB3FE8BA9}"/>
              </a:ext>
            </a:extLst>
          </p:cNvPr>
          <p:cNvSpPr>
            <a:spLocks noGrp="1"/>
          </p:cNvSpPr>
          <p:nvPr/>
        </p:nvSpPr>
        <p:spPr>
          <a:xfrm>
            <a:off x="9372600" y="5010150"/>
            <a:ext cx="2000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C/B</a:t>
            </a:r>
          </a:p>
        </p:txBody>
      </p:sp>
      <p:sp>
        <p:nvSpPr>
          <p:cNvPr id="29" name="q2-bc-table-rheader-c1">
            <a:extLst>
              <a:ext uri="{FF2B5EF4-FFF2-40B4-BE49-F238E27FC236}">
                <a16:creationId xmlns:a16="http://schemas.microsoft.com/office/drawing/2014/main" id="{982B90B1-9D2B-4D5B-8417-2133B7E21343}"/>
              </a:ext>
            </a:extLst>
          </p:cNvPr>
          <p:cNvSpPr>
            <a:spLocks noGrp="1"/>
          </p:cNvSpPr>
          <p:nvPr/>
        </p:nvSpPr>
        <p:spPr>
          <a:xfrm>
            <a:off x="11601450" y="5010150"/>
            <a:ext cx="2571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Avg compute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3E0EB3B-1521-4E43-91E1-55182BB8219B}"/>
              </a:ext>
            </a:extLst>
          </p:cNvPr>
          <p:cNvSpPr>
            <a:spLocks noGrp="1"/>
          </p:cNvSpPr>
          <p:nvPr/>
        </p:nvSpPr>
        <p:spPr>
          <a:xfrm>
            <a:off x="9372600" y="5543550"/>
            <a:ext cx="836295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1" name="q2-bc-table-r0-c0">
            <a:extLst>
              <a:ext uri="{FF2B5EF4-FFF2-40B4-BE49-F238E27FC236}">
                <a16:creationId xmlns:a16="http://schemas.microsoft.com/office/drawing/2014/main" id="{20AB5C6D-4841-43C7-8CCF-704A5AC2DE8E}"/>
              </a:ext>
            </a:extLst>
          </p:cNvPr>
          <p:cNvSpPr>
            <a:spLocks noGrp="1"/>
          </p:cNvSpPr>
          <p:nvPr/>
        </p:nvSpPr>
        <p:spPr>
          <a:xfrm>
            <a:off x="9372600" y="577215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12/84</a:t>
            </a:r>
          </a:p>
        </p:txBody>
      </p:sp>
      <p:sp>
        <p:nvSpPr>
          <p:cNvPr id="32" name="q2-bc-table-r0-c1">
            <a:extLst>
              <a:ext uri="{FF2B5EF4-FFF2-40B4-BE49-F238E27FC236}">
                <a16:creationId xmlns:a16="http://schemas.microsoft.com/office/drawing/2014/main" id="{68234268-9CE9-48E5-801E-90610CE6C101}"/>
              </a:ext>
            </a:extLst>
          </p:cNvPr>
          <p:cNvSpPr>
            <a:spLocks noGrp="1"/>
          </p:cNvSpPr>
          <p:nvPr/>
        </p:nvSpPr>
        <p:spPr>
          <a:xfrm>
            <a:off x="11601450" y="5772150"/>
            <a:ext cx="2571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5.62 ms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BCC103-85C3-499E-B594-E15319F66722}"/>
              </a:ext>
            </a:extLst>
          </p:cNvPr>
          <p:cNvSpPr>
            <a:spLocks noGrp="1"/>
          </p:cNvSpPr>
          <p:nvPr/>
        </p:nvSpPr>
        <p:spPr>
          <a:xfrm>
            <a:off x="9372600" y="634365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4" name="q2-bc-table-r1-c0">
            <a:extLst>
              <a:ext uri="{FF2B5EF4-FFF2-40B4-BE49-F238E27FC236}">
                <a16:creationId xmlns:a16="http://schemas.microsoft.com/office/drawing/2014/main" id="{35B60D85-F14E-4FB1-ADE5-031B02FCDB3E}"/>
              </a:ext>
            </a:extLst>
          </p:cNvPr>
          <p:cNvSpPr>
            <a:spLocks noGrp="1"/>
          </p:cNvSpPr>
          <p:nvPr/>
        </p:nvSpPr>
        <p:spPr>
          <a:xfrm>
            <a:off x="9372600" y="657225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16/80</a:t>
            </a:r>
          </a:p>
        </p:txBody>
      </p:sp>
      <p:sp>
        <p:nvSpPr>
          <p:cNvPr id="35" name="q2-bc-table-r1-c1">
            <a:extLst>
              <a:ext uri="{FF2B5EF4-FFF2-40B4-BE49-F238E27FC236}">
                <a16:creationId xmlns:a16="http://schemas.microsoft.com/office/drawing/2014/main" id="{3948B6E6-BD49-4770-8BD1-A584CF08D191}"/>
              </a:ext>
            </a:extLst>
          </p:cNvPr>
          <p:cNvSpPr>
            <a:spLocks noGrp="1"/>
          </p:cNvSpPr>
          <p:nvPr/>
        </p:nvSpPr>
        <p:spPr>
          <a:xfrm>
            <a:off x="11601450" y="6572250"/>
            <a:ext cx="2571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5.57 ms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0DBACCD-E2BE-47CB-B37C-F78B6A01E33E}"/>
              </a:ext>
            </a:extLst>
          </p:cNvPr>
          <p:cNvSpPr>
            <a:spLocks noGrp="1"/>
          </p:cNvSpPr>
          <p:nvPr/>
        </p:nvSpPr>
        <p:spPr>
          <a:xfrm>
            <a:off x="9372600" y="712470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7" name="q2-bc-table-r2-c0">
            <a:extLst>
              <a:ext uri="{FF2B5EF4-FFF2-40B4-BE49-F238E27FC236}">
                <a16:creationId xmlns:a16="http://schemas.microsoft.com/office/drawing/2014/main" id="{0A01A44A-2198-4D3A-9CD7-43CA6E8889BA}"/>
              </a:ext>
            </a:extLst>
          </p:cNvPr>
          <p:cNvSpPr>
            <a:spLocks noGrp="1"/>
          </p:cNvSpPr>
          <p:nvPr/>
        </p:nvSpPr>
        <p:spPr>
          <a:xfrm>
            <a:off x="9372600" y="73533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24/72</a:t>
            </a:r>
          </a:p>
        </p:txBody>
      </p:sp>
      <p:sp>
        <p:nvSpPr>
          <p:cNvPr id="38" name="q2-bc-table-r2-c1">
            <a:extLst>
              <a:ext uri="{FF2B5EF4-FFF2-40B4-BE49-F238E27FC236}">
                <a16:creationId xmlns:a16="http://schemas.microsoft.com/office/drawing/2014/main" id="{66B5FD54-6CAD-4C91-BE52-2EC7B01AFA66}"/>
              </a:ext>
            </a:extLst>
          </p:cNvPr>
          <p:cNvSpPr>
            <a:spLocks noGrp="1"/>
          </p:cNvSpPr>
          <p:nvPr/>
        </p:nvSpPr>
        <p:spPr>
          <a:xfrm>
            <a:off x="11601450" y="7353300"/>
            <a:ext cx="2571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5.66 ms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3E3AA62-8E26-482B-B202-5C6E5F2B76EA}"/>
              </a:ext>
            </a:extLst>
          </p:cNvPr>
          <p:cNvSpPr>
            <a:spLocks noGrp="1"/>
          </p:cNvSpPr>
          <p:nvPr/>
        </p:nvSpPr>
        <p:spPr>
          <a:xfrm>
            <a:off x="9372600" y="7924800"/>
            <a:ext cx="83629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40" name="q2-bc-table-r3-c0">
            <a:extLst>
              <a:ext uri="{FF2B5EF4-FFF2-40B4-BE49-F238E27FC236}">
                <a16:creationId xmlns:a16="http://schemas.microsoft.com/office/drawing/2014/main" id="{9968278A-4438-4AAF-A327-3DF864C9228C}"/>
              </a:ext>
            </a:extLst>
          </p:cNvPr>
          <p:cNvSpPr>
            <a:spLocks noGrp="1"/>
          </p:cNvSpPr>
          <p:nvPr/>
        </p:nvSpPr>
        <p:spPr>
          <a:xfrm>
            <a:off x="9372600" y="81534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38/58</a:t>
            </a:r>
          </a:p>
        </p:txBody>
      </p:sp>
      <p:sp>
        <p:nvSpPr>
          <p:cNvPr id="41" name="q2-bc-table-r3-c1">
            <a:extLst>
              <a:ext uri="{FF2B5EF4-FFF2-40B4-BE49-F238E27FC236}">
                <a16:creationId xmlns:a16="http://schemas.microsoft.com/office/drawing/2014/main" id="{BDD0B9F4-A954-41C1-97B0-37512D543945}"/>
              </a:ext>
            </a:extLst>
          </p:cNvPr>
          <p:cNvSpPr>
            <a:spLocks noGrp="1"/>
          </p:cNvSpPr>
          <p:nvPr/>
        </p:nvSpPr>
        <p:spPr>
          <a:xfrm>
            <a:off x="11601450" y="8153400"/>
            <a:ext cx="2571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6.09 ms</a:t>
            </a:r>
          </a:p>
        </p:txBody>
      </p:sp>
      <p:sp>
        <p:nvSpPr>
          <p:cNvPr id="42" name="callout-rule">
            <a:extLst>
              <a:ext uri="{FF2B5EF4-FFF2-40B4-BE49-F238E27FC236}">
                <a16:creationId xmlns:a16="http://schemas.microsoft.com/office/drawing/2014/main" id="{5C448771-CEE2-4EE9-BB9C-60F55B2EEEA2}"/>
              </a:ext>
            </a:extLst>
          </p:cNvPr>
          <p:cNvSpPr>
            <a:spLocks noGrp="1"/>
          </p:cNvSpPr>
          <p:nvPr/>
        </p:nvSpPr>
        <p:spPr>
          <a:xfrm>
            <a:off x="9372600" y="9277350"/>
            <a:ext cx="95250" cy="6096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3" name="callout-text">
            <a:extLst>
              <a:ext uri="{FF2B5EF4-FFF2-40B4-BE49-F238E27FC236}">
                <a16:creationId xmlns:a16="http://schemas.microsoft.com/office/drawing/2014/main" id="{C36D0131-90A7-4607-9626-8D323F298202}"/>
              </a:ext>
            </a:extLst>
          </p:cNvPr>
          <p:cNvSpPr>
            <a:spLocks noGrp="1"/>
          </p:cNvSpPr>
          <p:nvPr/>
        </p:nvSpPr>
        <p:spPr>
          <a:xfrm>
            <a:off x="9639300" y="9391650"/>
            <a:ext cx="8096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最佳點：Q1s16/Q2s16, C=16/B=80, 約 5.57 ms avg。</a:t>
            </a:r>
          </a:p>
        </p:txBody>
      </p:sp>
    </p:spTree>
    <p:extLst>
      <p:ext uri="{BB962C8B-B14F-4D97-AF65-F5344CB8AC3E}">
        <p14:creationId xmlns:p14="http://schemas.microsoft.com/office/powerpoint/2010/main" val="2116180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-12-bg">
            <a:extLst>
              <a:ext uri="{FF2B5EF4-FFF2-40B4-BE49-F238E27FC236}">
                <a16:creationId xmlns:a16="http://schemas.microsoft.com/office/drawing/2014/main" id="{2DBB4D44-3EF8-4F70-8A21-FEB783005D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F2A5F82-EB44-4459-8022-1A3E0DB9C2C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Q1 lane-pop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87AC94E-3879-4606-A3E7-2933F49008A4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3DAE0D-B69C-41A8-8B81-4372F2E41EEC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7183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同一 workgroup 內所有 lane 從同一 shard 開始 pop，會造成局部 shard contention。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4DEDD0-B2DA-4AAA-B51F-4ED54CD1990D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5562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觀察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2B8668-8730-4870-811B-759F4AE9C1D5}"/>
              </a:ext>
            </a:extLst>
          </p:cNvPr>
          <p:cNvSpPr>
            <a:spLocks noGrp="1"/>
          </p:cNvSpPr>
          <p:nvPr/>
        </p:nvSpPr>
        <p:spPr>
          <a:xfrm>
            <a:off x="552450" y="3181350"/>
            <a:ext cx="556260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29541A-79DD-4541-B505-92DFF69A33BC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5562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 deq fail/ok 60.54x。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34FFBD-7098-42E2-8527-337F0DCA1F75}"/>
              </a:ext>
            </a:extLst>
          </p:cNvPr>
          <p:cNvSpPr>
            <a:spLocks noGrp="1"/>
          </p:cNvSpPr>
          <p:nvPr/>
        </p:nvSpPr>
        <p:spPr>
          <a:xfrm>
            <a:off x="6362700" y="2876550"/>
            <a:ext cx="5562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猜測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F09EC0-0264-4EF1-929F-0C687615E4CF}"/>
              </a:ext>
            </a:extLst>
          </p:cNvPr>
          <p:cNvSpPr>
            <a:spLocks noGrp="1"/>
          </p:cNvSpPr>
          <p:nvPr/>
        </p:nvSpPr>
        <p:spPr>
          <a:xfrm>
            <a:off x="6362700" y="3181350"/>
            <a:ext cx="55626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3C1F0D-0E79-4C16-B7FC-1E9D15373F32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5562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同一 workgroup lane 從同一 shard 起掃。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A747E5-FB1D-4F88-970E-2BEC1C148FF5}"/>
              </a:ext>
            </a:extLst>
          </p:cNvPr>
          <p:cNvSpPr>
            <a:spLocks noGrp="1"/>
          </p:cNvSpPr>
          <p:nvPr/>
        </p:nvSpPr>
        <p:spPr>
          <a:xfrm>
            <a:off x="12172950" y="2876550"/>
            <a:ext cx="5562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1E223-F502-4370-B99B-1F49417F13CA}"/>
              </a:ext>
            </a:extLst>
          </p:cNvPr>
          <p:cNvSpPr>
            <a:spLocks noGrp="1"/>
          </p:cNvSpPr>
          <p:nvPr/>
        </p:nvSpPr>
        <p:spPr>
          <a:xfrm>
            <a:off x="12172950" y="3181350"/>
            <a:ext cx="556260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B36286-50D4-4E90-917C-50D15499CF3F}"/>
              </a:ext>
            </a:extLst>
          </p:cNvPr>
          <p:cNvSpPr>
            <a:spLocks noGrp="1"/>
          </p:cNvSpPr>
          <p:nvPr/>
        </p:nvSpPr>
        <p:spPr>
          <a:xfrm>
            <a:off x="12172950" y="3276600"/>
            <a:ext cx="5562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15.38x -&gt; 12.98x；median 3.84 ms。</a:t>
            </a:r>
          </a:p>
        </p:txBody>
      </p:sp>
      <p:sp>
        <p:nvSpPr>
          <p:cNvPr id="14" name="lanepop-table-rheader-c0">
            <a:extLst>
              <a:ext uri="{FF2B5EF4-FFF2-40B4-BE49-F238E27FC236}">
                <a16:creationId xmlns:a16="http://schemas.microsoft.com/office/drawing/2014/main" id="{CC267E37-DFCC-4CD5-A819-4C30824233F8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6762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Mode</a:t>
            </a:r>
          </a:p>
        </p:txBody>
      </p:sp>
      <p:sp>
        <p:nvSpPr>
          <p:cNvPr id="15" name="lanepop-table-rheader-c1">
            <a:extLst>
              <a:ext uri="{FF2B5EF4-FFF2-40B4-BE49-F238E27FC236}">
                <a16:creationId xmlns:a16="http://schemas.microsoft.com/office/drawing/2014/main" id="{AE4B1F87-67AC-472E-A019-0F15D13A135D}"/>
              </a:ext>
            </a:extLst>
          </p:cNvPr>
          <p:cNvSpPr>
            <a:spLocks noGrp="1"/>
          </p:cNvSpPr>
          <p:nvPr/>
        </p:nvSpPr>
        <p:spPr>
          <a:xfrm>
            <a:off x="7543800" y="4476750"/>
            <a:ext cx="2095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Avg</a:t>
            </a:r>
          </a:p>
        </p:txBody>
      </p:sp>
      <p:sp>
        <p:nvSpPr>
          <p:cNvPr id="16" name="lanepop-table-rheader-c2">
            <a:extLst>
              <a:ext uri="{FF2B5EF4-FFF2-40B4-BE49-F238E27FC236}">
                <a16:creationId xmlns:a16="http://schemas.microsoft.com/office/drawing/2014/main" id="{560F65C7-122E-4AB6-8D9D-D495C0E90365}"/>
              </a:ext>
            </a:extLst>
          </p:cNvPr>
          <p:cNvSpPr>
            <a:spLocks noGrp="1"/>
          </p:cNvSpPr>
          <p:nvPr/>
        </p:nvSpPr>
        <p:spPr>
          <a:xfrm>
            <a:off x="9867900" y="4476750"/>
            <a:ext cx="2095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Median</a:t>
            </a:r>
          </a:p>
        </p:txBody>
      </p:sp>
      <p:sp>
        <p:nvSpPr>
          <p:cNvPr id="17" name="lanepop-table-rheader-c3">
            <a:extLst>
              <a:ext uri="{FF2B5EF4-FFF2-40B4-BE49-F238E27FC236}">
                <a16:creationId xmlns:a16="http://schemas.microsoft.com/office/drawing/2014/main" id="{A42B8D2E-5B7C-4217-9ADD-054E2CFC3508}"/>
              </a:ext>
            </a:extLst>
          </p:cNvPr>
          <p:cNvSpPr>
            <a:spLocks noGrp="1"/>
          </p:cNvSpPr>
          <p:nvPr/>
        </p:nvSpPr>
        <p:spPr>
          <a:xfrm>
            <a:off x="12192000" y="4476750"/>
            <a:ext cx="2095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Min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865351-6DB4-4718-9EB2-B4653D3E1093}"/>
              </a:ext>
            </a:extLst>
          </p:cNvPr>
          <p:cNvSpPr>
            <a:spLocks noGrp="1"/>
          </p:cNvSpPr>
          <p:nvPr/>
        </p:nvSpPr>
        <p:spPr>
          <a:xfrm>
            <a:off x="552450" y="4991100"/>
            <a:ext cx="171831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19" name="lanepop-table-r0-c0">
            <a:extLst>
              <a:ext uri="{FF2B5EF4-FFF2-40B4-BE49-F238E27FC236}">
                <a16:creationId xmlns:a16="http://schemas.microsoft.com/office/drawing/2014/main" id="{0212ADE5-FBE2-4A73-804C-D99E6451F632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6762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lane-pop off, C=16/B=80</a:t>
            </a:r>
          </a:p>
        </p:txBody>
      </p:sp>
      <p:sp>
        <p:nvSpPr>
          <p:cNvPr id="20" name="lanepop-table-r0-c1">
            <a:extLst>
              <a:ext uri="{FF2B5EF4-FFF2-40B4-BE49-F238E27FC236}">
                <a16:creationId xmlns:a16="http://schemas.microsoft.com/office/drawing/2014/main" id="{2FEB1F10-8224-498C-85EE-1A56B3519B8D}"/>
              </a:ext>
            </a:extLst>
          </p:cNvPr>
          <p:cNvSpPr>
            <a:spLocks noGrp="1"/>
          </p:cNvSpPr>
          <p:nvPr/>
        </p:nvSpPr>
        <p:spPr>
          <a:xfrm>
            <a:off x="7543800" y="5219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6.01 ms</a:t>
            </a:r>
          </a:p>
        </p:txBody>
      </p:sp>
      <p:sp>
        <p:nvSpPr>
          <p:cNvPr id="21" name="lanepop-table-r0-c2">
            <a:extLst>
              <a:ext uri="{FF2B5EF4-FFF2-40B4-BE49-F238E27FC236}">
                <a16:creationId xmlns:a16="http://schemas.microsoft.com/office/drawing/2014/main" id="{3E215713-B98A-4193-AEE6-8819935CCC7D}"/>
              </a:ext>
            </a:extLst>
          </p:cNvPr>
          <p:cNvSpPr>
            <a:spLocks noGrp="1"/>
          </p:cNvSpPr>
          <p:nvPr/>
        </p:nvSpPr>
        <p:spPr>
          <a:xfrm>
            <a:off x="9867900" y="5219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5.60 ms</a:t>
            </a:r>
          </a:p>
        </p:txBody>
      </p:sp>
      <p:sp>
        <p:nvSpPr>
          <p:cNvPr id="22" name="lanepop-table-r0-c3">
            <a:extLst>
              <a:ext uri="{FF2B5EF4-FFF2-40B4-BE49-F238E27FC236}">
                <a16:creationId xmlns:a16="http://schemas.microsoft.com/office/drawing/2014/main" id="{1E6327D9-4828-463A-9ACD-7C7EA5500062}"/>
              </a:ext>
            </a:extLst>
          </p:cNvPr>
          <p:cNvSpPr>
            <a:spLocks noGrp="1"/>
          </p:cNvSpPr>
          <p:nvPr/>
        </p:nvSpPr>
        <p:spPr>
          <a:xfrm>
            <a:off x="12192000" y="5219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5.54 ms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AFBAAC-D5CB-4862-83B4-38EB088A8C7B}"/>
              </a:ext>
            </a:extLst>
          </p:cNvPr>
          <p:cNvSpPr>
            <a:spLocks noGrp="1"/>
          </p:cNvSpPr>
          <p:nvPr/>
        </p:nvSpPr>
        <p:spPr>
          <a:xfrm>
            <a:off x="552450" y="577215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4" name="lanepop-table-r1-c0">
            <a:extLst>
              <a:ext uri="{FF2B5EF4-FFF2-40B4-BE49-F238E27FC236}">
                <a16:creationId xmlns:a16="http://schemas.microsoft.com/office/drawing/2014/main" id="{499D1F85-2D7D-4A5B-8B98-BA2AAAB3A8C4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6762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lane-pop on, C=16/B=80</a:t>
            </a:r>
          </a:p>
        </p:txBody>
      </p:sp>
      <p:sp>
        <p:nvSpPr>
          <p:cNvPr id="25" name="lanepop-table-r1-c1">
            <a:extLst>
              <a:ext uri="{FF2B5EF4-FFF2-40B4-BE49-F238E27FC236}">
                <a16:creationId xmlns:a16="http://schemas.microsoft.com/office/drawing/2014/main" id="{3C52A380-69D4-41D8-8DD6-2F334B81DF84}"/>
              </a:ext>
            </a:extLst>
          </p:cNvPr>
          <p:cNvSpPr>
            <a:spLocks noGrp="1"/>
          </p:cNvSpPr>
          <p:nvPr/>
        </p:nvSpPr>
        <p:spPr>
          <a:xfrm>
            <a:off x="7543800" y="5981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4.39 ms</a:t>
            </a:r>
          </a:p>
        </p:txBody>
      </p:sp>
      <p:sp>
        <p:nvSpPr>
          <p:cNvPr id="26" name="lanepop-table-r1-c2">
            <a:extLst>
              <a:ext uri="{FF2B5EF4-FFF2-40B4-BE49-F238E27FC236}">
                <a16:creationId xmlns:a16="http://schemas.microsoft.com/office/drawing/2014/main" id="{48D4B6F4-5359-4904-BDF2-C992E90C1ADD}"/>
              </a:ext>
            </a:extLst>
          </p:cNvPr>
          <p:cNvSpPr>
            <a:spLocks noGrp="1"/>
          </p:cNvSpPr>
          <p:nvPr/>
        </p:nvSpPr>
        <p:spPr>
          <a:xfrm>
            <a:off x="9867900" y="5981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4.00 ms</a:t>
            </a:r>
          </a:p>
        </p:txBody>
      </p:sp>
      <p:sp>
        <p:nvSpPr>
          <p:cNvPr id="27" name="lanepop-table-r1-c3">
            <a:extLst>
              <a:ext uri="{FF2B5EF4-FFF2-40B4-BE49-F238E27FC236}">
                <a16:creationId xmlns:a16="http://schemas.microsoft.com/office/drawing/2014/main" id="{4C2802B1-A98D-4F9C-AA97-377DA951DB1E}"/>
              </a:ext>
            </a:extLst>
          </p:cNvPr>
          <p:cNvSpPr>
            <a:spLocks noGrp="1"/>
          </p:cNvSpPr>
          <p:nvPr/>
        </p:nvSpPr>
        <p:spPr>
          <a:xfrm>
            <a:off x="12192000" y="5981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3.90 ms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0968BB-A9B1-4A1E-BBB7-F68B826765C8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17183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9" name="lanepop-table-r2-c0">
            <a:extLst>
              <a:ext uri="{FF2B5EF4-FFF2-40B4-BE49-F238E27FC236}">
                <a16:creationId xmlns:a16="http://schemas.microsoft.com/office/drawing/2014/main" id="{9FEC4A89-414C-4EFA-872E-CA3A744235C7}"/>
              </a:ext>
            </a:extLst>
          </p:cNvPr>
          <p:cNvSpPr>
            <a:spLocks noGrp="1"/>
          </p:cNvSpPr>
          <p:nvPr/>
        </p:nvSpPr>
        <p:spPr>
          <a:xfrm>
            <a:off x="552450" y="6743700"/>
            <a:ext cx="6762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lane-pop on, C=24/B=72</a:t>
            </a:r>
          </a:p>
        </p:txBody>
      </p:sp>
      <p:sp>
        <p:nvSpPr>
          <p:cNvPr id="30" name="lanepop-table-r2-c1">
            <a:extLst>
              <a:ext uri="{FF2B5EF4-FFF2-40B4-BE49-F238E27FC236}">
                <a16:creationId xmlns:a16="http://schemas.microsoft.com/office/drawing/2014/main" id="{6323E8B5-F6BB-412F-8D60-1BA753FE7A1D}"/>
              </a:ext>
            </a:extLst>
          </p:cNvPr>
          <p:cNvSpPr>
            <a:spLocks noGrp="1"/>
          </p:cNvSpPr>
          <p:nvPr/>
        </p:nvSpPr>
        <p:spPr>
          <a:xfrm>
            <a:off x="7543800" y="6743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3.85 ms</a:t>
            </a:r>
          </a:p>
        </p:txBody>
      </p:sp>
      <p:sp>
        <p:nvSpPr>
          <p:cNvPr id="31" name="lanepop-table-r2-c2">
            <a:extLst>
              <a:ext uri="{FF2B5EF4-FFF2-40B4-BE49-F238E27FC236}">
                <a16:creationId xmlns:a16="http://schemas.microsoft.com/office/drawing/2014/main" id="{76BD2ED5-E69A-458E-9F0C-F0BD1C5F2EAB}"/>
              </a:ext>
            </a:extLst>
          </p:cNvPr>
          <p:cNvSpPr>
            <a:spLocks noGrp="1"/>
          </p:cNvSpPr>
          <p:nvPr/>
        </p:nvSpPr>
        <p:spPr>
          <a:xfrm>
            <a:off x="9867900" y="6743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3.84 ms</a:t>
            </a:r>
          </a:p>
        </p:txBody>
      </p:sp>
      <p:sp>
        <p:nvSpPr>
          <p:cNvPr id="32" name="lanepop-table-r2-c3">
            <a:extLst>
              <a:ext uri="{FF2B5EF4-FFF2-40B4-BE49-F238E27FC236}">
                <a16:creationId xmlns:a16="http://schemas.microsoft.com/office/drawing/2014/main" id="{5352241D-6E5F-4EF8-8474-5E1DA900294E}"/>
              </a:ext>
            </a:extLst>
          </p:cNvPr>
          <p:cNvSpPr>
            <a:spLocks noGrp="1"/>
          </p:cNvSpPr>
          <p:nvPr/>
        </p:nvSpPr>
        <p:spPr>
          <a:xfrm>
            <a:off x="12192000" y="6743700"/>
            <a:ext cx="209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3.73 ms</a:t>
            </a:r>
          </a:p>
        </p:txBody>
      </p:sp>
      <p:sp>
        <p:nvSpPr>
          <p:cNvPr id="33" name="callout-rule">
            <a:extLst>
              <a:ext uri="{FF2B5EF4-FFF2-40B4-BE49-F238E27FC236}">
                <a16:creationId xmlns:a16="http://schemas.microsoft.com/office/drawing/2014/main" id="{D2C5992C-A456-4D13-B5F9-6E601142F3BA}"/>
              </a:ext>
            </a:extLst>
          </p:cNvPr>
          <p:cNvSpPr>
            <a:spLocks noGrp="1"/>
          </p:cNvSpPr>
          <p:nvPr/>
        </p:nvSpPr>
        <p:spPr>
          <a:xfrm>
            <a:off x="552450" y="7962900"/>
            <a:ext cx="95250" cy="5524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34" name="callout-text">
            <a:extLst>
              <a:ext uri="{FF2B5EF4-FFF2-40B4-BE49-F238E27FC236}">
                <a16:creationId xmlns:a16="http://schemas.microsoft.com/office/drawing/2014/main" id="{62A51D05-B399-4C35-9444-F899D05A7DCD}"/>
              </a:ext>
            </a:extLst>
          </p:cNvPr>
          <p:cNvSpPr>
            <a:spLocks noGrp="1"/>
          </p:cNvSpPr>
          <p:nvPr/>
        </p:nvSpPr>
        <p:spPr>
          <a:xfrm>
            <a:off x="819150" y="8058150"/>
            <a:ext cx="8210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Old: wgId % Q1_QUEUE_SHARDS</a:t>
            </a:r>
          </a:p>
        </p:txBody>
      </p:sp>
      <p:sp>
        <p:nvSpPr>
          <p:cNvPr id="35" name="callout-rule">
            <a:extLst>
              <a:ext uri="{FF2B5EF4-FFF2-40B4-BE49-F238E27FC236}">
                <a16:creationId xmlns:a16="http://schemas.microsoft.com/office/drawing/2014/main" id="{C794C70B-935D-4058-8929-C125805E87B3}"/>
              </a:ext>
            </a:extLst>
          </p:cNvPr>
          <p:cNvSpPr>
            <a:spLocks noGrp="1"/>
          </p:cNvSpPr>
          <p:nvPr/>
        </p:nvSpPr>
        <p:spPr>
          <a:xfrm>
            <a:off x="9258300" y="7962900"/>
            <a:ext cx="95250" cy="5524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36" name="callout-text">
            <a:extLst>
              <a:ext uri="{FF2B5EF4-FFF2-40B4-BE49-F238E27FC236}">
                <a16:creationId xmlns:a16="http://schemas.microsoft.com/office/drawing/2014/main" id="{23A35D27-7BEA-4B6D-98F9-5DA9CA3D65EC}"/>
              </a:ext>
            </a:extLst>
          </p:cNvPr>
          <p:cNvSpPr>
            <a:spLocks noGrp="1"/>
          </p:cNvSpPr>
          <p:nvPr/>
        </p:nvSpPr>
        <p:spPr>
          <a:xfrm>
            <a:off x="9525000" y="8058150"/>
            <a:ext cx="8210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New: (wgId * local_size_x + localId) % Q1_QUEUE_SHARDS</a:t>
            </a:r>
          </a:p>
        </p:txBody>
      </p:sp>
      <p:sp>
        <p:nvSpPr>
          <p:cNvPr id="37" name="callout-rule">
            <a:extLst>
              <a:ext uri="{FF2B5EF4-FFF2-40B4-BE49-F238E27FC236}">
                <a16:creationId xmlns:a16="http://schemas.microsoft.com/office/drawing/2014/main" id="{C4379D4E-5806-40EC-A635-4F60407B5246}"/>
              </a:ext>
            </a:extLst>
          </p:cNvPr>
          <p:cNvSpPr>
            <a:spLocks noGrp="1"/>
          </p:cNvSpPr>
          <p:nvPr/>
        </p:nvSpPr>
        <p:spPr>
          <a:xfrm>
            <a:off x="552450" y="9334500"/>
            <a:ext cx="95250" cy="5524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38" name="callout-text">
            <a:extLst>
              <a:ext uri="{FF2B5EF4-FFF2-40B4-BE49-F238E27FC236}">
                <a16:creationId xmlns:a16="http://schemas.microsoft.com/office/drawing/2014/main" id="{21D18819-E192-4A94-8627-A3295BD209C4}"/>
              </a:ext>
            </a:extLst>
          </p:cNvPr>
          <p:cNvSpPr>
            <a:spLocks noGrp="1"/>
          </p:cNvSpPr>
          <p:nvPr/>
        </p:nvSpPr>
        <p:spPr>
          <a:xfrm>
            <a:off x="819150" y="9429750"/>
            <a:ext cx="169164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Q1 lane-pop 是 shard selection / scan-start strategy，不是 request batching。</a:t>
            </a:r>
          </a:p>
        </p:txBody>
      </p:sp>
    </p:spTree>
    <p:extLst>
      <p:ext uri="{BB962C8B-B14F-4D97-AF65-F5344CB8AC3E}">
        <p14:creationId xmlns:p14="http://schemas.microsoft.com/office/powerpoint/2010/main" val="973933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13-bg">
            <a:extLst>
              <a:ext uri="{FF2B5EF4-FFF2-40B4-BE49-F238E27FC236}">
                <a16:creationId xmlns:a16="http://schemas.microsoft.com/office/drawing/2014/main" id="{8B0BB2CA-ECF5-43F3-A0E1-5C8734848C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D380A2B-3FCF-4B39-88C6-53B85330C253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High shard scaling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A2EB82AF-B1B3-437B-8611-1452206C05D4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D1EBF1-54CB-49C3-8902-35AB71FCCAF9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71831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Q1/Q2 都升到 256 shards 時，median compute 約 0.99 ms；再往上開始反彈。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D1E40D-220E-447F-A11E-BA8BB592163E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5562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觀察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296FEB-94E7-47F3-BF1A-2AEFDCD94557}"/>
              </a:ext>
            </a:extLst>
          </p:cNvPr>
          <p:cNvSpPr>
            <a:spLocks noGrp="1"/>
          </p:cNvSpPr>
          <p:nvPr/>
        </p:nvSpPr>
        <p:spPr>
          <a:xfrm>
            <a:off x="552450" y="2609850"/>
            <a:ext cx="556260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E03157-13A5-42E6-84B7-8EDAFED5E5E7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5562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16 shards 時 Q1/Q2 CAS fail 仍高。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6C17A1-6E8A-4609-AC41-6B653599404B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5562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猜測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30B444-79D5-48C8-8C82-D6DE138C020C}"/>
              </a:ext>
            </a:extLst>
          </p:cNvPr>
          <p:cNvSpPr>
            <a:spLocks noGrp="1"/>
          </p:cNvSpPr>
          <p:nvPr/>
        </p:nvSpPr>
        <p:spPr>
          <a:xfrm>
            <a:off x="6362700" y="2609850"/>
            <a:ext cx="55626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407681-335A-4B3D-B4AB-4D3B8D567B6B}"/>
              </a:ext>
            </a:extLst>
          </p:cNvPr>
          <p:cNvSpPr>
            <a:spLocks noGrp="1"/>
          </p:cNvSpPr>
          <p:nvPr/>
        </p:nvSpPr>
        <p:spPr>
          <a:xfrm>
            <a:off x="6362700" y="2705100"/>
            <a:ext cx="5562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剩餘主因仍是 queue atomic contention。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2ACD6F-0C8B-4A45-8A58-7878ED61A61B}"/>
              </a:ext>
            </a:extLst>
          </p:cNvPr>
          <p:cNvSpPr>
            <a:spLocks noGrp="1"/>
          </p:cNvSpPr>
          <p:nvPr/>
        </p:nvSpPr>
        <p:spPr>
          <a:xfrm>
            <a:off x="12172950" y="2286000"/>
            <a:ext cx="5562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A65F1F-F2F3-4D08-8E65-338992321A27}"/>
              </a:ext>
            </a:extLst>
          </p:cNvPr>
          <p:cNvSpPr>
            <a:spLocks noGrp="1"/>
          </p:cNvSpPr>
          <p:nvPr/>
        </p:nvSpPr>
        <p:spPr>
          <a:xfrm>
            <a:off x="12172950" y="2609850"/>
            <a:ext cx="556260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C4CE18-5F25-4033-BD70-1B9EB8FE9F55}"/>
              </a:ext>
            </a:extLst>
          </p:cNvPr>
          <p:cNvSpPr>
            <a:spLocks noGrp="1"/>
          </p:cNvSpPr>
          <p:nvPr/>
        </p:nvSpPr>
        <p:spPr>
          <a:xfrm>
            <a:off x="12172950" y="2705100"/>
            <a:ext cx="5562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256 shards 後 CAS &lt; 0.5x，3.86 -&gt; 0.99 ms。</a:t>
            </a:r>
          </a:p>
        </p:txBody>
      </p:sp>
      <p:graphicFrame>
        <p:nvGraphicFramePr>
          <p:cNvPr id="14" name="high-shard-chart"/>
          <p:cNvGraphicFramePr/>
          <p:nvPr/>
        </p:nvGraphicFramePr>
        <p:xfrm>
          <a:off x="552450" y="3248025"/>
          <a:ext cx="17183100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rd-key-table-rheader-c0">
            <a:extLst>
              <a:ext uri="{FF2B5EF4-FFF2-40B4-BE49-F238E27FC236}">
                <a16:creationId xmlns:a16="http://schemas.microsoft.com/office/drawing/2014/main" id="{1C9C75F1-CEE2-484A-BBB1-6BD361E4E8CF}"/>
              </a:ext>
            </a:extLst>
          </p:cNvPr>
          <p:cNvSpPr>
            <a:spLocks noGrp="1"/>
          </p:cNvSpPr>
          <p:nvPr/>
        </p:nvSpPr>
        <p:spPr>
          <a:xfrm>
            <a:off x="552450" y="7981950"/>
            <a:ext cx="2000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6" name="shard-key-table-rheader-c1">
            <a:extLst>
              <a:ext uri="{FF2B5EF4-FFF2-40B4-BE49-F238E27FC236}">
                <a16:creationId xmlns:a16="http://schemas.microsoft.com/office/drawing/2014/main" id="{70709566-A989-4B74-9510-FCAC1FD3A8BB}"/>
              </a:ext>
            </a:extLst>
          </p:cNvPr>
          <p:cNvSpPr>
            <a:spLocks noGrp="1"/>
          </p:cNvSpPr>
          <p:nvPr/>
        </p:nvSpPr>
        <p:spPr>
          <a:xfrm>
            <a:off x="2781300" y="7981950"/>
            <a:ext cx="2000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64</a:t>
            </a:r>
          </a:p>
        </p:txBody>
      </p:sp>
      <p:sp>
        <p:nvSpPr>
          <p:cNvPr id="17" name="shard-key-table-rheader-c2">
            <a:extLst>
              <a:ext uri="{FF2B5EF4-FFF2-40B4-BE49-F238E27FC236}">
                <a16:creationId xmlns:a16="http://schemas.microsoft.com/office/drawing/2014/main" id="{88B2C7C8-7988-49F6-B04A-E608762DD906}"/>
              </a:ext>
            </a:extLst>
          </p:cNvPr>
          <p:cNvSpPr>
            <a:spLocks noGrp="1"/>
          </p:cNvSpPr>
          <p:nvPr/>
        </p:nvSpPr>
        <p:spPr>
          <a:xfrm>
            <a:off x="5010150" y="7981950"/>
            <a:ext cx="2000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128</a:t>
            </a:r>
          </a:p>
        </p:txBody>
      </p:sp>
      <p:sp>
        <p:nvSpPr>
          <p:cNvPr id="18" name="shard-key-table-rheader-c3">
            <a:extLst>
              <a:ext uri="{FF2B5EF4-FFF2-40B4-BE49-F238E27FC236}">
                <a16:creationId xmlns:a16="http://schemas.microsoft.com/office/drawing/2014/main" id="{F8F5CA10-34D9-4424-B9EB-5F68FE5D420A}"/>
              </a:ext>
            </a:extLst>
          </p:cNvPr>
          <p:cNvSpPr>
            <a:spLocks noGrp="1"/>
          </p:cNvSpPr>
          <p:nvPr/>
        </p:nvSpPr>
        <p:spPr>
          <a:xfrm>
            <a:off x="7239000" y="7981950"/>
            <a:ext cx="2000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256</a:t>
            </a:r>
          </a:p>
        </p:txBody>
      </p:sp>
      <p:sp>
        <p:nvSpPr>
          <p:cNvPr id="19" name="shard-key-table-rheader-c4">
            <a:extLst>
              <a:ext uri="{FF2B5EF4-FFF2-40B4-BE49-F238E27FC236}">
                <a16:creationId xmlns:a16="http://schemas.microsoft.com/office/drawing/2014/main" id="{2DCAA6A1-00B4-44E7-83AD-7894D9A9FB63}"/>
              </a:ext>
            </a:extLst>
          </p:cNvPr>
          <p:cNvSpPr>
            <a:spLocks noGrp="1"/>
          </p:cNvSpPr>
          <p:nvPr/>
        </p:nvSpPr>
        <p:spPr>
          <a:xfrm>
            <a:off x="9467850" y="7981950"/>
            <a:ext cx="2000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474E7E-CC57-4152-B684-D21198EA29BF}"/>
              </a:ext>
            </a:extLst>
          </p:cNvPr>
          <p:cNvSpPr>
            <a:spLocks noGrp="1"/>
          </p:cNvSpPr>
          <p:nvPr/>
        </p:nvSpPr>
        <p:spPr>
          <a:xfrm>
            <a:off x="552450" y="8477250"/>
            <a:ext cx="171831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21" name="shard-key-table-r0-c0">
            <a:extLst>
              <a:ext uri="{FF2B5EF4-FFF2-40B4-BE49-F238E27FC236}">
                <a16:creationId xmlns:a16="http://schemas.microsoft.com/office/drawing/2014/main" id="{CA7DEC59-186F-474F-AE9A-3AC34B94ADE0}"/>
              </a:ext>
            </a:extLst>
          </p:cNvPr>
          <p:cNvSpPr>
            <a:spLocks noGrp="1"/>
          </p:cNvSpPr>
          <p:nvPr/>
        </p:nvSpPr>
        <p:spPr>
          <a:xfrm>
            <a:off x="552450" y="86868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3.86 ms</a:t>
            </a:r>
          </a:p>
        </p:txBody>
      </p:sp>
      <p:sp>
        <p:nvSpPr>
          <p:cNvPr id="22" name="shard-key-table-r0-c1">
            <a:extLst>
              <a:ext uri="{FF2B5EF4-FFF2-40B4-BE49-F238E27FC236}">
                <a16:creationId xmlns:a16="http://schemas.microsoft.com/office/drawing/2014/main" id="{1E8BF571-7406-44AE-AE4B-5F3BB97836FA}"/>
              </a:ext>
            </a:extLst>
          </p:cNvPr>
          <p:cNvSpPr>
            <a:spLocks noGrp="1"/>
          </p:cNvSpPr>
          <p:nvPr/>
        </p:nvSpPr>
        <p:spPr>
          <a:xfrm>
            <a:off x="2781300" y="86868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1.54 ms</a:t>
            </a:r>
          </a:p>
        </p:txBody>
      </p:sp>
      <p:sp>
        <p:nvSpPr>
          <p:cNvPr id="23" name="shard-key-table-r0-c2">
            <a:extLst>
              <a:ext uri="{FF2B5EF4-FFF2-40B4-BE49-F238E27FC236}">
                <a16:creationId xmlns:a16="http://schemas.microsoft.com/office/drawing/2014/main" id="{7F51E1C7-1A29-4323-B7D6-8E625B73FBAA}"/>
              </a:ext>
            </a:extLst>
          </p:cNvPr>
          <p:cNvSpPr>
            <a:spLocks noGrp="1"/>
          </p:cNvSpPr>
          <p:nvPr/>
        </p:nvSpPr>
        <p:spPr>
          <a:xfrm>
            <a:off x="5010150" y="86868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1.14 ms</a:t>
            </a:r>
          </a:p>
        </p:txBody>
      </p:sp>
      <p:sp>
        <p:nvSpPr>
          <p:cNvPr id="24" name="shard-key-table-r0-c3">
            <a:extLst>
              <a:ext uri="{FF2B5EF4-FFF2-40B4-BE49-F238E27FC236}">
                <a16:creationId xmlns:a16="http://schemas.microsoft.com/office/drawing/2014/main" id="{A3A45CE1-90EC-4259-AFB7-573F7558612C}"/>
              </a:ext>
            </a:extLst>
          </p:cNvPr>
          <p:cNvSpPr>
            <a:spLocks noGrp="1"/>
          </p:cNvSpPr>
          <p:nvPr/>
        </p:nvSpPr>
        <p:spPr>
          <a:xfrm>
            <a:off x="7239000" y="86868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0.99 ms</a:t>
            </a:r>
          </a:p>
        </p:txBody>
      </p:sp>
      <p:sp>
        <p:nvSpPr>
          <p:cNvPr id="25" name="shard-key-table-r0-c4">
            <a:extLst>
              <a:ext uri="{FF2B5EF4-FFF2-40B4-BE49-F238E27FC236}">
                <a16:creationId xmlns:a16="http://schemas.microsoft.com/office/drawing/2014/main" id="{91A014C4-8C6A-4704-8331-90502732E6E7}"/>
              </a:ext>
            </a:extLst>
          </p:cNvPr>
          <p:cNvSpPr>
            <a:spLocks noGrp="1"/>
          </p:cNvSpPr>
          <p:nvPr/>
        </p:nvSpPr>
        <p:spPr>
          <a:xfrm>
            <a:off x="9467850" y="86868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1.12 ms</a:t>
            </a:r>
          </a:p>
        </p:txBody>
      </p:sp>
      <p:sp>
        <p:nvSpPr>
          <p:cNvPr id="26" name="callout-rule">
            <a:extLst>
              <a:ext uri="{FF2B5EF4-FFF2-40B4-BE49-F238E27FC236}">
                <a16:creationId xmlns:a16="http://schemas.microsoft.com/office/drawing/2014/main" id="{A6AF087B-750F-41DA-A4AD-100E6C537E75}"/>
              </a:ext>
            </a:extLst>
          </p:cNvPr>
          <p:cNvSpPr>
            <a:spLocks noGrp="1"/>
          </p:cNvSpPr>
          <p:nvPr/>
        </p:nvSpPr>
        <p:spPr>
          <a:xfrm>
            <a:off x="552450" y="9334500"/>
            <a:ext cx="95250" cy="5524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7" name="callout-text">
            <a:extLst>
              <a:ext uri="{FF2B5EF4-FFF2-40B4-BE49-F238E27FC236}">
                <a16:creationId xmlns:a16="http://schemas.microsoft.com/office/drawing/2014/main" id="{1BEB24FB-23B5-489E-8144-8524370775A0}"/>
              </a:ext>
            </a:extLst>
          </p:cNvPr>
          <p:cNvSpPr>
            <a:spLocks noGrp="1"/>
          </p:cNvSpPr>
          <p:nvPr/>
        </p:nvSpPr>
        <p:spPr>
          <a:xfrm>
            <a:off x="819150" y="9448800"/>
            <a:ext cx="16916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代表性非對稱結果：Q1=256/Q2=128 會退到 1.955 ms，Q2 shard count 不能太低。</a:t>
            </a:r>
          </a:p>
        </p:txBody>
      </p:sp>
    </p:spTree>
    <p:extLst>
      <p:ext uri="{BB962C8B-B14F-4D97-AF65-F5344CB8AC3E}">
        <p14:creationId xmlns:p14="http://schemas.microsoft.com/office/powerpoint/2010/main" val="1534621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14-bg">
            <a:extLst>
              <a:ext uri="{FF2B5EF4-FFF2-40B4-BE49-F238E27FC236}">
                <a16:creationId xmlns:a16="http://schemas.microsoft.com/office/drawing/2014/main" id="{DA8DF95D-E0CA-475E-BAC8-9A907015B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5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3EAB9F6-9435-400B-92DA-8AC227FDF1D9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未採用方案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C43FAFC6-A9D9-48CB-AE02-5CECE2A61CDA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33F251-A6FC-4B8D-92A5-9DA0FB2A507E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266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286254-69AD-4D5C-BB65-3A0FE64DA452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16802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Output writes off 只改善約 3.86 ms -&gt; 3.78 ms，不是主瓶頸。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A5AC42-66A7-4014-A842-9F42716BFAD0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266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F6109A-CA08-4DC2-9C7E-D96C3A4B3E74}"/>
              </a:ext>
            </a:extLst>
          </p:cNvPr>
          <p:cNvSpPr>
            <a:spLocks noGrp="1"/>
          </p:cNvSpPr>
          <p:nvPr/>
        </p:nvSpPr>
        <p:spPr>
          <a:xfrm>
            <a:off x="933450" y="2305050"/>
            <a:ext cx="16802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 ready-first 較慢：3.86 -&gt; 5.06 ms；ready fail 159K -&gt; 6,682K。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CA7D61-7900-415E-87CD-919AC1481750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266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70ADAC-07BA-4CE3-A18B-64361467E198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16802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C output batching 沒有打贏 batch size 1，global output atomics 不是主因。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8BD759-0B36-4C36-B4B8-9467C67DEC33}"/>
              </a:ext>
            </a:extLst>
          </p:cNvPr>
          <p:cNvSpPr>
            <a:spLocks noGrp="1"/>
          </p:cNvSpPr>
          <p:nvPr/>
        </p:nvSpPr>
        <p:spPr>
          <a:xfrm>
            <a:off x="552450" y="3600450"/>
            <a:ext cx="266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8446D8-2719-4930-A4D6-7C651EC4E903}"/>
              </a:ext>
            </a:extLst>
          </p:cNvPr>
          <p:cNvSpPr>
            <a:spLocks noGrp="1"/>
          </p:cNvSpPr>
          <p:nvPr/>
        </p:nvSpPr>
        <p:spPr>
          <a:xfrm>
            <a:off x="933450" y="3600450"/>
            <a:ext cx="16802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 naive request batching 會放大 ready-spin，timestamp duration 變差。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B1AFC2-F22B-47CB-BF59-80F3FAB64E26}"/>
              </a:ext>
            </a:extLst>
          </p:cNvPr>
          <p:cNvSpPr>
            <a:spLocks noGrp="1"/>
          </p:cNvSpPr>
          <p:nvPr/>
        </p:nvSpPr>
        <p:spPr>
          <a:xfrm>
            <a:off x="552450" y="4248150"/>
            <a:ext cx="266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D06F63-870E-4A96-8F2F-13EE8BDEEEE1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6802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Wave/request batching</a:t>
            </a:r>
            <a:r>
              <a:rPr lang="en-US" sz="2400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zh-TW" altLang="en-US" sz="2400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目前</a:t>
            </a:r>
            <a:r>
              <a:rPr sz="2400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</a:rPr>
              <a:t>不屬於 main optimized path。</a:t>
            </a:r>
          </a:p>
        </p:txBody>
      </p:sp>
      <p:sp>
        <p:nvSpPr>
          <p:cNvPr id="14" name="callout-rule">
            <a:extLst>
              <a:ext uri="{FF2B5EF4-FFF2-40B4-BE49-F238E27FC236}">
                <a16:creationId xmlns:a16="http://schemas.microsoft.com/office/drawing/2014/main" id="{2C3A9C4D-2EC0-4232-81E6-3070522F55EF}"/>
              </a:ext>
            </a:extLst>
          </p:cNvPr>
          <p:cNvSpPr>
            <a:spLocks noGrp="1"/>
          </p:cNvSpPr>
          <p:nvPr/>
        </p:nvSpPr>
        <p:spPr>
          <a:xfrm>
            <a:off x="552450" y="9163050"/>
            <a:ext cx="95250" cy="7239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1333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-15-bg">
            <a:extLst>
              <a:ext uri="{FF2B5EF4-FFF2-40B4-BE49-F238E27FC236}">
                <a16:creationId xmlns:a16="http://schemas.microsoft.com/office/drawing/2014/main" id="{8A39FC55-9534-4325-9A7F-C1D8CF6F2EDC}"/>
              </a:ext>
            </a:extLst>
          </p:cNvPr>
          <p:cNvSpPr>
            <a:spLocks noGrp="1"/>
          </p:cNvSpPr>
          <p:nvPr/>
        </p:nvSpPr>
        <p:spPr>
          <a:xfrm>
            <a:off x="0" y="19050"/>
            <a:ext cx="18288000" cy="10287000"/>
          </a:xfrm>
          <a:prstGeom prst="rect">
            <a:avLst/>
          </a:prstGeom>
          <a:solidFill>
            <a:srgbClr val="FBFAF5"/>
          </a:solidFill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A02C130-B000-4FE7-A052-373A099BFD6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83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Adopte</a:t>
            </a:r>
            <a:r>
              <a:rPr lang="en-US" altLang="zh-CN" sz="5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</a:t>
            </a:r>
            <a:endParaRPr sz="5250" b="1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2E6F82F8-6C3B-4EEB-90E1-693259BD0B68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476500" cy="476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CF3A31-74DA-4A88-B00B-BD399E153D6A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3676650" cy="723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256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FA8A5-F179-480D-90B7-7537192A1FD7}"/>
              </a:ext>
            </a:extLst>
          </p:cNvPr>
          <p:cNvSpPr>
            <a:spLocks noGrp="1"/>
          </p:cNvSpPr>
          <p:nvPr/>
        </p:nvSpPr>
        <p:spPr>
          <a:xfrm>
            <a:off x="552450" y="2438400"/>
            <a:ext cx="36766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81DEBE-0760-41CA-8CD0-574436704F18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Q1 default shards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E13455-9434-42FF-8897-CA3253F2A9F0}"/>
              </a:ext>
            </a:extLst>
          </p:cNvPr>
          <p:cNvSpPr>
            <a:spLocks noGrp="1"/>
          </p:cNvSpPr>
          <p:nvPr/>
        </p:nvSpPr>
        <p:spPr>
          <a:xfrm>
            <a:off x="4400550" y="1657350"/>
            <a:ext cx="3676650" cy="723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256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E0DF9B-83EB-4EEA-A795-CAAEA806E49C}"/>
              </a:ext>
            </a:extLst>
          </p:cNvPr>
          <p:cNvSpPr>
            <a:spLocks noGrp="1"/>
          </p:cNvSpPr>
          <p:nvPr/>
        </p:nvSpPr>
        <p:spPr>
          <a:xfrm>
            <a:off x="4400550" y="2438400"/>
            <a:ext cx="36766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2FD3AC-ED99-406F-99D6-69E785CA046C}"/>
              </a:ext>
            </a:extLst>
          </p:cNvPr>
          <p:cNvSpPr>
            <a:spLocks noGrp="1"/>
          </p:cNvSpPr>
          <p:nvPr/>
        </p:nvSpPr>
        <p:spPr>
          <a:xfrm>
            <a:off x="4400550" y="2533650"/>
            <a:ext cx="36766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Q2 default shards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BEAB75-1F85-4F34-96C7-E3D52A6E2D9A}"/>
              </a:ext>
            </a:extLst>
          </p:cNvPr>
          <p:cNvSpPr>
            <a:spLocks noGrp="1"/>
          </p:cNvSpPr>
          <p:nvPr/>
        </p:nvSpPr>
        <p:spPr>
          <a:xfrm>
            <a:off x="552450" y="7772400"/>
            <a:ext cx="266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815E39-0F59-4E10-A8AC-D5FEEDDA5F06}"/>
              </a:ext>
            </a:extLst>
          </p:cNvPr>
          <p:cNvSpPr>
            <a:spLocks noGrp="1"/>
          </p:cNvSpPr>
          <p:nvPr/>
        </p:nvSpPr>
        <p:spPr>
          <a:xfrm>
            <a:off x="933450" y="7772400"/>
            <a:ext cx="7162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Q1_QUEUE_SHARDS_DEFAULT=256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83450C-7825-4FE7-B46F-DAC6FCD2D85A}"/>
              </a:ext>
            </a:extLst>
          </p:cNvPr>
          <p:cNvSpPr>
            <a:spLocks noGrp="1"/>
          </p:cNvSpPr>
          <p:nvPr/>
        </p:nvSpPr>
        <p:spPr>
          <a:xfrm>
            <a:off x="552450" y="8362950"/>
            <a:ext cx="266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59ECEC-0801-4EC2-B14F-551A20B0FCA2}"/>
              </a:ext>
            </a:extLst>
          </p:cNvPr>
          <p:cNvSpPr>
            <a:spLocks noGrp="1"/>
          </p:cNvSpPr>
          <p:nvPr/>
        </p:nvSpPr>
        <p:spPr>
          <a:xfrm>
            <a:off x="933450" y="8362950"/>
            <a:ext cx="7162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Q2_QUEUE_SHARDS_DEFAULT=256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F98240-B167-4B3E-B47D-8D57938F4399}"/>
              </a:ext>
            </a:extLst>
          </p:cNvPr>
          <p:cNvSpPr>
            <a:spLocks noGrp="1"/>
          </p:cNvSpPr>
          <p:nvPr/>
        </p:nvSpPr>
        <p:spPr>
          <a:xfrm>
            <a:off x="552450" y="8953500"/>
            <a:ext cx="266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53F1DD-FF1C-4265-866B-8F97BC103056}"/>
              </a:ext>
            </a:extLst>
          </p:cNvPr>
          <p:cNvSpPr>
            <a:spLocks noGrp="1"/>
          </p:cNvSpPr>
          <p:nvPr/>
        </p:nvSpPr>
        <p:spPr>
          <a:xfrm>
            <a:off x="933450" y="8953500"/>
            <a:ext cx="7162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Q1</a:t>
            </a:r>
            <a:r>
              <a:rPr lang="en-US" sz="225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, </a:t>
            </a:r>
            <a:r>
              <a:rPr lang="en-US"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Q2</a:t>
            </a: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 lane-pop enabled by default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182E47-F878-4823-92A2-DEB51A85418B}"/>
              </a:ext>
            </a:extLst>
          </p:cNvPr>
          <p:cNvSpPr>
            <a:spLocks noGrp="1"/>
          </p:cNvSpPr>
          <p:nvPr/>
        </p:nvSpPr>
        <p:spPr>
          <a:xfrm>
            <a:off x="552450" y="9544050"/>
            <a:ext cx="266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B06894-2A3D-4563-8403-D46921567C9A}"/>
              </a:ext>
            </a:extLst>
          </p:cNvPr>
          <p:cNvSpPr>
            <a:spLocks noGrp="1"/>
          </p:cNvSpPr>
          <p:nvPr/>
        </p:nvSpPr>
        <p:spPr>
          <a:xfrm>
            <a:off x="933450" y="9544050"/>
            <a:ext cx="7162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NODE_C_START=72, meaning </a:t>
            </a:r>
            <a:r>
              <a:rPr sz="2250" b="1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C=24/B=72</a:t>
            </a:r>
          </a:p>
        </p:txBody>
      </p:sp>
      <p:sp>
        <p:nvSpPr>
          <p:cNvPr id="20" name="repeat-table-rheader-c0">
            <a:extLst>
              <a:ext uri="{FF2B5EF4-FFF2-40B4-BE49-F238E27FC236}">
                <a16:creationId xmlns:a16="http://schemas.microsoft.com/office/drawing/2014/main" id="{24097127-2C04-4439-A710-36779E4A43DA}"/>
              </a:ext>
            </a:extLst>
          </p:cNvPr>
          <p:cNvSpPr>
            <a:spLocks noGrp="1"/>
          </p:cNvSpPr>
          <p:nvPr/>
        </p:nvSpPr>
        <p:spPr>
          <a:xfrm>
            <a:off x="8534400" y="1714500"/>
            <a:ext cx="1619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Run</a:t>
            </a:r>
          </a:p>
        </p:txBody>
      </p:sp>
      <p:sp>
        <p:nvSpPr>
          <p:cNvPr id="21" name="repeat-table-rheader-c1">
            <a:extLst>
              <a:ext uri="{FF2B5EF4-FFF2-40B4-BE49-F238E27FC236}">
                <a16:creationId xmlns:a16="http://schemas.microsoft.com/office/drawing/2014/main" id="{529121D1-D955-443A-A9DE-30B3787AC56A}"/>
              </a:ext>
            </a:extLst>
          </p:cNvPr>
          <p:cNvSpPr>
            <a:spLocks noGrp="1"/>
          </p:cNvSpPr>
          <p:nvPr/>
        </p:nvSpPr>
        <p:spPr>
          <a:xfrm>
            <a:off x="10382250" y="1714500"/>
            <a:ext cx="1619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Median</a:t>
            </a:r>
          </a:p>
        </p:txBody>
      </p:sp>
      <p:sp>
        <p:nvSpPr>
          <p:cNvPr id="22" name="repeat-table-rheader-c2">
            <a:extLst>
              <a:ext uri="{FF2B5EF4-FFF2-40B4-BE49-F238E27FC236}">
                <a16:creationId xmlns:a16="http://schemas.microsoft.com/office/drawing/2014/main" id="{E68D4F63-76D3-4F52-9578-C473CFB43924}"/>
              </a:ext>
            </a:extLst>
          </p:cNvPr>
          <p:cNvSpPr>
            <a:spLocks noGrp="1"/>
          </p:cNvSpPr>
          <p:nvPr/>
        </p:nvSpPr>
        <p:spPr>
          <a:xfrm>
            <a:off x="12230100" y="1714500"/>
            <a:ext cx="1619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P10</a:t>
            </a:r>
          </a:p>
        </p:txBody>
      </p:sp>
      <p:sp>
        <p:nvSpPr>
          <p:cNvPr id="23" name="repeat-table-rheader-c3">
            <a:extLst>
              <a:ext uri="{FF2B5EF4-FFF2-40B4-BE49-F238E27FC236}">
                <a16:creationId xmlns:a16="http://schemas.microsoft.com/office/drawing/2014/main" id="{DD0B4F8F-828D-4E3F-819D-8AA443DDAA2F}"/>
              </a:ext>
            </a:extLst>
          </p:cNvPr>
          <p:cNvSpPr>
            <a:spLocks noGrp="1"/>
          </p:cNvSpPr>
          <p:nvPr/>
        </p:nvSpPr>
        <p:spPr>
          <a:xfrm>
            <a:off x="14077950" y="1714500"/>
            <a:ext cx="1619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P90</a:t>
            </a:r>
          </a:p>
        </p:txBody>
      </p:sp>
      <p:sp>
        <p:nvSpPr>
          <p:cNvPr id="24" name="repeat-table-rheader-c4">
            <a:extLst>
              <a:ext uri="{FF2B5EF4-FFF2-40B4-BE49-F238E27FC236}">
                <a16:creationId xmlns:a16="http://schemas.microsoft.com/office/drawing/2014/main" id="{FF5A3725-7656-4F1F-AF99-7001D63DC9A9}"/>
              </a:ext>
            </a:extLst>
          </p:cNvPr>
          <p:cNvSpPr>
            <a:spLocks noGrp="1"/>
          </p:cNvSpPr>
          <p:nvPr/>
        </p:nvSpPr>
        <p:spPr>
          <a:xfrm>
            <a:off x="15925800" y="1714500"/>
            <a:ext cx="1619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</a:rPr>
              <a:t>Min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257296-200D-4904-8258-87EDCF65EB6A}"/>
              </a:ext>
            </a:extLst>
          </p:cNvPr>
          <p:cNvSpPr>
            <a:spLocks noGrp="1"/>
          </p:cNvSpPr>
          <p:nvPr/>
        </p:nvSpPr>
        <p:spPr>
          <a:xfrm>
            <a:off x="8534400" y="2228850"/>
            <a:ext cx="920115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26" name="repeat-table-r0-c0">
            <a:extLst>
              <a:ext uri="{FF2B5EF4-FFF2-40B4-BE49-F238E27FC236}">
                <a16:creationId xmlns:a16="http://schemas.microsoft.com/office/drawing/2014/main" id="{20A1FA48-782F-4BB2-8C5B-3A72FA94533D}"/>
              </a:ext>
            </a:extLst>
          </p:cNvPr>
          <p:cNvSpPr>
            <a:spLocks noGrp="1"/>
          </p:cNvSpPr>
          <p:nvPr/>
        </p:nvSpPr>
        <p:spPr>
          <a:xfrm>
            <a:off x="8534400" y="24765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repeat 1</a:t>
            </a:r>
          </a:p>
        </p:txBody>
      </p:sp>
      <p:sp>
        <p:nvSpPr>
          <p:cNvPr id="27" name="repeat-table-r0-c1">
            <a:extLst>
              <a:ext uri="{FF2B5EF4-FFF2-40B4-BE49-F238E27FC236}">
                <a16:creationId xmlns:a16="http://schemas.microsoft.com/office/drawing/2014/main" id="{4279DE95-A3AC-4419-BB13-27B913F39A64}"/>
              </a:ext>
            </a:extLst>
          </p:cNvPr>
          <p:cNvSpPr>
            <a:spLocks noGrp="1"/>
          </p:cNvSpPr>
          <p:nvPr/>
        </p:nvSpPr>
        <p:spPr>
          <a:xfrm>
            <a:off x="10382250" y="24765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0.9905</a:t>
            </a:r>
          </a:p>
        </p:txBody>
      </p:sp>
      <p:sp>
        <p:nvSpPr>
          <p:cNvPr id="28" name="repeat-table-r0-c2">
            <a:extLst>
              <a:ext uri="{FF2B5EF4-FFF2-40B4-BE49-F238E27FC236}">
                <a16:creationId xmlns:a16="http://schemas.microsoft.com/office/drawing/2014/main" id="{78933336-8726-4FE1-91C0-E0FED3E301A8}"/>
              </a:ext>
            </a:extLst>
          </p:cNvPr>
          <p:cNvSpPr>
            <a:spLocks noGrp="1"/>
          </p:cNvSpPr>
          <p:nvPr/>
        </p:nvSpPr>
        <p:spPr>
          <a:xfrm>
            <a:off x="12230100" y="24765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0.9804</a:t>
            </a:r>
          </a:p>
        </p:txBody>
      </p:sp>
      <p:sp>
        <p:nvSpPr>
          <p:cNvPr id="29" name="repeat-table-r0-c3">
            <a:extLst>
              <a:ext uri="{FF2B5EF4-FFF2-40B4-BE49-F238E27FC236}">
                <a16:creationId xmlns:a16="http://schemas.microsoft.com/office/drawing/2014/main" id="{D95CFBDF-233E-44B0-8174-77FE49A88F67}"/>
              </a:ext>
            </a:extLst>
          </p:cNvPr>
          <p:cNvSpPr>
            <a:spLocks noGrp="1"/>
          </p:cNvSpPr>
          <p:nvPr/>
        </p:nvSpPr>
        <p:spPr>
          <a:xfrm>
            <a:off x="14077950" y="24765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1.0043</a:t>
            </a:r>
          </a:p>
        </p:txBody>
      </p:sp>
      <p:sp>
        <p:nvSpPr>
          <p:cNvPr id="30" name="repeat-table-r0-c4">
            <a:extLst>
              <a:ext uri="{FF2B5EF4-FFF2-40B4-BE49-F238E27FC236}">
                <a16:creationId xmlns:a16="http://schemas.microsoft.com/office/drawing/2014/main" id="{B9B7B852-9B97-4BB0-9B7E-E814EB6E9425}"/>
              </a:ext>
            </a:extLst>
          </p:cNvPr>
          <p:cNvSpPr>
            <a:spLocks noGrp="1"/>
          </p:cNvSpPr>
          <p:nvPr/>
        </p:nvSpPr>
        <p:spPr>
          <a:xfrm>
            <a:off x="15925800" y="24765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0.9668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43C2EE-0A2F-4704-8B44-8BE921F0BEB4}"/>
              </a:ext>
            </a:extLst>
          </p:cNvPr>
          <p:cNvSpPr>
            <a:spLocks noGrp="1"/>
          </p:cNvSpPr>
          <p:nvPr/>
        </p:nvSpPr>
        <p:spPr>
          <a:xfrm>
            <a:off x="8534400" y="3028950"/>
            <a:ext cx="92011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2" name="repeat-table-r1-c0">
            <a:extLst>
              <a:ext uri="{FF2B5EF4-FFF2-40B4-BE49-F238E27FC236}">
                <a16:creationId xmlns:a16="http://schemas.microsoft.com/office/drawing/2014/main" id="{A9685DF9-E032-4D2B-ADAC-9C7CA0C4831A}"/>
              </a:ext>
            </a:extLst>
          </p:cNvPr>
          <p:cNvSpPr>
            <a:spLocks noGrp="1"/>
          </p:cNvSpPr>
          <p:nvPr/>
        </p:nvSpPr>
        <p:spPr>
          <a:xfrm>
            <a:off x="8534400" y="32575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repeat 2</a:t>
            </a:r>
          </a:p>
        </p:txBody>
      </p:sp>
      <p:sp>
        <p:nvSpPr>
          <p:cNvPr id="33" name="repeat-table-r1-c1">
            <a:extLst>
              <a:ext uri="{FF2B5EF4-FFF2-40B4-BE49-F238E27FC236}">
                <a16:creationId xmlns:a16="http://schemas.microsoft.com/office/drawing/2014/main" id="{A09D18FB-5FD9-416E-ACE0-B4A2C2C8A68F}"/>
              </a:ext>
            </a:extLst>
          </p:cNvPr>
          <p:cNvSpPr>
            <a:spLocks noGrp="1"/>
          </p:cNvSpPr>
          <p:nvPr/>
        </p:nvSpPr>
        <p:spPr>
          <a:xfrm>
            <a:off x="10382250" y="32575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0.9915</a:t>
            </a:r>
          </a:p>
        </p:txBody>
      </p:sp>
      <p:sp>
        <p:nvSpPr>
          <p:cNvPr id="34" name="repeat-table-r1-c2">
            <a:extLst>
              <a:ext uri="{FF2B5EF4-FFF2-40B4-BE49-F238E27FC236}">
                <a16:creationId xmlns:a16="http://schemas.microsoft.com/office/drawing/2014/main" id="{DCC9B0E4-BFFC-4E61-810F-176DF1200DCC}"/>
              </a:ext>
            </a:extLst>
          </p:cNvPr>
          <p:cNvSpPr>
            <a:spLocks noGrp="1"/>
          </p:cNvSpPr>
          <p:nvPr/>
        </p:nvSpPr>
        <p:spPr>
          <a:xfrm>
            <a:off x="12230100" y="32575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0.9819</a:t>
            </a:r>
          </a:p>
        </p:txBody>
      </p:sp>
      <p:sp>
        <p:nvSpPr>
          <p:cNvPr id="35" name="repeat-table-r1-c3">
            <a:extLst>
              <a:ext uri="{FF2B5EF4-FFF2-40B4-BE49-F238E27FC236}">
                <a16:creationId xmlns:a16="http://schemas.microsoft.com/office/drawing/2014/main" id="{CF5D85D9-A381-402D-ABC9-47286AE31E52}"/>
              </a:ext>
            </a:extLst>
          </p:cNvPr>
          <p:cNvSpPr>
            <a:spLocks noGrp="1"/>
          </p:cNvSpPr>
          <p:nvPr/>
        </p:nvSpPr>
        <p:spPr>
          <a:xfrm>
            <a:off x="14077950" y="32575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1.0056</a:t>
            </a:r>
          </a:p>
        </p:txBody>
      </p:sp>
      <p:sp>
        <p:nvSpPr>
          <p:cNvPr id="36" name="repeat-table-r1-c4">
            <a:extLst>
              <a:ext uri="{FF2B5EF4-FFF2-40B4-BE49-F238E27FC236}">
                <a16:creationId xmlns:a16="http://schemas.microsoft.com/office/drawing/2014/main" id="{84628BBD-97C9-4BD4-99AC-DE99D2BD5DAA}"/>
              </a:ext>
            </a:extLst>
          </p:cNvPr>
          <p:cNvSpPr>
            <a:spLocks noGrp="1"/>
          </p:cNvSpPr>
          <p:nvPr/>
        </p:nvSpPr>
        <p:spPr>
          <a:xfrm>
            <a:off x="15925800" y="32575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0.9682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5DB597-84C8-4E74-A297-F1104F5B76C2}"/>
              </a:ext>
            </a:extLst>
          </p:cNvPr>
          <p:cNvSpPr>
            <a:spLocks noGrp="1"/>
          </p:cNvSpPr>
          <p:nvPr/>
        </p:nvSpPr>
        <p:spPr>
          <a:xfrm>
            <a:off x="8534400" y="3810000"/>
            <a:ext cx="92011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8" name="repeat-table-r2-c0">
            <a:extLst>
              <a:ext uri="{FF2B5EF4-FFF2-40B4-BE49-F238E27FC236}">
                <a16:creationId xmlns:a16="http://schemas.microsoft.com/office/drawing/2014/main" id="{F2E78377-4E9B-470A-885B-E6AA2E92A9E9}"/>
              </a:ext>
            </a:extLst>
          </p:cNvPr>
          <p:cNvSpPr>
            <a:spLocks noGrp="1"/>
          </p:cNvSpPr>
          <p:nvPr/>
        </p:nvSpPr>
        <p:spPr>
          <a:xfrm>
            <a:off x="8534400" y="40576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repeat 3</a:t>
            </a:r>
          </a:p>
        </p:txBody>
      </p:sp>
      <p:sp>
        <p:nvSpPr>
          <p:cNvPr id="39" name="repeat-table-r2-c1">
            <a:extLst>
              <a:ext uri="{FF2B5EF4-FFF2-40B4-BE49-F238E27FC236}">
                <a16:creationId xmlns:a16="http://schemas.microsoft.com/office/drawing/2014/main" id="{6E27B9E4-9A63-4F36-A48F-D6C975EF1FDA}"/>
              </a:ext>
            </a:extLst>
          </p:cNvPr>
          <p:cNvSpPr>
            <a:spLocks noGrp="1"/>
          </p:cNvSpPr>
          <p:nvPr/>
        </p:nvSpPr>
        <p:spPr>
          <a:xfrm>
            <a:off x="10382250" y="40576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0.9906</a:t>
            </a:r>
          </a:p>
        </p:txBody>
      </p:sp>
      <p:sp>
        <p:nvSpPr>
          <p:cNvPr id="40" name="repeat-table-r2-c2">
            <a:extLst>
              <a:ext uri="{FF2B5EF4-FFF2-40B4-BE49-F238E27FC236}">
                <a16:creationId xmlns:a16="http://schemas.microsoft.com/office/drawing/2014/main" id="{C6B67106-32A0-42F9-8B8C-B3251946A218}"/>
              </a:ext>
            </a:extLst>
          </p:cNvPr>
          <p:cNvSpPr>
            <a:spLocks noGrp="1"/>
          </p:cNvSpPr>
          <p:nvPr/>
        </p:nvSpPr>
        <p:spPr>
          <a:xfrm>
            <a:off x="12230100" y="40576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0.9810</a:t>
            </a:r>
          </a:p>
        </p:txBody>
      </p:sp>
      <p:sp>
        <p:nvSpPr>
          <p:cNvPr id="41" name="repeat-table-r2-c3">
            <a:extLst>
              <a:ext uri="{FF2B5EF4-FFF2-40B4-BE49-F238E27FC236}">
                <a16:creationId xmlns:a16="http://schemas.microsoft.com/office/drawing/2014/main" id="{22F6167F-1491-4C74-BF4E-2C4FEA827988}"/>
              </a:ext>
            </a:extLst>
          </p:cNvPr>
          <p:cNvSpPr>
            <a:spLocks noGrp="1"/>
          </p:cNvSpPr>
          <p:nvPr/>
        </p:nvSpPr>
        <p:spPr>
          <a:xfrm>
            <a:off x="14077950" y="40576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1.0046</a:t>
            </a:r>
          </a:p>
        </p:txBody>
      </p:sp>
      <p:sp>
        <p:nvSpPr>
          <p:cNvPr id="42" name="repeat-table-r2-c4">
            <a:extLst>
              <a:ext uri="{FF2B5EF4-FFF2-40B4-BE49-F238E27FC236}">
                <a16:creationId xmlns:a16="http://schemas.microsoft.com/office/drawing/2014/main" id="{3D653379-BD78-4642-98DD-644750C75517}"/>
              </a:ext>
            </a:extLst>
          </p:cNvPr>
          <p:cNvSpPr>
            <a:spLocks noGrp="1"/>
          </p:cNvSpPr>
          <p:nvPr/>
        </p:nvSpPr>
        <p:spPr>
          <a:xfrm>
            <a:off x="15925800" y="405765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0.9593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33FF7FF-FCAB-4AE8-BE88-C932AF06BE16}"/>
              </a:ext>
            </a:extLst>
          </p:cNvPr>
          <p:cNvSpPr>
            <a:spLocks noGrp="1"/>
          </p:cNvSpPr>
          <p:nvPr/>
        </p:nvSpPr>
        <p:spPr>
          <a:xfrm>
            <a:off x="8534400" y="4610100"/>
            <a:ext cx="920115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44" name="repeat-table-r3-c0">
            <a:extLst>
              <a:ext uri="{FF2B5EF4-FFF2-40B4-BE49-F238E27FC236}">
                <a16:creationId xmlns:a16="http://schemas.microsoft.com/office/drawing/2014/main" id="{8E67D7DD-E461-4123-AE7A-0FA90A00A8AD}"/>
              </a:ext>
            </a:extLst>
          </p:cNvPr>
          <p:cNvSpPr>
            <a:spLocks noGrp="1"/>
          </p:cNvSpPr>
          <p:nvPr/>
        </p:nvSpPr>
        <p:spPr>
          <a:xfrm>
            <a:off x="8534400" y="48387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repeat 4</a:t>
            </a:r>
          </a:p>
        </p:txBody>
      </p:sp>
      <p:sp>
        <p:nvSpPr>
          <p:cNvPr id="45" name="repeat-table-r3-c1">
            <a:extLst>
              <a:ext uri="{FF2B5EF4-FFF2-40B4-BE49-F238E27FC236}">
                <a16:creationId xmlns:a16="http://schemas.microsoft.com/office/drawing/2014/main" id="{FB34D724-08B7-4690-9B12-03DE8E29CE48}"/>
              </a:ext>
            </a:extLst>
          </p:cNvPr>
          <p:cNvSpPr>
            <a:spLocks noGrp="1"/>
          </p:cNvSpPr>
          <p:nvPr/>
        </p:nvSpPr>
        <p:spPr>
          <a:xfrm>
            <a:off x="10382250" y="48387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0.9902</a:t>
            </a:r>
          </a:p>
        </p:txBody>
      </p:sp>
      <p:sp>
        <p:nvSpPr>
          <p:cNvPr id="46" name="repeat-table-r3-c2">
            <a:extLst>
              <a:ext uri="{FF2B5EF4-FFF2-40B4-BE49-F238E27FC236}">
                <a16:creationId xmlns:a16="http://schemas.microsoft.com/office/drawing/2014/main" id="{33A0E8C3-055B-4FAC-9AC3-14D964E6C66B}"/>
              </a:ext>
            </a:extLst>
          </p:cNvPr>
          <p:cNvSpPr>
            <a:spLocks noGrp="1"/>
          </p:cNvSpPr>
          <p:nvPr/>
        </p:nvSpPr>
        <p:spPr>
          <a:xfrm>
            <a:off x="12230100" y="48387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0.9806</a:t>
            </a:r>
          </a:p>
        </p:txBody>
      </p:sp>
      <p:sp>
        <p:nvSpPr>
          <p:cNvPr id="47" name="repeat-table-r3-c3">
            <a:extLst>
              <a:ext uri="{FF2B5EF4-FFF2-40B4-BE49-F238E27FC236}">
                <a16:creationId xmlns:a16="http://schemas.microsoft.com/office/drawing/2014/main" id="{23C408D8-F466-4505-889A-C573483D343C}"/>
              </a:ext>
            </a:extLst>
          </p:cNvPr>
          <p:cNvSpPr>
            <a:spLocks noGrp="1"/>
          </p:cNvSpPr>
          <p:nvPr/>
        </p:nvSpPr>
        <p:spPr>
          <a:xfrm>
            <a:off x="14077950" y="48387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1.0042</a:t>
            </a:r>
          </a:p>
        </p:txBody>
      </p:sp>
      <p:sp>
        <p:nvSpPr>
          <p:cNvPr id="48" name="repeat-table-r3-c4">
            <a:extLst>
              <a:ext uri="{FF2B5EF4-FFF2-40B4-BE49-F238E27FC236}">
                <a16:creationId xmlns:a16="http://schemas.microsoft.com/office/drawing/2014/main" id="{9791C861-D28C-4226-ACD3-394BDDE28ABB}"/>
              </a:ext>
            </a:extLst>
          </p:cNvPr>
          <p:cNvSpPr>
            <a:spLocks noGrp="1"/>
          </p:cNvSpPr>
          <p:nvPr/>
        </p:nvSpPr>
        <p:spPr>
          <a:xfrm>
            <a:off x="15925800" y="4838700"/>
            <a:ext cx="16192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74151"/>
                </a:solidFill>
                <a:latin typeface="Microsoft JhengHei"/>
                <a:ea typeface="Microsoft JhengHei"/>
                <a:cs typeface="Microsoft JhengHei"/>
              </a:rPr>
              <a:t>0.9615</a:t>
            </a:r>
          </a:p>
        </p:txBody>
      </p:sp>
    </p:spTree>
    <p:extLst>
      <p:ext uri="{BB962C8B-B14F-4D97-AF65-F5344CB8AC3E}">
        <p14:creationId xmlns:p14="http://schemas.microsoft.com/office/powerpoint/2010/main" val="20718274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953</Words>
  <Application>Microsoft Office PowerPoint</Application>
  <DocSecurity>0</DocSecurity>
  <PresentationFormat>自訂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羅文謙</cp:lastModifiedBy>
  <cp:revision>5</cp:revision>
  <dcterms:created xsi:type="dcterms:W3CDTF">2026-05-11T11:06:02Z</dcterms:created>
  <dcterms:modified xsi:type="dcterms:W3CDTF">2026-05-11T12:37:53Z</dcterms:modified>
</cp:coreProperties>
</file>