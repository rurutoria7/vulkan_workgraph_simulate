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2574" y="19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JhengHei"/>
              </a:rPr>
              <a:t>Weekly Report 260504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Microsoft JhengHei"/>
              </a:rPr>
              <a:t>Vulkan WorkGraph POC / metrics-driven baseline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4EA6"/>
                </a:solidFill>
                <a:latin typeface="Microsoft JhengHei"/>
              </a:rPr>
              <a:t>本週工作摘要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29968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4EA6"/>
                </a:solidFill>
                <a:latin typeface="Microsoft JhengHei"/>
              </a:rPr>
              <a:t>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2011680"/>
            <a:ext cx="99212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202124"/>
                </a:solidFill>
                <a:latin typeface="Microsoft JhengHei"/>
              </a:rPr>
              <a:t>完成 workgraph_poc 的 metrics infrastructure。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4EA6"/>
                </a:solidFill>
                <a:latin typeface="Microsoft JhengHei"/>
              </a:rPr>
              <a:t>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542032"/>
            <a:ext cx="99212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202124"/>
                </a:solidFill>
                <a:latin typeface="Microsoft JhengHei"/>
              </a:rPr>
              <a:t>Baseline workload 是 deterministic Koch snowflake，MAX_DEPTH=8。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90672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4EA6"/>
                </a:solidFill>
                <a:latin typeface="Microsoft JhengHei"/>
              </a:rPr>
              <a:t>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072384"/>
            <a:ext cx="99212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202124"/>
                </a:solidFill>
                <a:latin typeface="Microsoft JhengHei"/>
              </a:rPr>
              <a:t>可量測 GPU compute time、queue behavior、atomic contention、worker idle polling。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3566161"/>
            <a:ext cx="10351007" cy="384048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62102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4EA6"/>
                </a:solidFill>
                <a:latin typeface="Microsoft JhengHei"/>
              </a:rPr>
              <a:t>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602736"/>
            <a:ext cx="99212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Microsoft JhengHei"/>
              </a:rPr>
              <a:t>正確性穩定：edges=196608、vertices=393216、stop_writes=1。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4EA6"/>
                </a:solidFill>
                <a:latin typeface="Microsoft JhengHei"/>
              </a:rPr>
              <a:t>核心訊息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64608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02124"/>
                </a:solidFill>
                <a:latin typeface="Microsoft JhengHei"/>
              </a:rPr>
              <a:t>主要瓶頸不是 render，而是 persistent compute pipeline 裡的 queue CAS contention 與 empty polling。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Microsoft JhengHei"/>
              </a:rPr>
              <a:t>Vulkan WorkGraph POC weekly report | 260504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JhengHei"/>
              </a:rPr>
              <a:t>Baseline setup / 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Microsoft JhengHei"/>
              </a:rPr>
              <a:t>這頁整理 benchmark 條件與 metrics taxonomy。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525779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4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02124"/>
                          </a:solidFill>
                          <a:latin typeface="Microsoft JhengHei"/>
                        </a:rPr>
                        <a:t>Item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02124"/>
                          </a:solidFill>
                          <a:latin typeface="Microsoft JhengHei"/>
                        </a:rPr>
                        <a:t>Value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Microsoft JhengHei"/>
                        </a:rPr>
                        <a:t>Build target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Microsoft JhengHei"/>
                        </a:rPr>
                        <a:t>workgraph_poc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Microsoft JhengHei"/>
                        </a:rPr>
                        <a:t>Build config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Microsoft JhengHei"/>
                        </a:rPr>
                        <a:t>Release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Microsoft JhengHei"/>
                        </a:rPr>
                        <a:t>Run mode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--benchmark --benchwarmup 2 --benchruntime 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Microsoft JhengHei"/>
                        </a:rPr>
                        <a:t>GPU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AMD Radeon RX 7900 XTX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Microsoft JhengHei"/>
                        </a:rPr>
                        <a:t>Samples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8 samples，每 30 個 completed GPU frames 輸出一次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325880"/>
          <a:ext cx="5166359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7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9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02124"/>
                          </a:solidFill>
                          <a:latin typeface="Microsoft JhengHei"/>
                        </a:rPr>
                        <a:t>Category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02124"/>
                          </a:solidFill>
                          <a:latin typeface="Microsoft JhengHei"/>
                        </a:rPr>
                        <a:t>Metrics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02124"/>
                          </a:solidFill>
                          <a:latin typeface="Microsoft JhengHei"/>
                        </a:rPr>
                        <a:t>Purpose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Microsoft JhengHei"/>
                        </a:rPr>
                        <a:t>Correctness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Microsoft JhengHei"/>
                        </a:rPr>
                        <a:t>edges, vertices, node_*, stop_writes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Microsoft JhengHei"/>
                        </a:rPr>
                        <a:t>確認 deterministic workload 沒有掉 task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Microsoft JhengHei"/>
                        </a:rPr>
                        <a:t>Timing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Microsoft JhengHei"/>
                        </a:rPr>
                        <a:t>gpu_frame_ms, compute_ms, render_ms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Microsoft JhengHei"/>
                        </a:rPr>
                        <a:t>找出主要 GPU cost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Microsoft JhengHei"/>
                        </a:rPr>
                        <a:t>Throughput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Microsoft JhengHei"/>
                        </a:rPr>
                        <a:t>edges_per_ms, vertices_per_ms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Microsoft JhengHei"/>
                        </a:rPr>
                        <a:t>比較不同 experiment settings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Microsoft JhengHei"/>
                        </a:rPr>
                        <a:t>Queue pressure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Microsoft JhengHei"/>
                        </a:rPr>
                        <a:t>q*_high_water, q*_enq_full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Microsoft JhengHei"/>
                        </a:rPr>
                        <a:t>確認 queue capacity 是否足夠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Microsoft JhengHei"/>
                        </a:rPr>
                        <a:t>Contention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Microsoft JhengHei"/>
                        </a:rPr>
                        <a:t>q*_cas_fail, q*_deq_empty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Microsoft JhengHei"/>
                        </a:rPr>
                        <a:t>量測 CAS retry 與 idle polling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596128"/>
            <a:ext cx="1065276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D6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400" y="5705856"/>
            <a:ext cx="9098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Microsoft JhengHei"/>
              </a:rPr>
              <a:t>這次 report 的目的，是用 metrics 把瓶頸從 FPS 拆到 queue / atomic / worker 行為。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Microsoft JhengHei"/>
              </a:rPr>
              <a:t>Vulkan WorkGraph POC weekly report | 260504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JhengHei"/>
              </a:rPr>
              <a:t>Baseline timing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Microsoft JhengHei"/>
              </a:rPr>
              <a:t>GPU timestamp 顯示主要時間都在 compute dispatch。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5275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11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124"/>
                          </a:solidFill>
                          <a:latin typeface="Microsoft JhengHei"/>
                        </a:rPr>
                        <a:t>Metric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124"/>
                          </a:solidFill>
                          <a:latin typeface="Microsoft JhengHei"/>
                        </a:rPr>
                        <a:t>Avg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124"/>
                          </a:solidFill>
                          <a:latin typeface="Microsoft JhengHei"/>
                        </a:rPr>
                        <a:t>Min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124"/>
                          </a:solidFill>
                          <a:latin typeface="Microsoft JhengHei"/>
                        </a:rP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124"/>
                          </a:solidFill>
                          <a:latin typeface="Microsoft JhengHei"/>
                        </a:rPr>
                        <a:t>Max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124"/>
                          </a:solidFill>
                          <a:latin typeface="Microsoft JhengHei"/>
                        </a:rPr>
                        <a:t>Note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Microsoft JhengHei"/>
                        </a:rPr>
                        <a:t>GPU frame ms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46.42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44.99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46.24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49.60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Microsoft JhengHei"/>
                        </a:rPr>
                        <a:t>reset + compute + copy + render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124"/>
                          </a:solidFill>
                          <a:latin typeface="Microsoft JhengHei"/>
                        </a:rPr>
                        <a:t>Compute ms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02124"/>
                          </a:solidFill>
                          <a:latin typeface="Consolas"/>
                        </a:rPr>
                        <a:t>46.29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02124"/>
                          </a:solidFill>
                          <a:latin typeface="Consolas"/>
                        </a:rPr>
                        <a:t>44.92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02124"/>
                          </a:solidFill>
                          <a:latin typeface="Consolas"/>
                        </a:rPr>
                        <a:t>46.17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02124"/>
                          </a:solidFill>
                          <a:latin typeface="Consolas"/>
                        </a:rPr>
                        <a:t>49.53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124"/>
                          </a:solidFill>
                          <a:latin typeface="Microsoft JhengHei"/>
                        </a:rPr>
                        <a:t>主要成本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Microsoft JhengHei"/>
                        </a:rPr>
                        <a:t>Metrics copy ms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0.081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0.018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0.022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0.404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Microsoft JhengHei"/>
                        </a:rPr>
                        <a:t>成本小，偶爾 spike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Microsoft JhengHei"/>
                        </a:rPr>
                        <a:t>Render ms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0.0277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0.0262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0.0277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0.0285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Microsoft JhengHei"/>
                        </a:rPr>
                        <a:t>不是瓶頸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Microsoft JhengHei"/>
                        </a:rPr>
                        <a:t>Edges / ms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4250.52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3969.31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4258.26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4376.76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Microsoft JhengHei"/>
                        </a:rPr>
                        <a:t>throughput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7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Microsoft JhengHei"/>
                        </a:rPr>
                        <a:t>Vertices / ms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8501.05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7938.63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8516.52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8753.52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Microsoft JhengHei"/>
                        </a:rPr>
                        <a:t>throughput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" y="5596128"/>
            <a:ext cx="1065276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D6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5705856"/>
            <a:ext cx="9098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Microsoft JhengHei"/>
              </a:rPr>
              <a:t>Render pass 幾乎不是瓶頸，後續優化應集中在 compute pipeline。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Microsoft JhengHei"/>
              </a:rPr>
              <a:t>Vulkan WorkGraph POC weekly report | 260504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JhengHei"/>
              </a:rPr>
              <a:t>Correctness counters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Microsoft JhengHei"/>
              </a:rPr>
              <a:t>所有 sample 都維持 deterministic correctness。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417320"/>
          <a:ext cx="992123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4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124"/>
                          </a:solidFill>
                          <a:latin typeface="Microsoft JhengHei"/>
                        </a:rPr>
                        <a:t>Counter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124"/>
                          </a:solidFill>
                          <a:latin typeface="Microsoft JhengHei"/>
                        </a:rPr>
                        <a:t>Value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124"/>
                          </a:solidFill>
                          <a:latin typeface="Microsoft JhengHei"/>
                        </a:rPr>
                        <a:t>Note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124"/>
                          </a:solidFill>
                          <a:latin typeface="Microsoft JhengHei"/>
                        </a:rPr>
                        <a:t>edges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02124"/>
                          </a:solidFill>
                          <a:latin typeface="Consolas"/>
                        </a:rPr>
                        <a:t>196608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124"/>
                          </a:solidFill>
                          <a:latin typeface="Microsoft JhengHei"/>
                        </a:rPr>
                        <a:t>final edges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124"/>
                          </a:solidFill>
                          <a:latin typeface="Microsoft JhengHei"/>
                        </a:rPr>
                        <a:t>vertices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02124"/>
                          </a:solidFill>
                          <a:latin typeface="Consolas"/>
                        </a:rPr>
                        <a:t>393216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124"/>
                          </a:solidFill>
                          <a:latin typeface="Microsoft JhengHei"/>
                        </a:rPr>
                        <a:t>output vertices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124"/>
                          </a:solidFill>
                          <a:latin typeface="Microsoft JhengHei"/>
                        </a:rPr>
                        <a:t>node_b_tasks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262143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Node B 從 Q1 取得的 task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124"/>
                          </a:solidFill>
                          <a:latin typeface="Microsoft JhengHei"/>
                        </a:rPr>
                        <a:t>node_b_subdivide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65535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124"/>
                          </a:solidFill>
                          <a:latin typeface="Microsoft JhengHei"/>
                        </a:rPr>
                        <a:t>subdivision tasks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124"/>
                          </a:solidFill>
                          <a:latin typeface="Microsoft JhengHei"/>
                        </a:rPr>
                        <a:t>node_b_final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196608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Node B 送到 Q2 的 final edges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124"/>
                          </a:solidFill>
                          <a:latin typeface="Microsoft JhengHei"/>
                        </a:rPr>
                        <a:t>node_c_output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196608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124"/>
                          </a:solidFill>
                          <a:latin typeface="Microsoft JhengHei"/>
                        </a:rPr>
                        <a:t>Node C 寫出的 final edges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124"/>
                          </a:solidFill>
                          <a:latin typeface="Microsoft JhengHei"/>
                        </a:rPr>
                        <a:t>stop_writes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02124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124"/>
                          </a:solidFill>
                          <a:latin typeface="Microsoft JhengHei"/>
                        </a:rPr>
                        <a:t>stop signal 只寫一次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" y="5596128"/>
            <a:ext cx="1065276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D6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5705856"/>
            <a:ext cx="909828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Microsoft JhengHei"/>
              </a:rPr>
              <a:t>task count 與 output count 都穩定。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Microsoft JhengHei"/>
              </a:rPr>
              <a:t>Vulkan WorkGraph POC weekly report | 260504 | 4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4A0270A-371B-4ABC-A9BB-BE5ABD833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80751"/>
            <a:ext cx="5163076" cy="20795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JhengHei"/>
              </a:rPr>
              <a:t>Queue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Microsoft JhengHei"/>
              </a:rPr>
              <a:t>CAS fail counters 指出 queue 熱點。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9844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124"/>
                          </a:solidFill>
                          <a:latin typeface="Microsoft JhengHei"/>
                        </a:rPr>
                        <a:t>Metric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124"/>
                          </a:solidFill>
                          <a:latin typeface="Microsoft JhengHei"/>
                        </a:rPr>
                        <a:t>Avg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124"/>
                          </a:solidFill>
                          <a:latin typeface="Microsoft JhengHei"/>
                        </a:rPr>
                        <a:t>Observation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q1_enq_cas_fail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3.15e6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Q1 producer tail contention 明顯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124"/>
                          </a:solidFill>
                          <a:latin typeface="Consolas"/>
                        </a:rPr>
                        <a:t>q1_deq_cas_fail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02124"/>
                          </a:solidFill>
                          <a:latin typeface="Consolas"/>
                        </a:rPr>
                        <a:t>4.00e7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124"/>
                          </a:solidFill>
                          <a:latin typeface="Microsoft JhengHei"/>
                        </a:rPr>
                        <a:t>最大 hotspot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q2_enq_cas_fail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5.12e5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Microsoft JhengHei"/>
                        </a:rPr>
                        <a:t>enqueue contention 較低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124"/>
                          </a:solidFill>
                          <a:latin typeface="Consolas"/>
                        </a:rPr>
                        <a:t>q2_deq_cas_fail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02124"/>
                          </a:solidFill>
                          <a:latin typeface="Consolas"/>
                        </a:rPr>
                        <a:t>1.41e7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124"/>
                          </a:solidFill>
                          <a:latin typeface="Microsoft JhengHei"/>
                        </a:rPr>
                        <a:t>dequeue contention 仍然很高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q1_high_water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9.70e4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約 queue capacity 的 49%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q2_high_water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1.69e2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Q2 occupancy 很低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q1_ready_max_spin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3.88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Microsoft JhengHei"/>
                        </a:rPr>
                        <a:t>影響不大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q2_ready_max_spin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02124"/>
                          </a:solidFill>
                          <a:latin typeface="Consolas"/>
                        </a:rPr>
                        <a:t>17.88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124"/>
                          </a:solidFill>
                          <a:latin typeface="Microsoft JhengHei"/>
                        </a:rPr>
                        <a:t>有等待，但不是主要瓶頸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" y="5705856"/>
            <a:ext cx="1065276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D6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5815584"/>
            <a:ext cx="9098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Microsoft JhengHei"/>
              </a:rPr>
              <a:t>Q1 dequeue CAS 是最大熱點，Q2 dequeue CAS 是第二個熱點。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Microsoft JhengHei"/>
              </a:rPr>
              <a:t>Vulkan WorkGraph POC weekly report | 260504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JhengHei"/>
              </a:rPr>
              <a:t>Bottleneck ratios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Microsoft JhengHei"/>
              </a:rPr>
              <a:t>用 fail / success 與 empty / success 看 queue 行為。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17320"/>
          <a:ext cx="1046987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0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0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124"/>
                          </a:solidFill>
                          <a:latin typeface="Microsoft JhengHei"/>
                        </a:rPr>
                        <a:t>Ratio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124"/>
                          </a:solidFill>
                          <a:latin typeface="Microsoft JhengHei"/>
                        </a:rPr>
                        <a:t>Value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124"/>
                          </a:solidFill>
                          <a:latin typeface="Microsoft JhengHei"/>
                        </a:rPr>
                        <a:t>Meaning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Consolas"/>
                        </a:rPr>
                        <a:t>Q1 enqueue CAS fail / success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124"/>
                          </a:solidFill>
                          <a:latin typeface="Consolas"/>
                        </a:rPr>
                        <a:t>12.01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Microsoft JhengHei"/>
                        </a:rPr>
                        <a:t>producer-side contention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124"/>
                          </a:solidFill>
                          <a:latin typeface="Consolas"/>
                        </a:rPr>
                        <a:t>Q1 dequeue CAS fail / success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02124"/>
                          </a:solidFill>
                          <a:latin typeface="Consolas"/>
                        </a:rPr>
                        <a:t>152.58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124"/>
                          </a:solidFill>
                          <a:latin typeface="Microsoft JhengHei"/>
                        </a:rPr>
                        <a:t>主要 CAS hotspot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Consolas"/>
                        </a:rPr>
                        <a:t>Q1 dequeue empty / success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124"/>
                          </a:solidFill>
                          <a:latin typeface="Consolas"/>
                        </a:rPr>
                        <a:t>0.15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Consolas"/>
                        </a:rPr>
                        <a:t>Q1 worker 很少空等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Consolas"/>
                        </a:rPr>
                        <a:t>Q2 enqueue CAS fail / success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124"/>
                          </a:solidFill>
                          <a:latin typeface="Consolas"/>
                        </a:rPr>
                        <a:t>2.60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Microsoft JhengHei"/>
                        </a:rPr>
                        <a:t>enqueue cost 較低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124"/>
                          </a:solidFill>
                          <a:latin typeface="Consolas"/>
                        </a:rPr>
                        <a:t>Q2 dequeue CAS fail / success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02124"/>
                          </a:solidFill>
                          <a:latin typeface="Consolas"/>
                        </a:rPr>
                        <a:t>71.58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124"/>
                          </a:solidFill>
                          <a:latin typeface="Microsoft JhengHei"/>
                        </a:rPr>
                        <a:t>第二個 CAS hotspot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124"/>
                          </a:solidFill>
                          <a:latin typeface="Consolas"/>
                        </a:rPr>
                        <a:t>Q2 dequeue empty / success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02124"/>
                          </a:solidFill>
                          <a:latin typeface="Consolas"/>
                        </a:rPr>
                        <a:t>119.17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124"/>
                          </a:solidFill>
                          <a:latin typeface="Microsoft JhengHei"/>
                        </a:rPr>
                        <a:t>Node C 常常 poll 到 empty queue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" y="5596128"/>
            <a:ext cx="1065276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D6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5705856"/>
            <a:ext cx="9098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Microsoft JhengHei"/>
              </a:rPr>
              <a:t>Q1 主要是 contention；Q2 同時有 contention 與 empty polling。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Microsoft JhengHei"/>
              </a:rPr>
              <a:t>Vulkan WorkGraph POC weekly report | 260504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JhengHei"/>
              </a:rPr>
              <a:t>Verification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Microsoft JhengHei"/>
              </a:rPr>
              <a:t>三個 branch 分別驗證 hot counter、workgroup 數量，以及 queue sharding。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10185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8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5810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Microsoft JhengHei"/>
                        </a:rPr>
                        <a:t>Experiment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Microsoft JhengHei"/>
                        </a:rPr>
                        <a:t>Branch / commit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Microsoft JhengHei"/>
                        </a:rPr>
                        <a:t>Purpose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Microsoft JhengHei"/>
                        </a:rPr>
                        <a:t>Result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Microsoft JhengHei"/>
                        </a:rPr>
                        <a:t>CAS multi-counter microbenchmark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Consolas"/>
                        </a:rPr>
                        <a:t>experiment-cas-multicounter / b33c6467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Microsoft JhengHei"/>
                        </a:rPr>
                        <a:t>把 CAS traffic 分散到 N 個 counters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Consolas"/>
                        </a:rPr>
                        <a:t>speedup 明顯，支持 hypothesis 1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Microsoft JhengHei"/>
                        </a:rPr>
                        <a:t>Workgroup CAS sweep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Consolas"/>
                        </a:rPr>
                        <a:t>experiment-wg-cas-sweep / 4c91cbd0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Microsoft JhengHei"/>
                        </a:rPr>
                        <a:t>降低 workgroup 數，觀察 CAS fail ratio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Microsoft JhengHei"/>
                        </a:rPr>
                        <a:t>CAS fail 下降，但 compute time 上升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Consolas"/>
                        </a:rPr>
                        <a:t>Q1 queue sharding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Consolas"/>
                        </a:rPr>
                        <a:t>experiment-q1-queue-shards / 097fa9ed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Consolas"/>
                        </a:rPr>
                        <a:t>把 Q1 queue 切成 N 個 shards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202124"/>
                          </a:solidFill>
                          <a:latin typeface="Consolas"/>
                        </a:rPr>
                        <a:t>Q1 CAS traffic 下降，但 compute time 只小幅改善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091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4EA6"/>
                </a:solidFill>
                <a:latin typeface="Microsoft JhengHei"/>
              </a:rPr>
              <a:t>Initial hypotheses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74EA6"/>
                </a:solidFill>
                <a:latin typeface="Microsoft JhengHei"/>
              </a:rPr>
              <a:t>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5102352"/>
            <a:ext cx="9829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202124"/>
                </a:solidFill>
                <a:latin typeface="Microsoft JhengHei"/>
              </a:rPr>
              <a:t>單一 hot counter 會限制 CAS throughput。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68112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74EA6"/>
                </a:solidFill>
                <a:latin typeface="Microsoft JhengHei"/>
              </a:rPr>
              <a:t>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5449824"/>
            <a:ext cx="9829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202124"/>
                </a:solidFill>
                <a:latin typeface="Microsoft JhengHei"/>
              </a:rPr>
              <a:t>CAS fail / retry 會降低有效 queue throughput。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15583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74EA6"/>
                </a:solidFill>
                <a:latin typeface="Microsoft JhengHei"/>
              </a:rPr>
              <a:t>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5797296"/>
            <a:ext cx="9829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202124"/>
                </a:solidFill>
                <a:latin typeface="Microsoft JhengHei"/>
              </a:rPr>
              <a:t>降低 CAS traffic 可能改善 compute time，但 parallelism 或 empty polling 可能變成新瓶頸。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Microsoft JhengHei"/>
              </a:rPr>
              <a:t>Vulkan WorkGraph POC weekly report | 260504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JhengHei"/>
              </a:rPr>
              <a:t>Experiment 1: CAS multi-counter microbenchmark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Microsoft JhengHei"/>
              </a:rPr>
              <a:t>固定 CAS work，將 CAS increment 分散到 N 個 counters。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1280160"/>
          <a:ext cx="10012678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7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7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7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124"/>
                          </a:solidFill>
                          <a:latin typeface="Microsoft JhengHei"/>
                        </a:rPr>
                        <a:t>counter_count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124"/>
                          </a:solidFill>
                          <a:latin typeface="Microsoft JhengHei"/>
                        </a:rPr>
                        <a:t>avg compute_ms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124"/>
                          </a:solidFill>
                          <a:latin typeface="Microsoft JhengHei"/>
                        </a:rPr>
                        <a:t>speedup vs 1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124"/>
                          </a:solidFill>
                          <a:latin typeface="Microsoft JhengHei"/>
                        </a:rPr>
                        <a:t>CAS fail / success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1923.06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1.00x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132.73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594.58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3.23x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240.88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369.53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5.20x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111.00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200.32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9.60x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58.32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16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82.15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23.41x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29.70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32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39.57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48.59x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16.93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64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21.10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91.14x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124"/>
                          </a:solidFill>
                          <a:latin typeface="Consolas"/>
                        </a:rPr>
                        <a:t>7.77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124"/>
                          </a:solidFill>
                          <a:latin typeface="Consolas"/>
                        </a:rPr>
                        <a:t>128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02124"/>
                          </a:solidFill>
                          <a:latin typeface="Consolas"/>
                        </a:rPr>
                        <a:t>11.77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02124"/>
                          </a:solidFill>
                          <a:latin typeface="Consolas"/>
                        </a:rPr>
                        <a:t>163.43x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02124"/>
                          </a:solidFill>
                          <a:latin typeface="Consolas"/>
                        </a:rPr>
                        <a:t>3.65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" y="5596128"/>
            <a:ext cx="1065276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D6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5705856"/>
            <a:ext cx="9098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Microsoft JhengHei"/>
              </a:rPr>
              <a:t>單一 hot counter 是主要瓶頸；分散 CAS traffic 可以大幅降低 contention 與 retry cost。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Microsoft JhengHei"/>
              </a:rPr>
              <a:t>Vulkan WorkGraph POC weekly report | 260504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JhengHei"/>
              </a:rPr>
              <a:t>Experiment 2: Workgroup CAS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Microsoft JhengHei"/>
              </a:rPr>
              <a:t>固定 Koch task 數量，只改變 NUM_WORKGROUPS。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80160"/>
          <a:ext cx="10652759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7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7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202124"/>
                          </a:solidFill>
                          <a:latin typeface="Microsoft JhengHei"/>
                        </a:rPr>
                        <a:t>workgroups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202124"/>
                          </a:solidFill>
                          <a:latin typeface="Microsoft JhengHei"/>
                        </a:rPr>
                        <a:t>B/C workers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202124"/>
                          </a:solidFill>
                          <a:latin typeface="Microsoft JhengHei"/>
                        </a:rPr>
                        <a:t>avg compute_ms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202124"/>
                          </a:solidFill>
                          <a:latin typeface="Microsoft JhengHei"/>
                        </a:rPr>
                        <a:t>Q1 fail / success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202124"/>
                          </a:solidFill>
                          <a:latin typeface="Microsoft JhengHei"/>
                        </a:rPr>
                        <a:t>Q2 fail / success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96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72/24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46.89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84.02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37.39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80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60/20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46.98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82.57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41.10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64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48/16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51.59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85.03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46.12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48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36/12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58.76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85.09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52.26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32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24/8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71.57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70.13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48.51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18/6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79.61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54.95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39.47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16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12/4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102.58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37.03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29.68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9/3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120.08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29.24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24.84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6/2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166.92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22.42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20.73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" y="5687568"/>
            <a:ext cx="1065276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D6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5797296"/>
            <a:ext cx="9098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Microsoft JhengHei"/>
              </a:rPr>
              <a:t>減少 workgroup 會降低 CAS fail ratio，但 compute time 反而變差，因為 parallelism 也下降。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Microsoft JhengHei"/>
              </a:rPr>
              <a:t>Vulkan WorkGraph POC weekly report | 260504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JhengHei"/>
              </a:rPr>
              <a:t>Fixed Node C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Microsoft JhengHei"/>
              </a:rPr>
              <a:t>固定 Node C=24，檢查 Node B 減少後的 Q2 empty polling。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835637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8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8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8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202124"/>
                          </a:solidFill>
                          <a:latin typeface="Microsoft JhengHei"/>
                        </a:rPr>
                        <a:t>workgroups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202124"/>
                          </a:solidFill>
                          <a:latin typeface="Microsoft JhengHei"/>
                        </a:rPr>
                        <a:t>B/C workers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202124"/>
                          </a:solidFill>
                          <a:latin typeface="Microsoft JhengHei"/>
                        </a:rPr>
                        <a:t>avg compute_ms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202124"/>
                          </a:solidFill>
                          <a:latin typeface="Microsoft JhengHei"/>
                        </a:rPr>
                        <a:t>Q1 fail / success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202124"/>
                          </a:solidFill>
                          <a:latin typeface="Microsoft JhengHei"/>
                        </a:rPr>
                        <a:t>Q2 fail / success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202124"/>
                          </a:solidFill>
                          <a:latin typeface="Microsoft JhengHei"/>
                        </a:rPr>
                        <a:t>Q2 empty / success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96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72/24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46.95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83.66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37.90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119.75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80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56/24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48.72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77.93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40.62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167.72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64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40/24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52.70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73.76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48.83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221.79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48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24/24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62.09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61.44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67.93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348.49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40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16/24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72.31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48.16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85.06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0">
                          <a:solidFill>
                            <a:srgbClr val="202124"/>
                          </a:solidFill>
                          <a:latin typeface="Consolas"/>
                        </a:rPr>
                        <a:t>475.04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8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32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8/24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101.19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30.19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112.18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 b="1">
                          <a:solidFill>
                            <a:srgbClr val="202124"/>
                          </a:solidFill>
                          <a:latin typeface="Consolas"/>
                        </a:rPr>
                        <a:t>806.05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" y="5596128"/>
            <a:ext cx="1065276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D6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5705856"/>
            <a:ext cx="9098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Microsoft JhengHei"/>
              </a:rPr>
              <a:t>Node B workers 太少時，Q2 empty polling 會大幅惡化。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Microsoft JhengHei"/>
              </a:rPr>
              <a:t>Vulkan WorkGraph POC weekly report | 260504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JhengHei"/>
              </a:rPr>
              <a:t>Experiment 3: Q1 queue sharding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Microsoft JhengHei"/>
              </a:rPr>
              <a:t>Q1 最多切成 16 個 shards，runtime 用 --wg-queue-shards N 選擇實際 shard 數。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44752"/>
          <a:ext cx="11201397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3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8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4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4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23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02124"/>
                          </a:solidFill>
                          <a:latin typeface="Microsoft JhengHei"/>
                        </a:rPr>
                        <a:t>Q1 shards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02124"/>
                          </a:solidFill>
                          <a:latin typeface="Microsoft JhengHei"/>
                        </a:rPr>
                        <a:t>correct frames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02124"/>
                          </a:solidFill>
                          <a:latin typeface="Microsoft JhengHei"/>
                        </a:rPr>
                        <a:t>avg compute_ms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02124"/>
                          </a:solidFill>
                          <a:latin typeface="Microsoft JhengHei"/>
                        </a:rPr>
                        <a:t>speedup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02124"/>
                          </a:solidFill>
                          <a:latin typeface="Microsoft JhengHei"/>
                        </a:rPr>
                        <a:t>attempt reduction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02124"/>
                          </a:solidFill>
                          <a:latin typeface="Microsoft JhengHei"/>
                        </a:rPr>
                        <a:t>probe reduction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02124"/>
                          </a:solidFill>
                          <a:latin typeface="Microsoft JhengHei"/>
                        </a:rPr>
                        <a:t>fail / success</a:t>
                      </a:r>
                    </a:p>
                  </a:txBody>
                  <a:tcPr marL="36576" marR="36576" marT="27432" marB="27432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4/4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44.44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1.00x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1.00x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1.00x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366.15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4/4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44.30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1.00x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4.03x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1.07x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181.32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4/4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44.09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1.01x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15.19x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1.71x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95.65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4/4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43.40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1.02x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50.73x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3.08x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02124"/>
                          </a:solidFill>
                          <a:latin typeface="Consolas"/>
                        </a:rPr>
                        <a:t>56.90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02124"/>
                          </a:solidFill>
                          <a:latin typeface="Consolas"/>
                        </a:rPr>
                        <a:t>16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02124"/>
                          </a:solidFill>
                          <a:latin typeface="Consolas"/>
                        </a:rPr>
                        <a:t>4/4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02124"/>
                          </a:solidFill>
                          <a:latin typeface="Consolas"/>
                        </a:rPr>
                        <a:t>42.47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02124"/>
                          </a:solidFill>
                          <a:latin typeface="Consolas"/>
                        </a:rPr>
                        <a:t>1.05x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02124"/>
                          </a:solidFill>
                          <a:latin typeface="Consolas"/>
                        </a:rPr>
                        <a:t>157.48x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02124"/>
                          </a:solidFill>
                          <a:latin typeface="Consolas"/>
                        </a:rPr>
                        <a:t>6.06x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02124"/>
                          </a:solidFill>
                          <a:latin typeface="Consolas"/>
                        </a:rPr>
                        <a:t>36.30</a:t>
                      </a:r>
                    </a:p>
                  </a:txBody>
                  <a:tcPr marL="36576" marR="36576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" y="4937760"/>
            <a:ext cx="1065276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D6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5047488"/>
            <a:ext cx="9098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Microsoft JhengHei"/>
              </a:rPr>
              <a:t>Q1 sharding 可以大幅降低 Q1 CAS traffic，但 compute time 只改善 1.05x。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577840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  <a:latin typeface="Microsoft JhengHei"/>
              </a:rPr>
              <a:t>剩餘成本可能來自 Q2、global atomics，以及 empty polling。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Microsoft JhengHei"/>
              </a:rPr>
              <a:t>Vulkan WorkGraph POC weekly report | 260504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02124"/>
                </a:solidFill>
                <a:latin typeface="Microsoft JhengHei"/>
              </a:rPr>
              <a:t>本週結論 / 下週建議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Microsoft JhengHei"/>
              </a:rPr>
              <a:t>下一步應該聚焦在剩餘瓶頸，而不是只優化 Q1。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4EA6"/>
                </a:solidFill>
                <a:latin typeface="Microsoft JhengHei"/>
              </a:rPr>
              <a:t>本週結論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673351"/>
            <a:ext cx="10533888" cy="530353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2" y="1676561"/>
            <a:ext cx="310896" cy="310896"/>
          </a:xfrm>
          <a:prstGeom prst="ellipse">
            <a:avLst/>
          </a:prstGeom>
          <a:solidFill>
            <a:srgbClr val="E8F0FE"/>
          </a:solidFill>
          <a:ln w="5080"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26853"/>
            <a:ext cx="146304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74EA6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171907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202124"/>
                </a:solidFill>
                <a:latin typeface="Microsoft JhengHei"/>
              </a:rPr>
              <a:t>Baseline hotspot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1719072"/>
            <a:ext cx="7909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0">
                <a:solidFill>
                  <a:srgbClr val="202124"/>
                </a:solidFill>
                <a:latin typeface="Microsoft JhengHei"/>
              </a:rPr>
              <a:t>主要 hotspot 是 Q1 dequeue CAS，其次是 Q2 dequeue CAS 與 Q2 empty polling。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280065"/>
            <a:ext cx="310896" cy="310896"/>
          </a:xfrm>
          <a:prstGeom prst="ellipse">
            <a:avLst/>
          </a:prstGeom>
          <a:solidFill>
            <a:srgbClr val="E8F0FE"/>
          </a:solidFill>
          <a:ln w="5080"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330357"/>
            <a:ext cx="146304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74EA6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232257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202124"/>
                </a:solidFill>
                <a:latin typeface="Microsoft JhengHei"/>
              </a:rPr>
              <a:t>Hot counter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2322576"/>
            <a:ext cx="7909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0">
                <a:solidFill>
                  <a:srgbClr val="202124"/>
                </a:solidFill>
                <a:latin typeface="Microsoft JhengHei"/>
              </a:rPr>
              <a:t>CAS multi-counter microbenchmark 確認單一 hot counter 會限制 throughput。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2883569"/>
            <a:ext cx="310896" cy="310896"/>
          </a:xfrm>
          <a:prstGeom prst="ellipse">
            <a:avLst/>
          </a:prstGeom>
          <a:solidFill>
            <a:srgbClr val="E8F0FE"/>
          </a:solidFill>
          <a:ln w="5080"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2933861"/>
            <a:ext cx="146304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74EA6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9260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202124"/>
                </a:solidFill>
                <a:latin typeface="Microsoft JhengHei"/>
              </a:rPr>
              <a:t>Workgroup sweep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2926080"/>
            <a:ext cx="7909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0">
                <a:solidFill>
                  <a:srgbClr val="202124"/>
                </a:solidFill>
                <a:latin typeface="Microsoft JhengHei"/>
              </a:rPr>
              <a:t>降低 workgroup count 會降低 CAS fail ratio，但也會降低 parallelism。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475522"/>
            <a:ext cx="10533888" cy="53949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04672" y="3487073"/>
            <a:ext cx="310896" cy="310896"/>
          </a:xfrm>
          <a:prstGeom prst="ellipse">
            <a:avLst/>
          </a:prstGeom>
          <a:solidFill>
            <a:srgbClr val="E8F0FE"/>
          </a:solidFill>
          <a:ln w="5080"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537365"/>
            <a:ext cx="146304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74EA6"/>
                </a:solidFill>
                <a:latin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52958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202124"/>
                </a:solidFill>
                <a:latin typeface="Microsoft JhengHei"/>
              </a:rPr>
              <a:t>Q1 sharding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3529584"/>
            <a:ext cx="7909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0">
                <a:solidFill>
                  <a:srgbClr val="202124"/>
                </a:solidFill>
                <a:latin typeface="Microsoft JhengHei"/>
              </a:rPr>
              <a:t>queue-level atomic traffic 可以被分散，但還不是完整 performance fix。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262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4EA6"/>
                </a:solidFill>
                <a:latin typeface="Microsoft JhengHei"/>
              </a:rPr>
              <a:t>下週建議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19472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30" b="1">
                <a:solidFill>
                  <a:srgbClr val="174EA6"/>
                </a:solidFill>
                <a:latin typeface="Microsoft JhengHei"/>
              </a:rPr>
              <a:t>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4901184"/>
            <a:ext cx="99212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30" b="0">
                <a:solidFill>
                  <a:srgbClr val="202124"/>
                </a:solidFill>
                <a:latin typeface="Microsoft JhengHei"/>
              </a:rPr>
              <a:t>讓 Q1 sharding stealing policy 可以切換：home-only、bounded scan、full scan。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6694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30" b="1">
                <a:solidFill>
                  <a:srgbClr val="174EA6"/>
                </a:solidFill>
                <a:latin typeface="Microsoft JhengHei"/>
              </a:rPr>
              <a:t>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" y="5248656"/>
            <a:ext cx="99212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30" b="0">
                <a:solidFill>
                  <a:srgbClr val="202124"/>
                </a:solidFill>
                <a:latin typeface="Microsoft JhengHei"/>
              </a:rPr>
              <a:t>拆開 timestamp metrics 與 shader debug metrics，降低 measurement overhead。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14416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30" b="1">
                <a:solidFill>
                  <a:srgbClr val="174EA6"/>
                </a:solidFill>
                <a:latin typeface="Microsoft JhengHei"/>
              </a:rPr>
              <a:t>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" y="5596128"/>
            <a:ext cx="99212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30" b="0">
                <a:solidFill>
                  <a:srgbClr val="202124"/>
                </a:solidFill>
                <a:latin typeface="Microsoft JhengHei"/>
              </a:rPr>
              <a:t>執行 Q2-only sharding ablation study。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61888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30" b="1">
                <a:solidFill>
                  <a:srgbClr val="174EA6"/>
                </a:solidFill>
                <a:latin typeface="Microsoft JhengHei"/>
              </a:rPr>
              <a:t>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" y="5943600"/>
            <a:ext cx="99212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30" b="0">
                <a:solidFill>
                  <a:srgbClr val="202124"/>
                </a:solidFill>
                <a:latin typeface="Microsoft JhengHei"/>
              </a:rPr>
              <a:t>評估 vertexCount / totalProcessed 是否需要 batching 或 per-workgroup aggregation。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Microsoft JhengHei"/>
              </a:rPr>
              <a:t>Vulkan WorkGraph POC weekly report | 260504 |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1276</Words>
  <Application>Microsoft Office PowerPoint</Application>
  <PresentationFormat>寬螢幕</PresentationFormat>
  <Paragraphs>416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羅文謙</cp:lastModifiedBy>
  <cp:revision>2</cp:revision>
  <dcterms:created xsi:type="dcterms:W3CDTF">2013-01-27T09:14:16Z</dcterms:created>
  <dcterms:modified xsi:type="dcterms:W3CDTF">2026-05-04T12:30:43Z</dcterms:modified>
  <cp:category/>
</cp:coreProperties>
</file>