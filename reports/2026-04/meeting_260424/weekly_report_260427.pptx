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2C3333"/>
          </a:solidFill>
          <a:ln w="12700">
            <a:solidFill>
              <a:srgbClr val="2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2971800" cy="114300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 UI"/>
              </a:rPr>
              <a:t>Weekly Report
260427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874519"/>
            <a:ext cx="2788920" cy="68580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400" b="0">
                <a:solidFill>
                  <a:srgbClr val="DCE5DD"/>
                </a:solidFill>
                <a:latin typeface="Microsoft JhengHei"/>
              </a:rPr>
              <a:t>Vulkan WorkGraph POC
persistent-thread scheduling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2880360"/>
            <a:ext cx="1508760" cy="292608"/>
          </a:xfrm>
          <a:prstGeom prst="roundRect">
            <a:avLst/>
          </a:prstGeom>
          <a:solidFill>
            <a:srgbClr val="0E8178"/>
          </a:solidFill>
          <a:ln w="12700">
            <a:solidFill>
              <a:srgbClr val="0E8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Research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383280"/>
            <a:ext cx="2788920" cy="123444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350" b="0">
                <a:solidFill>
                  <a:srgbClr val="F3F1E8"/>
                </a:solidFill>
                <a:latin typeface="Microsoft JhengHei"/>
              </a:rPr>
              <a:t>本週焦點從「單一 queue / atomic 寫法」收斂到「GPU-side scheduling system」：payload passing、dispatching、queue policy、cache locality 要一起看。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5532120"/>
            <a:ext cx="2743200" cy="50292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250" b="1">
                <a:solidFill>
                  <a:srgbClr val="D9A441"/>
                </a:solidFill>
                <a:latin typeface="Microsoft JhengHei UI"/>
              </a:rPr>
              <a:t>一句話：用 software 做到盡可能快，找出 producer-consumer 的真正瓶頸。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594360"/>
            <a:ext cx="2286000" cy="32004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2300" b="1">
                <a:solidFill>
                  <a:srgbClr val="1F2626"/>
                </a:solidFill>
                <a:latin typeface="Microsoft JhengHei UI"/>
              </a:rPr>
              <a:t>本週狀態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143000"/>
            <a:ext cx="2331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143000"/>
            <a:ext cx="73152" cy="1417320"/>
          </a:xfrm>
          <a:prstGeom prst="rect">
            <a:avLst/>
          </a:prstGeom>
          <a:solidFill>
            <a:srgbClr val="0E8178"/>
          </a:solidFill>
          <a:ln w="12700">
            <a:solidFill>
              <a:srgbClr val="0E8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307592"/>
            <a:ext cx="1920239" cy="3200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500" b="1">
                <a:solidFill>
                  <a:srgbClr val="1F2626"/>
                </a:solidFill>
                <a:latin typeface="Microsoft JhengHei UI"/>
              </a:rPr>
              <a:t>Baseline 可運作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09928"/>
            <a:ext cx="1920239" cy="7315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50" b="0">
                <a:solidFill>
                  <a:srgbClr val="65706A"/>
                </a:solidFill>
                <a:latin typeface="Microsoft JhengHei"/>
              </a:rPr>
              <a:t>Koch snowflake POC 仍作為 deterministic baseline：GPU reset -&gt; compute dispatch -&gt; barrier -&gt; render。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20" y="1143000"/>
            <a:ext cx="2331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03720" y="1143000"/>
            <a:ext cx="73152" cy="1417320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1307592"/>
            <a:ext cx="1920239" cy="3200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500" b="1">
                <a:solidFill>
                  <a:srgbClr val="1F2626"/>
                </a:solidFill>
                <a:latin typeface="Microsoft JhengHei UI"/>
              </a:rPr>
              <a:t>問題重新定義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709928"/>
            <a:ext cx="1920239" cy="7315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50" b="0">
                <a:solidFill>
                  <a:srgbClr val="65706A"/>
                </a:solidFill>
                <a:latin typeface="Microsoft JhengHei"/>
              </a:rPr>
              <a:t>效能差距不只是 shader 邏輯，而是 scheduling、payload visibility、queue contention 與 memory traffic 的總和。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64040" y="1143000"/>
            <a:ext cx="2240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64040" y="1143000"/>
            <a:ext cx="73152" cy="1417320"/>
          </a:xfrm>
          <a:prstGeom prst="rect">
            <a:avLst/>
          </a:prstGeom>
          <a:solidFill>
            <a:srgbClr val="B45C4A"/>
          </a:solidFill>
          <a:ln w="12700">
            <a:solidFill>
              <a:srgbClr val="B4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1307592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500" b="1">
                <a:solidFill>
                  <a:srgbClr val="1F2626"/>
                </a:solidFill>
                <a:latin typeface="Microsoft JhengHei UI"/>
              </a:rPr>
              <a:t>研究定位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1709928"/>
            <a:ext cx="1828800" cy="73152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250" b="0">
                <a:solidFill>
                  <a:srgbClr val="65706A"/>
                </a:solidFill>
                <a:latin typeface="Microsoft JhengHei"/>
              </a:rPr>
              <a:t>Software producer-consumer 做到盡可能快；用 metrics/profiling 找瓶頸，給出 optimization 方向。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063240"/>
            <a:ext cx="2103120" cy="27432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500" b="1">
                <a:solidFill>
                  <a:srgbClr val="1F2626"/>
                </a:solidFill>
                <a:latin typeface="Microsoft JhengHei UI"/>
              </a:rPr>
              <a:t>目前 frame path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703320"/>
            <a:ext cx="1078992" cy="621792"/>
          </a:xfrm>
          <a:prstGeom prst="roundRect">
            <a:avLst/>
          </a:prstGeom>
          <a:solidFill>
            <a:srgbClr val="0E8178"/>
          </a:solidFill>
          <a:ln w="12700">
            <a:solidFill>
              <a:srgbClr val="0E8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9976" y="3867912"/>
            <a:ext cx="1005840" cy="20116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JhengHei"/>
              </a:rPr>
              <a:t>Reset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40680" y="4014215"/>
            <a:ext cx="256032" cy="0"/>
          </a:xfrm>
          <a:prstGeom prst="line">
            <a:avLst/>
          </a:prstGeom>
          <a:ln w="19050">
            <a:solidFill>
              <a:srgbClr val="A9A3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760720" y="3703320"/>
            <a:ext cx="1078992" cy="621792"/>
          </a:xfrm>
          <a:prstGeom prst="roundRect">
            <a:avLst/>
          </a:prstGeom>
          <a:solidFill>
            <a:srgbClr val="D9A441"/>
          </a:solidFill>
          <a:ln w="12700"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97296" y="3867912"/>
            <a:ext cx="1005840" cy="20116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JhengHei"/>
              </a:rPr>
              <a:t>Queue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0" y="4014215"/>
            <a:ext cx="256031" cy="0"/>
          </a:xfrm>
          <a:prstGeom prst="line">
            <a:avLst/>
          </a:prstGeom>
          <a:ln w="19050">
            <a:solidFill>
              <a:srgbClr val="A9A3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178040" y="3703320"/>
            <a:ext cx="1078992" cy="621792"/>
          </a:xfrm>
          <a:prstGeom prst="roundRect">
            <a:avLst/>
          </a:prstGeom>
          <a:solidFill>
            <a:srgbClr val="0E8178"/>
          </a:solidFill>
          <a:ln w="12700">
            <a:solidFill>
              <a:srgbClr val="0E8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14616" y="3867912"/>
            <a:ext cx="1005840" cy="20116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JhengHei"/>
              </a:rPr>
              <a:t>Dispatch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75319" y="4014215"/>
            <a:ext cx="256033" cy="0"/>
          </a:xfrm>
          <a:prstGeom prst="line">
            <a:avLst/>
          </a:prstGeom>
          <a:ln w="19050">
            <a:solidFill>
              <a:srgbClr val="A9A3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595360" y="3703320"/>
            <a:ext cx="1078992" cy="621792"/>
          </a:xfrm>
          <a:prstGeom prst="roundRect">
            <a:avLst/>
          </a:prstGeom>
          <a:solidFill>
            <a:srgbClr val="B45C4A"/>
          </a:solidFill>
          <a:ln w="12700">
            <a:solidFill>
              <a:srgbClr val="B4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31936" y="3867912"/>
            <a:ext cx="1005840" cy="20116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JhengHei"/>
              </a:rPr>
              <a:t>Output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92640" y="4014215"/>
            <a:ext cx="256032" cy="0"/>
          </a:xfrm>
          <a:prstGeom prst="line">
            <a:avLst/>
          </a:prstGeom>
          <a:ln w="19050">
            <a:solidFill>
              <a:srgbClr val="A9A3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012680" y="3703320"/>
            <a:ext cx="1078992" cy="621792"/>
          </a:xfrm>
          <a:prstGeom prst="roundRect">
            <a:avLst/>
          </a:prstGeom>
          <a:solidFill>
            <a:srgbClr val="2C3333"/>
          </a:solidFill>
          <a:ln w="12700">
            <a:solidFill>
              <a:srgbClr val="2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49255" y="3867912"/>
            <a:ext cx="1005840" cy="201168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JhengHei"/>
              </a:rPr>
              <a:t>Render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4800600"/>
            <a:ext cx="7269480" cy="868680"/>
          </a:xfrm>
          <a:prstGeom prst="rect">
            <a:avLst/>
          </a:prstGeom>
          <a:solidFill>
            <a:srgbClr val="ECE8DC"/>
          </a:solidFill>
          <a:ln w="12700">
            <a:solidFill>
              <a:srgbClr val="E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5020056"/>
            <a:ext cx="6812280" cy="347472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1300" b="0">
                <a:solidFill>
                  <a:srgbClr val="1F2626"/>
                </a:solidFill>
                <a:latin typeface="Microsoft JhengHei"/>
              </a:rPr>
              <a:t>觀察重點：每個 phase 的 GPU 時間、queue occupancy、CAS failure、spin/retry、payload bytes、output allocation 粒度。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486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50" b="0">
                <a:solidFill>
                  <a:srgbClr val="8A8F87"/>
                </a:solidFill>
                <a:latin typeface="Microsoft JhengHei"/>
              </a:rPr>
              <a:t>Vulkan WorkGraph POC | Weekly Report 260427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943600" cy="438912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2500" b="1">
                <a:solidFill>
                  <a:srgbClr val="1F2626"/>
                </a:solidFill>
                <a:latin typeface="Microsoft JhengHei UI"/>
              </a:rPr>
              <a:t>研究方向：兩條線一起走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9875520" cy="329184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300" b="0">
                <a:solidFill>
                  <a:srgbClr val="65706A"/>
                </a:solidFill>
                <a:latin typeface="Microsoft JhengHei"/>
              </a:rPr>
              <a:t>Metrics loop 提供證據；目標是讓 MTK 知道 mobile producer-consumer 的瓶頸與優化方向。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480060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10512"/>
            <a:ext cx="4206240" cy="292608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600" b="1">
                <a:solidFill>
                  <a:srgbClr val="1F2626"/>
                </a:solidFill>
                <a:latin typeface="Microsoft JhengHei UI"/>
              </a:rPr>
              <a:t>A. Characterization / Optimization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" y="2377440"/>
            <a:ext cx="438912" cy="274320"/>
          </a:xfrm>
          <a:prstGeom prst="roundRect">
            <a:avLst/>
          </a:prstGeom>
          <a:solidFill>
            <a:srgbClr val="075A55"/>
          </a:solidFill>
          <a:ln w="12700">
            <a:solidFill>
              <a:srgbClr val="075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2359152"/>
            <a:ext cx="3383280" cy="22860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350" b="1">
                <a:solidFill>
                  <a:srgbClr val="1F2626"/>
                </a:solidFill>
                <a:latin typeface="Microsoft JhengHei UI"/>
              </a:rPr>
              <a:t>Instrument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2615184"/>
            <a:ext cx="3520440" cy="32004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150" b="0">
                <a:solidFill>
                  <a:srgbClr val="65706A"/>
                </a:solidFill>
                <a:latin typeface="Microsoft JhengHei"/>
              </a:rPr>
              <a:t>GPU timestamp、CAS counter、queue occupancy、spin/retry。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16152" y="2743200"/>
            <a:ext cx="0" cy="329184"/>
          </a:xfrm>
          <a:prstGeom prst="line">
            <a:avLst/>
          </a:prstGeom>
          <a:ln w="19050">
            <a:solidFill>
              <a:srgbClr val="B9B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87552" y="3182112"/>
            <a:ext cx="438912" cy="274320"/>
          </a:xfrm>
          <a:prstGeom prst="roundRect">
            <a:avLst/>
          </a:prstGeom>
          <a:solidFill>
            <a:srgbClr val="075A55"/>
          </a:solidFill>
          <a:ln w="12700">
            <a:solidFill>
              <a:srgbClr val="075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3163824"/>
            <a:ext cx="3383280" cy="22860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350" b="1">
                <a:solidFill>
                  <a:srgbClr val="1F2626"/>
                </a:solidFill>
                <a:latin typeface="Microsoft JhengHei UI"/>
              </a:rPr>
              <a:t>Identify bottleneck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419856"/>
            <a:ext cx="3520440" cy="32004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150" b="0">
                <a:solidFill>
                  <a:srgbClr val="65706A"/>
                </a:solidFill>
                <a:latin typeface="Microsoft JhengHei"/>
              </a:rPr>
              <a:t>把 dispatch、atomic、payload traffic、output write 拆開。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16152" y="3547872"/>
            <a:ext cx="0" cy="329184"/>
          </a:xfrm>
          <a:prstGeom prst="line">
            <a:avLst/>
          </a:prstGeom>
          <a:ln w="19050">
            <a:solidFill>
              <a:srgbClr val="B9B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87552" y="3986783"/>
            <a:ext cx="438912" cy="274320"/>
          </a:xfrm>
          <a:prstGeom prst="roundRect">
            <a:avLst/>
          </a:prstGeom>
          <a:solidFill>
            <a:srgbClr val="075A55"/>
          </a:solidFill>
          <a:ln w="12700">
            <a:solidFill>
              <a:srgbClr val="075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968496"/>
            <a:ext cx="3383280" cy="22860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350" b="1">
                <a:solidFill>
                  <a:srgbClr val="1F2626"/>
                </a:solidFill>
                <a:latin typeface="Microsoft JhengHei UI"/>
              </a:rPr>
              <a:t>Add one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4224528"/>
            <a:ext cx="3520440" cy="32004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150" b="0">
                <a:solidFill>
                  <a:srgbClr val="65706A"/>
                </a:solidFill>
                <a:latin typeface="Microsoft JhengHei"/>
              </a:rPr>
              <a:t>一次只驗證一個假設：batch reservation、LDS queue、role switching。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16152" y="4352544"/>
            <a:ext cx="0" cy="329184"/>
          </a:xfrm>
          <a:prstGeom prst="line">
            <a:avLst/>
          </a:prstGeom>
          <a:ln w="19050">
            <a:solidFill>
              <a:srgbClr val="B9B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87552" y="4791455"/>
            <a:ext cx="438912" cy="274320"/>
          </a:xfrm>
          <a:prstGeom prst="roundRect">
            <a:avLst/>
          </a:prstGeom>
          <a:solidFill>
            <a:srgbClr val="075A55"/>
          </a:solidFill>
          <a:ln w="12700">
            <a:solidFill>
              <a:srgbClr val="075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773168"/>
            <a:ext cx="3383280" cy="22860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350" b="1">
                <a:solidFill>
                  <a:srgbClr val="1F2626"/>
                </a:solidFill>
                <a:latin typeface="Microsoft JhengHei UI"/>
              </a:rPr>
              <a:t>Re-measure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5029200"/>
            <a:ext cx="3520440" cy="32004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150" b="0">
                <a:solidFill>
                  <a:srgbClr val="65706A"/>
                </a:solidFill>
                <a:latin typeface="Microsoft JhengHei"/>
              </a:rPr>
              <a:t>保留 variant matrix，不只留下最快版本。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572768"/>
            <a:ext cx="5440680" cy="4251960"/>
          </a:xfrm>
          <a:prstGeom prst="rect">
            <a:avLst/>
          </a:prstGeom>
          <a:solidFill>
            <a:srgbClr val="2C3333"/>
          </a:solidFill>
          <a:ln w="12700">
            <a:solidFill>
              <a:srgbClr val="2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810512"/>
            <a:ext cx="4206240" cy="292608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Microsoft JhengHei UI"/>
              </a:rPr>
              <a:t>B. Architecture Direction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2395728"/>
            <a:ext cx="164592" cy="621792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8" y="2386584"/>
            <a:ext cx="1554480" cy="237744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 UI"/>
              </a:rPr>
              <a:t>Batching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3408" y="2679192"/>
            <a:ext cx="4069080" cy="347472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150" b="0">
                <a:solidFill>
                  <a:srgbClr val="DCE5DD"/>
                </a:solidFill>
                <a:latin typeface="Microsoft JhengHei"/>
              </a:rPr>
              <a:t>一個 wave/workgroup 批次 reservation，降低 per-item atomic。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3337560"/>
            <a:ext cx="164592" cy="621792"/>
          </a:xfrm>
          <a:prstGeom prst="rect">
            <a:avLst/>
          </a:prstGeom>
          <a:solidFill>
            <a:srgbClr val="0E8178"/>
          </a:solidFill>
          <a:ln w="12700">
            <a:solidFill>
              <a:srgbClr val="0E8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8" y="3328416"/>
            <a:ext cx="1554480" cy="237744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 UI"/>
              </a:rPr>
              <a:t>Locality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8" y="3621024"/>
            <a:ext cx="4069080" cy="347472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150" b="0">
                <a:solidFill>
                  <a:srgbClr val="DCE5DD"/>
                </a:solidFill>
                <a:latin typeface="Microsoft JhengHei"/>
              </a:rPr>
              <a:t>producer-consumer 先留在 workgroup/LDS，global queue 只作 spill/steal。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4279392"/>
            <a:ext cx="164592" cy="621792"/>
          </a:xfrm>
          <a:prstGeom prst="rect">
            <a:avLst/>
          </a:prstGeom>
          <a:solidFill>
            <a:srgbClr val="B45C4A"/>
          </a:solidFill>
          <a:ln w="12700">
            <a:solidFill>
              <a:srgbClr val="B4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3408" y="4270248"/>
            <a:ext cx="1554480" cy="237744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 UI"/>
              </a:rPr>
              <a:t>Scheduling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4562856"/>
            <a:ext cx="4069080" cy="347472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150" b="0">
                <a:solidFill>
                  <a:srgbClr val="DCE5DD"/>
                </a:solidFill>
                <a:latin typeface="Microsoft JhengHei"/>
              </a:rPr>
              <a:t>dispatcher/locator 根據 queue pressure 與 payload locality 動態分配角色。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5102352"/>
            <a:ext cx="4480560" cy="438912"/>
          </a:xfrm>
          <a:prstGeom prst="rect">
            <a:avLst/>
          </a:prstGeom>
          <a:solidFill>
            <a:srgbClr val="3A4444"/>
          </a:solidFill>
          <a:ln w="12700">
            <a:solidFill>
              <a:srgbClr val="3A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7104" y="5230368"/>
            <a:ext cx="4114800" cy="18288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080" b="0">
                <a:solidFill>
                  <a:srgbClr val="F7F6F1"/>
                </a:solidFill>
                <a:latin typeface="Microsoft JhengHei"/>
              </a:rPr>
              <a:t>判斷原則：optimization 必須對應到可量測瓶頸，而不是只留下最快版本。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5486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50" b="0">
                <a:solidFill>
                  <a:srgbClr val="8A8F87"/>
                </a:solidFill>
                <a:latin typeface="Microsoft JhengHei"/>
              </a:rPr>
              <a:t>Vulkan WorkGraph POC | Weekly Report 260427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4754880" cy="41148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2500" b="1">
                <a:solidFill>
                  <a:srgbClr val="1F2626"/>
                </a:solidFill>
                <a:latin typeface="Microsoft JhengHei UI"/>
              </a:rPr>
              <a:t>下週計畫 /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9052560" cy="292608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300" b="0">
                <a:solidFill>
                  <a:srgbClr val="65706A"/>
                </a:solidFill>
                <a:latin typeface="Microsoft JhengHei"/>
              </a:rPr>
              <a:t>目標是讓下一次討論有量測表、profiler evidence，以及第一個 optimization variant。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19072"/>
            <a:ext cx="23317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19072"/>
            <a:ext cx="2331720" cy="137160"/>
          </a:xfrm>
          <a:prstGeom prst="rect">
            <a:avLst/>
          </a:prstGeom>
          <a:solidFill>
            <a:srgbClr val="0E8178"/>
          </a:solidFill>
          <a:ln w="12700">
            <a:solidFill>
              <a:srgbClr val="0E8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057400"/>
            <a:ext cx="475488" cy="475488"/>
          </a:xfrm>
          <a:prstGeom prst="ellipse">
            <a:avLst/>
          </a:prstGeom>
          <a:solidFill>
            <a:srgbClr val="0E8178"/>
          </a:solidFill>
          <a:ln w="12700">
            <a:solidFill>
              <a:srgbClr val="0E8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76272"/>
            <a:ext cx="475488" cy="146304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2075688"/>
            <a:ext cx="1234440" cy="256032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400" b="1">
                <a:solidFill>
                  <a:srgbClr val="1F2626"/>
                </a:solidFill>
                <a:latin typeface="Microsoft JhengHei UI"/>
              </a:rPr>
              <a:t>Instrumentation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788920"/>
            <a:ext cx="1783080" cy="1243584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250" b="0">
                <a:solidFill>
                  <a:srgbClr val="65706A"/>
                </a:solidFill>
                <a:latin typeface="Microsoft JhengHei"/>
              </a:rPr>
              <a:t>GPU timestamp
CAS success/failure
queue occupancy
spin / retry counter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27248" y="3218688"/>
            <a:ext cx="283464" cy="0"/>
          </a:xfrm>
          <a:prstGeom prst="line">
            <a:avLst/>
          </a:prstGeom>
          <a:ln w="19050">
            <a:solidFill>
              <a:srgbClr val="B9B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520439" y="1719072"/>
            <a:ext cx="23317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39" y="1719072"/>
            <a:ext cx="2331720" cy="137160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21607" y="2057400"/>
            <a:ext cx="475488" cy="47548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607" y="2176272"/>
            <a:ext cx="475488" cy="146304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5112" y="2075688"/>
            <a:ext cx="1234440" cy="256032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400" b="1">
                <a:solidFill>
                  <a:srgbClr val="1F2626"/>
                </a:solidFill>
                <a:latin typeface="Microsoft JhengHei UI"/>
              </a:rPr>
              <a:t>Benchmark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6472" y="2788920"/>
            <a:ext cx="1783080" cy="1243584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250" b="0">
                <a:solidFill>
                  <a:srgbClr val="65706A"/>
                </a:solidFill>
                <a:latin typeface="Microsoft JhengHei"/>
              </a:rPr>
              <a:t>Koch baseline
irregular expansion sketch
固定 queue / role config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16168" y="3218688"/>
            <a:ext cx="283463" cy="0"/>
          </a:xfrm>
          <a:prstGeom prst="line">
            <a:avLst/>
          </a:prstGeom>
          <a:ln w="19050">
            <a:solidFill>
              <a:srgbClr val="B9B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309359" y="1719072"/>
            <a:ext cx="23317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1719072"/>
            <a:ext cx="2331720" cy="137160"/>
          </a:xfrm>
          <a:prstGeom prst="rect">
            <a:avLst/>
          </a:prstGeom>
          <a:solidFill>
            <a:srgbClr val="B45C4A"/>
          </a:solidFill>
          <a:ln w="12700">
            <a:solidFill>
              <a:srgbClr val="B4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10527" y="2057400"/>
            <a:ext cx="475488" cy="475488"/>
          </a:xfrm>
          <a:prstGeom prst="ellipse">
            <a:avLst/>
          </a:prstGeom>
          <a:solidFill>
            <a:srgbClr val="B45C4A"/>
          </a:solidFill>
          <a:ln w="12700">
            <a:solidFill>
              <a:srgbClr val="B4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7" y="2176272"/>
            <a:ext cx="475488" cy="146304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1" y="2075688"/>
            <a:ext cx="1234440" cy="256032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400" b="1">
                <a:solidFill>
                  <a:srgbClr val="1F2626"/>
                </a:solidFill>
                <a:latin typeface="Microsoft JhengHei UI"/>
              </a:rPr>
              <a:t>First Variant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2788920"/>
            <a:ext cx="1783080" cy="1243584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250" b="0">
                <a:solidFill>
                  <a:srgbClr val="65706A"/>
                </a:solidFill>
                <a:latin typeface="Microsoft JhengHei"/>
              </a:rPr>
              <a:t>batch reservation
group-level allocation
output atomic reduction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05088" y="3218688"/>
            <a:ext cx="283464" cy="0"/>
          </a:xfrm>
          <a:prstGeom prst="line">
            <a:avLst/>
          </a:prstGeom>
          <a:ln w="19050">
            <a:solidFill>
              <a:srgbClr val="B9B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098280" y="1719072"/>
            <a:ext cx="23317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98280" y="1719072"/>
            <a:ext cx="2331720" cy="137160"/>
          </a:xfrm>
          <a:prstGeom prst="rect">
            <a:avLst/>
          </a:prstGeom>
          <a:solidFill>
            <a:srgbClr val="2C3333"/>
          </a:solidFill>
          <a:ln w="12700">
            <a:solidFill>
              <a:srgbClr val="2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99448" y="2057400"/>
            <a:ext cx="475488" cy="475488"/>
          </a:xfrm>
          <a:prstGeom prst="ellipse">
            <a:avLst/>
          </a:prstGeom>
          <a:solidFill>
            <a:srgbClr val="2C3333"/>
          </a:solidFill>
          <a:ln w="12700">
            <a:solidFill>
              <a:srgbClr val="2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2176272"/>
            <a:ext cx="475488" cy="146304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 U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2952" y="2075688"/>
            <a:ext cx="1234440" cy="256032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400" b="1">
                <a:solidFill>
                  <a:srgbClr val="1F2626"/>
                </a:solidFill>
                <a:latin typeface="Microsoft JhengHei UI"/>
              </a:rPr>
              <a:t>Decision Packet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54311" y="2788920"/>
            <a:ext cx="1783080" cy="1243584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250" b="0">
                <a:solidFill>
                  <a:srgbClr val="65706A"/>
                </a:solidFill>
                <a:latin typeface="Microsoft JhengHei"/>
              </a:rPr>
              <a:t>表格 + captures
瓶頸歸因
下一個 architecture axis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257800"/>
            <a:ext cx="10744200" cy="713232"/>
          </a:xfrm>
          <a:prstGeom prst="rect">
            <a:avLst/>
          </a:prstGeom>
          <a:solidFill>
            <a:srgbClr val="ECE8DC"/>
          </a:solidFill>
          <a:ln w="12700">
            <a:solidFill>
              <a:srgbClr val="E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5840" y="5532120"/>
            <a:ext cx="118872" cy="118872"/>
          </a:xfrm>
          <a:prstGeom prst="ellipse">
            <a:avLst/>
          </a:prstGeom>
          <a:solidFill>
            <a:srgbClr val="0E8178"/>
          </a:solidFill>
          <a:ln w="12700">
            <a:solidFill>
              <a:srgbClr val="0E81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4440" y="5431536"/>
            <a:ext cx="1143000" cy="256032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300" b="1">
                <a:solidFill>
                  <a:srgbClr val="1F2626"/>
                </a:solidFill>
                <a:latin typeface="Microsoft JhengHei UI"/>
              </a:rPr>
              <a:t>判斷標準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449824"/>
            <a:ext cx="8183879" cy="228600"/>
          </a:xfrm>
          <a:prstGeom prst="rect">
            <a:avLst/>
          </a:prstGeom>
          <a:noFill/>
        </p:spPr>
        <p:txBody>
          <a:bodyPr wrap="square" lIns="0" rIns="0" tIns="18288" bIns="18288" anchor="t"/>
          <a:lstStyle/>
          <a:p>
            <a:pPr algn="l"/>
            <a:r>
              <a:rPr sz="1250" b="0">
                <a:solidFill>
                  <a:srgbClr val="1F2626"/>
                </a:solidFill>
                <a:latin typeface="Microsoft JhengHei"/>
              </a:rPr>
              <a:t>不只看 FPS；要把 runtime overhead 拆成 atomic contention、queue retry、payload traffic、role imbalance 與 output allocation。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486400" cy="228600"/>
          </a:xfrm>
          <a:prstGeom prst="rect">
            <a:avLst/>
          </a:prstGeom>
          <a:noFill/>
        </p:spPr>
        <p:txBody>
          <a:bodyPr wrap="square" lIns="45720" rIns="45720" tIns="18288" bIns="18288" anchor="t"/>
          <a:lstStyle/>
          <a:p>
            <a:pPr algn="l"/>
            <a:r>
              <a:rPr sz="950" b="0">
                <a:solidFill>
                  <a:srgbClr val="8A8F87"/>
                </a:solidFill>
                <a:latin typeface="Microsoft JhengHei"/>
              </a:rPr>
              <a:t>Vulkan WorkGraph POC | Weekly Report 260427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