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19" d="100"/>
          <a:sy n="119" d="100"/>
        </p:scale>
        <p:origin x="234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7498079" cy="384048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2400" b="1">
                <a:solidFill>
                  <a:srgbClr val="202020"/>
                </a:solidFill>
                <a:latin typeface="Microsoft JhengHei UI"/>
              </a:rPr>
              <a:t>Weekly Report 260427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9875520" cy="256032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1250" b="0">
                <a:solidFill>
                  <a:srgbClr val="606060"/>
                </a:solidFill>
                <a:latin typeface="Microsoft JhengHei"/>
              </a:rPr>
              <a:t>Vulkan WorkGraph POC / persistent-thread scheduling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207008"/>
            <a:ext cx="1083564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31520" y="1554480"/>
            <a:ext cx="5029200" cy="256032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1500" b="1">
                <a:solidFill>
                  <a:srgbClr val="202020"/>
                </a:solidFill>
                <a:latin typeface="Microsoft JhengHei UI"/>
              </a:rPr>
              <a:t>本週情況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01952"/>
            <a:ext cx="457200" cy="36576"/>
          </a:xfrm>
          <a:prstGeom prst="rect">
            <a:avLst/>
          </a:prstGeom>
          <a:solidFill>
            <a:srgbClr val="1F6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2057400"/>
            <a:ext cx="164592" cy="201168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1400" b="1">
                <a:solidFill>
                  <a:srgbClr val="1F6F68"/>
                </a:solidFill>
                <a:latin typeface="Microsoft JhengHei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2057400"/>
            <a:ext cx="10168128" cy="347472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JhengHei"/>
              </a:rPr>
              <a:t>POC 已能以 persistent compute shader 模擬 NodeA -&gt; NodeB -&gt; NodeC 的 producer-consumer flow。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553093"/>
            <a:ext cx="164592" cy="201168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1400" b="1">
                <a:solidFill>
                  <a:srgbClr val="1F6F68"/>
                </a:solidFill>
                <a:latin typeface="Microsoft JhengHei U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" y="2553093"/>
            <a:ext cx="10168128" cy="23391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lang="en-US" sz="1400">
                <a:solidFill>
                  <a:srgbClr val="202020"/>
                </a:solidFill>
                <a:latin typeface="Microsoft JhengHei"/>
              </a:rPr>
              <a:t>Pending Issue: </a:t>
            </a:r>
            <a:r>
              <a:rPr sz="1400" b="0">
                <a:solidFill>
                  <a:srgbClr val="202020"/>
                </a:solidFill>
                <a:latin typeface="Microsoft JhengHei"/>
              </a:rPr>
              <a:t>包含 payload passing、dispatching、queue policy、cache locality、termination detection。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056013"/>
            <a:ext cx="164592" cy="201168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1400" b="1">
                <a:solidFill>
                  <a:srgbClr val="1F6F68"/>
                </a:solidFill>
                <a:latin typeface="Microsoft JhengHei UI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3056013"/>
            <a:ext cx="10168128" cy="23391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JhengHei"/>
              </a:rPr>
              <a:t>目前不能只用 FPS 判斷瓶頸，需要拆出 atomic、queue、payload、role imbalance 與 output allocation 等 metrics</a:t>
            </a:r>
            <a:r>
              <a:rPr lang="zh-CN" altLang="en-US" sz="1400" b="0">
                <a:solidFill>
                  <a:srgbClr val="202020"/>
                </a:solidFill>
                <a:latin typeface="Microsoft JhengHei"/>
              </a:rPr>
              <a:t/>
            </a:r>
            <a:r>
              <a:rPr lang="zh-CN" altLang="en-US" sz="1400">
                <a:solidFill>
                  <a:srgbClr val="202020"/>
                </a:solidFill>
                <a:latin typeface="Microsoft JhengHei"/>
              </a:rPr>
              <a:t/>
            </a:r>
            <a:r>
              <a:rPr lang="en-US" altLang="zh-CN" sz="1400">
                <a:solidFill>
                  <a:srgbClr val="202020"/>
                </a:solidFill>
                <a:latin typeface="Microsoft JhengHei"/>
              </a:rPr>
              <a:t/>
            </a:r>
            <a:endParaRPr sz="1400" b="0">
              <a:solidFill>
                <a:srgbClr val="202020"/>
              </a:solidFill>
              <a:latin typeface="Microsoft JhengHei"/>
            </a:endParaRPr>
          </a:p>
        </p:txBody>
      </p:sp>
      <p:cxnSp>
        <p:nvCxnSpPr>
          <p:cNvPr id="31" name="Connector 30"/>
          <p:cNvCxnSpPr/>
          <p:nvPr/>
        </p:nvCxnSpPr>
        <p:spPr>
          <a:xfrm>
            <a:off x="640080" y="6309360"/>
            <a:ext cx="1083564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40080" y="6419088"/>
            <a:ext cx="5943600" cy="201168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950" b="0">
                <a:solidFill>
                  <a:srgbClr val="888888"/>
                </a:solidFill>
                <a:latin typeface="Microsoft JhengHei"/>
              </a:rPr>
              <a:t>Vulkan WorkGraph POC weekly report | 260427 |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7498079" cy="384048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2400" b="1">
                <a:solidFill>
                  <a:srgbClr val="202020"/>
                </a:solidFill>
                <a:latin typeface="Microsoft JhengHei UI"/>
              </a:rPr>
              <a:t>研究方向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9875520" cy="210827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1250" b="0">
                <a:solidFill>
                  <a:srgbClr val="606060"/>
                </a:solidFill>
                <a:latin typeface="Microsoft JhengHei"/>
              </a:rPr>
              <a:t>metrics/profiling loop 提供證據，optimization 從 producer-consumer 瓶頸推導。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207008"/>
            <a:ext cx="1083564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31520" y="1572768"/>
            <a:ext cx="5120640" cy="256032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1500" b="1">
                <a:solidFill>
                  <a:srgbClr val="202020"/>
                </a:solidFill>
                <a:latin typeface="Microsoft JhengHei UI"/>
              </a:rPr>
              <a:t>A. Metrics / Profiling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20240"/>
            <a:ext cx="457200" cy="36576"/>
          </a:xfrm>
          <a:prstGeom prst="rect">
            <a:avLst/>
          </a:prstGeom>
          <a:solidFill>
            <a:srgbClr val="1F6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2057400"/>
            <a:ext cx="164592" cy="201168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1320" b="1">
                <a:solidFill>
                  <a:srgbClr val="1F6F68"/>
                </a:solidFill>
                <a:latin typeface="Microsoft JhengHei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2057400"/>
            <a:ext cx="4681728" cy="221599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1320" b="0">
                <a:solidFill>
                  <a:srgbClr val="202020"/>
                </a:solidFill>
                <a:latin typeface="Microsoft JhengHei"/>
              </a:rPr>
              <a:t>先建立 baseline，不急著混入多個 optimization。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87752"/>
            <a:ext cx="164592" cy="201168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1320" b="1">
                <a:solidFill>
                  <a:srgbClr val="1F6F68"/>
                </a:solidFill>
                <a:latin typeface="Microsoft JhengHei U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587752"/>
            <a:ext cx="4681728" cy="347472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1320" b="0">
                <a:solidFill>
                  <a:srgbClr val="202020"/>
                </a:solidFill>
                <a:latin typeface="Microsoft JhengHei"/>
              </a:rPr>
              <a:t>補 GPU timestamp、CAS success/failure、queue occupancy、spin/retry counter。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18104"/>
            <a:ext cx="164592" cy="201168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1320" b="1">
                <a:solidFill>
                  <a:srgbClr val="1F6F68"/>
                </a:solidFill>
                <a:latin typeface="Microsoft JhengHei U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" y="3118104"/>
            <a:ext cx="4681728" cy="221599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1320" b="0">
                <a:solidFill>
                  <a:srgbClr val="202020"/>
                </a:solidFill>
                <a:latin typeface="Microsoft JhengHei"/>
              </a:rPr>
              <a:t>每次只驗證一個假設：例如 batch reservation 或 local queue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1572768"/>
            <a:ext cx="5120640" cy="256032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1500" b="1">
                <a:solidFill>
                  <a:srgbClr val="202020"/>
                </a:solidFill>
                <a:latin typeface="Microsoft JhengHei UI"/>
              </a:rPr>
              <a:t>B. Architecture Exploration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46520" y="1920240"/>
            <a:ext cx="457200" cy="36576"/>
          </a:xfrm>
          <a:prstGeom prst="rect">
            <a:avLst/>
          </a:prstGeom>
          <a:solidFill>
            <a:srgbClr val="1F6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37960" y="2057400"/>
            <a:ext cx="164592" cy="201168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1320" b="1">
                <a:solidFill>
                  <a:srgbClr val="1F6F68"/>
                </a:solidFill>
                <a:latin typeface="Microsoft JhengHei UI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93992" y="2057400"/>
            <a:ext cx="4590288" cy="347472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1320" b="0">
                <a:solidFill>
                  <a:srgbClr val="202020"/>
                </a:solidFill>
                <a:latin typeface="Microsoft JhengHei"/>
              </a:rPr>
              <a:t>若瓶頸是 atomic contention：研究 batch / hierarchical queue。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2587752"/>
            <a:ext cx="164592" cy="201168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1320" b="1">
                <a:solidFill>
                  <a:srgbClr val="1F6F68"/>
                </a:solidFill>
                <a:latin typeface="Microsoft JhengHei UI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93992" y="2587752"/>
            <a:ext cx="4590288" cy="347472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1320" b="0">
                <a:solidFill>
                  <a:srgbClr val="202020"/>
                </a:solidFill>
                <a:latin typeface="Microsoft JhengHei"/>
              </a:rPr>
              <a:t>若瓶頸是 payload traffic：研究 locality、payload compaction、producer-consumer affinity。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3118104"/>
            <a:ext cx="164592" cy="201168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1320" b="1">
                <a:solidFill>
                  <a:srgbClr val="1F6F68"/>
                </a:solidFill>
                <a:latin typeface="Microsoft JhengHei UI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93992" y="3118104"/>
            <a:ext cx="4590288" cy="347472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1320" b="0">
                <a:solidFill>
                  <a:srgbClr val="202020"/>
                </a:solidFill>
                <a:latin typeface="Microsoft JhengHei"/>
              </a:rPr>
              <a:t>若瓶頸是 output allocation：研究 group-level allocation 與 coalesced write。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3648456"/>
            <a:ext cx="164592" cy="201168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1320" b="1">
                <a:solidFill>
                  <a:srgbClr val="1F6F68"/>
                </a:solidFill>
                <a:latin typeface="Microsoft JhengHei UI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93992" y="3648456"/>
            <a:ext cx="4590288" cy="221599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1320" b="0">
                <a:solidFill>
                  <a:srgbClr val="202020"/>
                </a:solidFill>
                <a:latin typeface="Microsoft JhengHei"/>
              </a:rPr>
              <a:t>設計應由量測結果決定。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148072"/>
            <a:ext cx="10744200" cy="630936"/>
          </a:xfrm>
          <a:prstGeom prst="rect">
            <a:avLst/>
          </a:prstGeom>
          <a:solidFill>
            <a:srgbClr val="F4F4F4"/>
          </a:solidFill>
          <a:ln w="1270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60120" y="5266944"/>
            <a:ext cx="10149840" cy="403187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1250" b="0">
                <a:solidFill>
                  <a:srgbClr val="202020"/>
                </a:solidFill>
                <a:latin typeface="Microsoft JhengHei"/>
              </a:rPr>
              <a:t>研究定位：software producer-consumer 做到盡可能快；用 metrics/profiling 找瓶頸，給 MTK mobile 優化方向。</a:t>
            </a:r>
            <a:r>
              <a:rPr lang="zh-TW" altLang="en-US" sz="1250" b="0">
                <a:solidFill>
                  <a:srgbClr val="202020"/>
                </a:solidFill>
                <a:latin typeface="Microsoft JhengHei"/>
              </a:rPr>
              <a:t/>
            </a:r>
            <a:r>
              <a:rPr sz="1250" b="0">
                <a:solidFill>
                  <a:srgbClr val="202020"/>
                </a:solidFill>
                <a:latin typeface="Microsoft JhengHei"/>
              </a:rPr>
              <a:t/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40080" y="6309360"/>
            <a:ext cx="1083564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40080" y="6419088"/>
            <a:ext cx="5943600" cy="201168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950" b="0">
                <a:solidFill>
                  <a:srgbClr val="888888"/>
                </a:solidFill>
                <a:latin typeface="Microsoft JhengHei"/>
              </a:rPr>
              <a:t>Vulkan WorkGraph POC weekly report | 260427 |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7498079" cy="384048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2400" b="1">
                <a:solidFill>
                  <a:srgbClr val="202020"/>
                </a:solidFill>
                <a:latin typeface="Microsoft JhengHei UI"/>
              </a:rPr>
              <a:t>下週計畫 / Deliverables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9875520" cy="256032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1250" b="0">
                <a:solidFill>
                  <a:srgbClr val="606060"/>
                </a:solidFill>
                <a:latin typeface="Microsoft JhengHei"/>
              </a:rPr>
              <a:t>目標是讓下一次討論有量測表、profiler evidence，以及第一個 optimization variant。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207008"/>
            <a:ext cx="1083564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68680" y="1591056"/>
            <a:ext cx="320040" cy="219456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ctr"/>
            <a:r>
              <a:rPr sz="1300" b="1">
                <a:solidFill>
                  <a:srgbClr val="1F6F68"/>
                </a:solidFill>
                <a:latin typeface="Microsoft JhengHei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572768"/>
            <a:ext cx="2148840" cy="256032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1350" b="1">
                <a:solidFill>
                  <a:srgbClr val="202020"/>
                </a:solidFill>
                <a:latin typeface="Microsoft JhengHei UI"/>
              </a:rPr>
              <a:t>Instrumentation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572768"/>
            <a:ext cx="7315200" cy="310896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1300" b="0">
                <a:solidFill>
                  <a:srgbClr val="606060"/>
                </a:solidFill>
                <a:latin typeface="Microsoft JhengHei"/>
              </a:rPr>
              <a:t>加入 GPU timestamp、CAS counter、queue occupancy、spin/retry counter。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0080" y="2011680"/>
            <a:ext cx="1083564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68680" y="2304288"/>
            <a:ext cx="320040" cy="219456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ctr"/>
            <a:r>
              <a:rPr sz="1300" b="1">
                <a:solidFill>
                  <a:srgbClr val="1F6F68"/>
                </a:solidFill>
                <a:latin typeface="Microsoft JhengHei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286000"/>
            <a:ext cx="7315200" cy="418576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lang="zh-CN" altLang="en-US" sz="1300">
                <a:solidFill>
                  <a:srgbClr val="606060"/>
                </a:solidFill>
                <a:latin typeface="Microsoft JhengHei"/>
              </a:rPr>
              <a:t>規劃各種 </a:t>
            </a:r>
            <a:r>
              <a:rPr lang="en-US" altLang="zh-CN" sz="1300">
                <a:solidFill>
                  <a:srgbClr val="606060"/>
                </a:solidFill>
                <a:latin typeface="Microsoft JhengHei"/>
              </a:rPr>
              <a:t>testcase </a:t>
            </a:r>
            <a:r>
              <a:rPr lang="zh-CN" altLang="en-US" sz="1300">
                <a:solidFill>
                  <a:srgbClr val="606060"/>
                </a:solidFill>
                <a:latin typeface="Microsoft JhengHei"/>
              </a:rPr>
              <a:t>來建立 </a:t>
            </a:r>
            <a:r>
              <a:rPr lang="en-US" altLang="zh-CN" sz="1300">
                <a:solidFill>
                  <a:srgbClr val="606060"/>
                </a:solidFill>
                <a:latin typeface="Microsoft JhengHei"/>
              </a:rPr>
              <a:t>baseline</a:t>
            </a:r>
            <a:r>
              <a:rPr lang="zh-CN" altLang="en-US" sz="1300">
                <a:solidFill>
                  <a:srgbClr val="606060"/>
                </a:solidFill>
                <a:latin typeface="Microsoft JhengHei"/>
              </a:rPr>
              <a:t>：</a:t>
            </a:r>
            <a:r>
              <a:rPr lang="en-US" altLang="zh-CN" sz="1300">
                <a:solidFill>
                  <a:srgbClr val="606060"/>
                </a:solidFill>
                <a:latin typeface="Microsoft JhengHei"/>
              </a:rPr>
              <a:t>atomic contention</a:t>
            </a:r>
            <a:r>
              <a:rPr lang="zh-CN" altLang="en-US" sz="1300">
                <a:solidFill>
                  <a:srgbClr val="606060"/>
                </a:solidFill>
                <a:latin typeface="Microsoft JhengHei"/>
              </a:rPr>
              <a:t>、</a:t>
            </a:r>
            <a:r>
              <a:rPr lang="en-US" altLang="zh-CN" sz="1300">
                <a:solidFill>
                  <a:srgbClr val="606060"/>
                </a:solidFill>
                <a:latin typeface="Microsoft JhengHei"/>
              </a:rPr>
              <a:t>queue retry</a:t>
            </a:r>
            <a:r>
              <a:rPr lang="zh-CN" altLang="en-US" sz="1300">
                <a:solidFill>
                  <a:srgbClr val="606060"/>
                </a:solidFill>
                <a:latin typeface="Microsoft JhengHei"/>
              </a:rPr>
              <a:t>、</a:t>
            </a:r>
            <a:r>
              <a:rPr lang="en-US" altLang="zh-CN" sz="1300">
                <a:solidFill>
                  <a:srgbClr val="606060"/>
                </a:solidFill>
                <a:latin typeface="Microsoft JhengHei"/>
              </a:rPr>
              <a:t>payload traffic</a:t>
            </a:r>
            <a:r>
              <a:rPr lang="zh-CN" altLang="en-US" sz="1300">
                <a:solidFill>
                  <a:srgbClr val="606060"/>
                </a:solidFill>
                <a:latin typeface="Microsoft JhengHei"/>
              </a:rPr>
              <a:t>、</a:t>
            </a:r>
            <a:r>
              <a:rPr lang="en-US" altLang="zh-CN" sz="1300">
                <a:solidFill>
                  <a:srgbClr val="606060"/>
                </a:solidFill>
                <a:latin typeface="Microsoft JhengHei"/>
              </a:rPr>
              <a:t>role imbalance</a:t>
            </a:r>
            <a:r>
              <a:rPr lang="zh-CN" altLang="en-US" sz="1300">
                <a:solidFill>
                  <a:srgbClr val="606060"/>
                </a:solidFill>
                <a:latin typeface="Microsoft JhengHei"/>
              </a:rPr>
              <a:t>、</a:t>
            </a:r>
            <a:r>
              <a:rPr lang="en-US" altLang="zh-CN" sz="1300">
                <a:solidFill>
                  <a:srgbClr val="606060"/>
                </a:solidFill>
                <a:latin typeface="Microsoft JhengHei"/>
              </a:rPr>
              <a:t>output allocation</a:t>
            </a:r>
            <a:endParaRPr sz="1300" b="0">
              <a:solidFill>
                <a:srgbClr val="606060"/>
              </a:solidFill>
              <a:latin typeface="Microsoft JhengHei"/>
            </a:endParaRPr>
          </a:p>
        </p:txBody>
      </p:sp>
      <p:cxnSp>
        <p:nvCxnSpPr>
          <p:cNvPr id="12" name="Connector 11"/>
          <p:cNvCxnSpPr/>
          <p:nvPr/>
        </p:nvCxnSpPr>
        <p:spPr>
          <a:xfrm>
            <a:off x="640080" y="2821165"/>
            <a:ext cx="1083564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8680" y="3017520"/>
            <a:ext cx="320040" cy="219456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ctr"/>
            <a:r>
              <a:rPr sz="1300" b="1">
                <a:solidFill>
                  <a:srgbClr val="1F6F68"/>
                </a:solidFill>
                <a:latin typeface="Microsoft JhengHei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3312" y="2999232"/>
            <a:ext cx="2148840" cy="226216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1350" b="1">
                <a:solidFill>
                  <a:srgbClr val="202020"/>
                </a:solidFill>
                <a:latin typeface="Microsoft JhengHei UI"/>
              </a:rPr>
              <a:t>First Variant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2999232"/>
            <a:ext cx="7315200" cy="218521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lang="en-US" sz="1300" b="0">
                <a:solidFill>
                  <a:srgbClr val="606060"/>
                </a:solidFill>
                <a:latin typeface="Microsoft JhengHei"/>
              </a:rPr>
              <a:t>e.g. </a:t>
            </a:r>
            <a:r>
              <a:rPr sz="1300" b="0">
                <a:solidFill>
                  <a:srgbClr val="606060"/>
                </a:solidFill>
                <a:latin typeface="Microsoft JhengHei"/>
              </a:rPr>
              <a:t>實作 batch reservation 或 group-level allocation，先降低 per-task atomic。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0080" y="3438144"/>
            <a:ext cx="1083564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68680" y="3730752"/>
            <a:ext cx="320040" cy="219456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ctr"/>
            <a:r>
              <a:rPr sz="1300" b="1">
                <a:solidFill>
                  <a:srgbClr val="1F6F68"/>
                </a:solidFill>
                <a:latin typeface="Microsoft JhengHei U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53312" y="3712464"/>
            <a:ext cx="2148840" cy="256032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1350" b="1">
                <a:solidFill>
                  <a:srgbClr val="202020"/>
                </a:solidFill>
                <a:latin typeface="Microsoft JhengHei UI"/>
              </a:rPr>
              <a:t>Decision Packet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3712464"/>
            <a:ext cx="7315200" cy="218521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1300" b="0">
                <a:solidFill>
                  <a:srgbClr val="606060"/>
                </a:solidFill>
                <a:latin typeface="Microsoft JhengHei"/>
              </a:rPr>
              <a:t>profiler 歸因主要瓶頸，決定下一個 </a:t>
            </a:r>
            <a:r>
              <a:rPr lang="en-US" sz="1300" b="0">
                <a:solidFill>
                  <a:srgbClr val="606060"/>
                </a:solidFill>
                <a:latin typeface="Microsoft JhengHei"/>
              </a:rPr>
              <a:t>optimization</a:t>
            </a:r>
            <a:endParaRPr sz="1300" b="0">
              <a:solidFill>
                <a:srgbClr val="606060"/>
              </a:solidFill>
              <a:latin typeface="Microsoft JhengHei"/>
            </a:endParaRPr>
          </a:p>
        </p:txBody>
      </p:sp>
      <p:cxnSp>
        <p:nvCxnSpPr>
          <p:cNvPr id="20" name="Connector 19"/>
          <p:cNvCxnSpPr/>
          <p:nvPr/>
        </p:nvCxnSpPr>
        <p:spPr>
          <a:xfrm>
            <a:off x="640080" y="4151376"/>
            <a:ext cx="1083564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40080" y="6309360"/>
            <a:ext cx="1083564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40080" y="6419088"/>
            <a:ext cx="5943600" cy="201168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950" b="0">
                <a:solidFill>
                  <a:srgbClr val="888888"/>
                </a:solidFill>
                <a:latin typeface="Microsoft JhengHei"/>
              </a:rPr>
              <a:t>Vulkan WorkGraph POC weekly report | 260427 | 3</a:t>
            </a:r>
          </a:p>
        </p:txBody>
      </p:sp>
      <p:sp>
        <p:nvSpPr>
          <p:cNvPr id="29" name="TextBox 5">
            <a:extLst>
              <a:ext uri="{FF2B5EF4-FFF2-40B4-BE49-F238E27FC236}">
                <a16:creationId xmlns:a16="http://schemas.microsoft.com/office/drawing/2014/main" id="{027E9C1E-E95E-4420-99AE-9C078E1C0FC8}"/>
              </a:ext>
            </a:extLst>
          </p:cNvPr>
          <p:cNvSpPr txBox="1"/>
          <p:nvPr/>
        </p:nvSpPr>
        <p:spPr>
          <a:xfrm>
            <a:off x="1348740" y="2270622"/>
            <a:ext cx="2148840" cy="226216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lang="en-US" sz="1350" b="1">
                <a:solidFill>
                  <a:srgbClr val="202020"/>
                </a:solidFill>
                <a:latin typeface="Microsoft JhengHei UI"/>
              </a:rPr>
              <a:t>Baseline Evaluation</a:t>
            </a:r>
            <a:endParaRPr sz="1350" b="1">
              <a:solidFill>
                <a:srgbClr val="202020"/>
              </a:solidFill>
              <a:latin typeface="Microsoft JhengHei U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277</Words>
  <Application>Microsoft Office PowerPoint</Application>
  <PresentationFormat>寬螢幕</PresentationFormat>
  <Paragraphs>45</Paragraphs>
  <Slides>3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</vt:i4>
      </vt:variant>
    </vt:vector>
  </HeadingPairs>
  <TitlesOfParts>
    <vt:vector size="8" baseType="lpstr">
      <vt:lpstr>Microsoft JhengHei UI</vt:lpstr>
      <vt:lpstr>Microsoft JhengHei</vt:lpstr>
      <vt:lpstr>Arial</vt:lpstr>
      <vt:lpstr>Calibri</vt:lpstr>
      <vt:lpstr>Office Theme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subject/>
  <dc:creator/>
  <cp:keywords/>
  <dc:description>generated using python-pptx</dc:description>
  <cp:lastModifiedBy>羅文謙</cp:lastModifiedBy>
  <cp:revision>3</cp:revision>
  <dcterms:created xsi:type="dcterms:W3CDTF">2013-01-27T09:14:16Z</dcterms:created>
  <dcterms:modified xsi:type="dcterms:W3CDTF">2026-04-27T10:54:50Z</dcterms:modified>
  <cp:category/>
</cp:coreProperties>
</file>