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644a1efd4ab43a7" Type="http://schemas.openxmlformats.org/officeDocument/2006/relationships/extended-properties" Target="docProps/app.xml"/><Relationship Id="R3751ee991bd84a0e" Type="http://schemas.openxmlformats.org/package/2006/relationships/metadata/core-properties" Target="docProps/core.xml"/><Relationship Id="Rd6b9b29d4f9a4f4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d2eb51a43449a"/>
  </p:sldMasterIdLst>
  <p:notesMasterIdLst>
    <p:notesMasterId xmlns:r="http://schemas.openxmlformats.org/officeDocument/2006/relationships" r:id="R488c97a7d99b4f9b"/>
  </p:notesMasterIdLst>
  <p:sldIdLst>
    <p:sldId xmlns:r="http://schemas.openxmlformats.org/officeDocument/2006/relationships" id="256" r:id="R576aa4f691024944"/>
    <p:sldId xmlns:r="http://schemas.openxmlformats.org/officeDocument/2006/relationships" id="257" r:id="R5a9870eeeb904a73"/>
    <p:sldId xmlns:r="http://schemas.openxmlformats.org/officeDocument/2006/relationships" id="258" r:id="R611c5bb93acf436d"/>
    <p:sldId xmlns:r="http://schemas.openxmlformats.org/officeDocument/2006/relationships" id="259" r:id="Rc4273811709d4e08"/>
    <p:sldId xmlns:r="http://schemas.openxmlformats.org/officeDocument/2006/relationships" id="260" r:id="R69bc448175fc4f4d"/>
    <p:sldId xmlns:r="http://schemas.openxmlformats.org/officeDocument/2006/relationships" id="261" r:id="R03e233d0f78449a5"/>
    <p:sldId xmlns:r="http://schemas.openxmlformats.org/officeDocument/2006/relationships" id="262" r:id="R6ad170ef7c954585"/>
    <p:sldId xmlns:r="http://schemas.openxmlformats.org/officeDocument/2006/relationships" id="263" r:id="Rde172af01dbe4f8b"/>
    <p:sldId xmlns:r="http://schemas.openxmlformats.org/officeDocument/2006/relationships" id="264" r:id="R608d823437a54576"/>
    <p:sldId xmlns:r="http://schemas.openxmlformats.org/officeDocument/2006/relationships" id="265" r:id="R28a7683950344066"/>
    <p:sldId xmlns:r="http://schemas.openxmlformats.org/officeDocument/2006/relationships" id="266" r:id="R14e96fa8f0df4af5"/>
    <p:sldId xmlns:r="http://schemas.openxmlformats.org/officeDocument/2006/relationships" id="267" r:id="R8e15d02d85c94ff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3e233d0f78449a5" Type="http://schemas.openxmlformats.org/officeDocument/2006/relationships/slide" Target="slides/slide6.xml"/><Relationship Id="R14e96fa8f0df4af5" Type="http://schemas.openxmlformats.org/officeDocument/2006/relationships/slide" Target="slides/slide11.xml"/><Relationship Id="R28a7683950344066" Type="http://schemas.openxmlformats.org/officeDocument/2006/relationships/slide" Target="slides/slide10.xml"/><Relationship Id="R3649f1dcf1954a63" Type="http://schemas.openxmlformats.org/officeDocument/2006/relationships/theme" Target="theme/theme1.xml"/><Relationship Id="R488c97a7d99b4f9b" Type="http://schemas.openxmlformats.org/officeDocument/2006/relationships/notesMaster" Target="notesMasters/notesMaster1.xml"/><Relationship Id="R576aa4f691024944" Type="http://schemas.openxmlformats.org/officeDocument/2006/relationships/slide" Target="slides/slide1.xml"/><Relationship Id="R5a9870eeeb904a73" Type="http://schemas.openxmlformats.org/officeDocument/2006/relationships/slide" Target="slides/slide2.xml"/><Relationship Id="R608d823437a54576" Type="http://schemas.openxmlformats.org/officeDocument/2006/relationships/slide" Target="slides/slide9.xml"/><Relationship Id="R611c5bb93acf436d" Type="http://schemas.openxmlformats.org/officeDocument/2006/relationships/slide" Target="slides/slide3.xml"/><Relationship Id="R69bc448175fc4f4d" Type="http://schemas.openxmlformats.org/officeDocument/2006/relationships/slide" Target="slides/slide5.xml"/><Relationship Id="R6ad170ef7c954585" Type="http://schemas.openxmlformats.org/officeDocument/2006/relationships/slide" Target="slides/slide7.xml"/><Relationship Id="R6d0be18fffbe497a" Type="http://schemas.openxmlformats.org/officeDocument/2006/relationships/presProps" Target="presProps.xml"/><Relationship Id="R8e15d02d85c94ff0" Type="http://schemas.openxmlformats.org/officeDocument/2006/relationships/slide" Target="slides/slide12.xml"/><Relationship Id="R929d4a16ca0f47f9" Type="http://schemas.openxmlformats.org/officeDocument/2006/relationships/tableStyles" Target="tableStyles.xml"/><Relationship Id="Rc4273811709d4e08" Type="http://schemas.openxmlformats.org/officeDocument/2006/relationships/slide" Target="slides/slide4.xml"/><Relationship Id="Rcee0bb60a3bb403b" Type="http://schemas.openxmlformats.org/officeDocument/2006/relationships/viewProps" Target="viewProps.xml"/><Relationship Id="Rde172af01dbe4f8b" Type="http://schemas.openxmlformats.org/officeDocument/2006/relationships/slide" Target="slides/slide8.xml"/><Relationship Id="Rf9dd2eb51a43449a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a40d4cd15e2f4a19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3619ff2dbd5443e" Type="http://schemas.openxmlformats.org/officeDocument/2006/relationships/slide" Target="../slides/slide1.xml"/><Relationship Id="Rf9fccb5a86b34d6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249cb3d35524818" Type="http://schemas.openxmlformats.org/officeDocument/2006/relationships/notesMaster" Target="../notesMasters/notesMaster1.xml"/><Relationship Id="Rd8a2cace50f4439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7922fe0528a4b6c" Type="http://schemas.openxmlformats.org/officeDocument/2006/relationships/notesMaster" Target="../notesMasters/notesMaster1.xml"/><Relationship Id="R69c6cf3cfa2541b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dc1ef2722a7641a6" Type="http://schemas.openxmlformats.org/officeDocument/2006/relationships/notesMaster" Target="../notesMasters/notesMaster1.xml"/><Relationship Id="Ref29842a6903421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f0cb8eaea4f4d8a" Type="http://schemas.openxmlformats.org/officeDocument/2006/relationships/slide" Target="../slides/slide5.xml"/><Relationship Id="R7f0d93659102448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c1240904f5b463b" Type="http://schemas.openxmlformats.org/officeDocument/2006/relationships/slide" Target="../slides/slide6.xml"/><Relationship Id="R9451f3e5d3a046f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2b48759b0a74046" Type="http://schemas.openxmlformats.org/officeDocument/2006/relationships/slide" Target="../slides/slide7.xml"/><Relationship Id="Rbd69b273bb18415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44ef1dbb3bf4f78" Type="http://schemas.openxmlformats.org/officeDocument/2006/relationships/slide" Target="../slides/slide8.xml"/><Relationship Id="Rff4757b6bbc4445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1a9cb8bc6ef4ada" Type="http://schemas.openxmlformats.org/officeDocument/2006/relationships/slide" Target="../slides/slide9.xml"/><Relationship Id="R52657d692adf482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80133441d3249f8" Type="http://schemas.openxmlformats.org/officeDocument/2006/relationships/slide" Target="../slides/slide10.xml"/><Relationship Id="Rda446e95eb9e44c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992c1dbf2ac4fbc" Type="http://schemas.openxmlformats.org/officeDocument/2006/relationships/notesMaster" Target="../notesMasters/notesMaster1.xml"/><Relationship Id="Rb5e1538a3d434d3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d87b51dcaec42e8" Type="http://schemas.openxmlformats.org/officeDocument/2006/relationships/notesMaster" Target="../notesMasters/notesMaster1.xml"/><Relationship Id="R97bdc0bf2ac140b8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provenance and alignment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https://github.com/GPUOpen-LibrariesAndSDKs/WorkGraphPlayground</a:t>
            </a:r>
          </a:p>
          <a:p xmlns:a="http://schemas.openxmlformats.org/drawingml/2006/main">
            <a:r>
              <a:t>- C:\CGV\Projects\D3DWorkgraph\workgraph_snowflake</a:t>
            </a:r>
          </a:p>
          <a:p xmlns:a="http://schemas.openxmlformats.org/drawingml/2006/main">
            <a:r>
              <a:t>- tutorials/tutorial-4/Recursion.hlsl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 comparison data used on this slide.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- C:\CGV\Projects\D3DWorkgraph\workgraph_vulkan_poc\monthly_report_0424_profile_result.md</a:t>
            </a:r>
          </a:p>
          <a:p xmlns:a="http://schemas.openxmlformats.org/drawingml/2006/main">
            <a:r>
              <a:t>Compute duration is unavailable for pt8-96x32 and pt8-96x32-reverse-worker.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(WorkGraphPlayground)</a:t>
            </a:r>
          </a:p>
          <a:p xmlns:a="http://schemas.openxmlformats.org/drawingml/2006/main">
            <a:r>
              <a:t>Image: C:\CGV\Projects\D3DWorkgraph\workgraph_vulkan_poc\image-16.png</a:t>
            </a:r>
          </a:p>
          <a:p xmlns:a="http://schemas.openxmlformats.org/drawingml/2006/main"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- Wavefront (Vulkan Persistent Thread)</a:t>
            </a:r>
          </a:p>
          <a:p xmlns:a="http://schemas.openxmlformats.org/drawingml/2006/main">
            <a:r>
              <a:t>Image: C:\CGV\Projects\D3DWorkgraph\workgraph_vulkan_poc\image-18.png</a:t>
            </a:r>
          </a:p>
          <a:p xmlns:a="http://schemas.openxmlformats.org/drawingml/2006/main">
            <a:r>
              <a:t>Matched crop and scale, image-18.png: depth 8, 3072 group, wavefront.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0bb9523441864c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92a2bce560b43c5" Type="http://schemas.openxmlformats.org/officeDocument/2006/relationships/slideLayout" Target="../slideLayouts/slideLayout1.xml"/><Relationship Id="R9f8fb9048c2d4d7d" Type="http://schemas.openxmlformats.org/officeDocument/2006/relationships/theme" Target="../theme/theme1.xml"/><Relationship Id="Rc7c7f905353448b7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992a2bce560b43c5"/>
    <p:sldLayoutId xmlns:r="http://schemas.openxmlformats.org/officeDocument/2006/relationships" id="2147483649" r:id="Rc7c7f905353448b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4e68326b432a448f" Type="http://schemas.openxmlformats.org/officeDocument/2006/relationships/slideLayout" Target="../slideLayouts/slideLayout2.xml"/><Relationship Id="Rb5737729e9dc402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60f49dae90941f2" Type="http://schemas.openxmlformats.org/officeDocument/2006/relationships/slideLayout" Target="../slideLayouts/slideLayout2.xml"/><Relationship Id="Rb4514e9fa8e7496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6b608f45c29428c" Type="http://schemas.openxmlformats.org/officeDocument/2006/relationships/notesSlide" Target="../notesSlides/notesSlide3.xml"/><Relationship Id="Rc64603144dc04bbc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218ade3deee647f4" Type="http://schemas.openxmlformats.org/officeDocument/2006/relationships/notesSlide" Target="../notesSlides/notesSlide4.xml"/><Relationship Id="Re6eb32c68cf344ce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b2f307f495254ecc" Type="http://schemas.openxmlformats.org/officeDocument/2006/relationships/notesSlide" Target="../notesSlides/notesSlide5.xml"/><Relationship Id="Rfe374385f80e4989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6e3c7369676c46a3" Type="http://schemas.openxmlformats.org/officeDocument/2006/relationships/notesSlide" Target="../notesSlides/notesSlide6.xml"/><Relationship Id="Reaa120a892e84530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bc6901ecb19542c3" Type="http://schemas.openxmlformats.org/officeDocument/2006/relationships/notesSlide" Target="../notesSlides/notesSlide7.xml"/><Relationship Id="Rd531195a2fcb4b64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0cde5fd179274b38" Type="http://schemas.openxmlformats.org/officeDocument/2006/relationships/notesSlide" Target="../notesSlides/notesSlide8.xml"/><Relationship Id="Rd92d697f4a24405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1515321ebe2845d1" Type="http://schemas.openxmlformats.org/officeDocument/2006/relationships/slideLayout" Target="../slideLayouts/slideLayout1.xml"/><Relationship Id="R593ae5b6c9a04e11" Type="http://schemas.openxmlformats.org/officeDocument/2006/relationships/notesSlide" Target="../notesSlides/notesSlide9.xml"/><Relationship Id="Rc6d7a6dfdf2b4ac5" Type="http://schemas.openxmlformats.org/officeDocument/2006/relationships/image" Target="../media/image.png"/></Relationships>
</file>

<file path=ppt/slides/_rels/slide10.xml.rels><?xml version='1.0' encoding='UTF-8' standalone='yes'?>
<Relationships xmlns="http://schemas.openxmlformats.org/package/2006/relationships"><Relationship Id="R68c45349ab0c46ac" Type="http://schemas.openxmlformats.org/officeDocument/2006/relationships/chart" Target="charts/chart1.xml"/><Relationship Id="Rb99f68c82b6142bd" Type="http://schemas.openxmlformats.org/officeDocument/2006/relationships/slideLayout" Target="../slideLayouts/slideLayout1.xml"/><Relationship Id="Rfb5af5d7041645e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587b71d89eb46ee" Type="http://schemas.openxmlformats.org/officeDocument/2006/relationships/image" Target="../media/image2.png"/><Relationship Id="R59f046e8e2f24901" Type="http://schemas.openxmlformats.org/officeDocument/2006/relationships/notesSlide" Target="../notesSlides/notesSlide11.xml"/><Relationship Id="R5dd38779b8b44af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a6553e39ee14478" Type="http://schemas.openxmlformats.org/officeDocument/2006/relationships/image" Target="../media/image3.png"/><Relationship Id="R20f0ad28dead4f24" Type="http://schemas.openxmlformats.org/officeDocument/2006/relationships/slideLayout" Target="../slideLayouts/slideLayout1.xml"/><Relationship Id="Rd19929252d004743" Type="http://schemas.openxmlformats.org/officeDocument/2006/relationships/notesSlide" Target="../notesSlides/notesSlide12.xml"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Frame duration</c:v>
          </c:tx>
          <c:spPr>
            <a:solidFill xmlns:a="http://schemas.openxmlformats.org/drawingml/2006/main">
              <a:srgbClr val="06B6D4"/>
            </a:solidFill>
            <a:ln xmlns:a="http://schemas.openxmlformats.org/drawingml/2006/main" w="7144">
              <a:solidFill>
                <a:srgbClr val="06B6D4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144.507</c:v>
              </c:pt>
              <c:pt idx="1">
                <c:v>3349.001</c:v>
              </c:pt>
              <c:pt idx="2">
                <c:v>162.397</c:v>
              </c:pt>
              <c:pt idx="3">
                <c:v>51407.951</c:v>
              </c:pt>
              <c:pt idx="4">
                <c:v>153038.548</c:v>
              </c:pt>
              <c:pt idx="5">
                <c:v>157964.844</c:v>
              </c:pt>
            </c:numLit>
          </c:val>
        </c:ser>
        <c:ser>
          <c:idx val="1"/>
          <c:order val="1"/>
          <c:tx>
            <c:v>Compute duration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7144">
              <a:solidFill>
                <a:srgbClr val="F59E0B"/>
              </a:solidFill>
              <a:prstDash val="solid"/>
            </a:ln>
          </c:spPr>
          <c:cat>
            <c:strLit>
              <c:ptCount val="6"/>
              <c:pt idx="0">
                <c:v>wg</c:v>
              </c:pt>
              <c:pt idx="1">
                <c:v>pt-96</c:v>
              </c:pt>
              <c:pt idx="2">
                <c:v>wg8</c:v>
              </c:pt>
              <c:pt idx="3">
                <c:v>pt8-96</c:v>
              </c:pt>
              <c:pt idx="4">
                <c:v>pt8-96x32</c:v>
              </c:pt>
              <c:pt idx="5">
                <c:v>pt8-96x32-rw</c:v>
              </c:pt>
            </c:strLit>
          </c:cat>
          <c:val>
            <c:numLit>
              <c:formatCode/>
              <c:ptCount val="6"/>
              <c:pt idx="0">
                <c:v>34.791</c:v>
              </c:pt>
              <c:pt idx="1">
                <c:v>3174.813</c:v>
              </c:pt>
              <c:pt idx="2">
                <c:v>50.183</c:v>
              </c:pt>
              <c:pt idx="3">
                <c:v>51078.034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F1F5F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ADF9B9-CE6E-4053-A79B-0ACD0DA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0FB7E-82E2-44DD-B454-9E59CE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680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Vulkan Persistent Thread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Network POC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2CE9F-004C-49DD-94B4-469A2C5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7680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Monthly Progress Report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6D4B78-AB3D-49C4-8681-BF6AEEA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2026 / 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793233-DA68-49AD-865F-D2D122C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LUO-WEN-CHIEN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17C99B-D220-411F-A735-5896052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AMD RX 7900 XTX  |  RDNA 3  |  Vulkan 1.4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9E327F-C1A3-4891-96A9-4D072AA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209264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F74EA0-19F5-41C3-BEF6-DE814F3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Goal &amp; Motivation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A2DBA8-5595-4227-A3EF-F661BEE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73DF6D-47F6-4238-83C4-8672ADA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0DB9970-6C69-4922-9A43-A440E90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4A6F8A-D846-4777-B0DB-9C671C9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CAECC7-0B11-4F17-9DEF-9651F09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Implement a </a:t>
            </a:r>
            <a:r>
              <a:rPr sz="14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D3D12 Work Graph analogue</a:t>
            </a:r>
            <a:r>
              <a:rPr sz="14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on Vulkan using persistent compute shaders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FF7C54-1815-4EF4-BAF7-E7508F8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DD6FF4-B036-464B-BAFB-FE16A57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D682F3-E969-452E-B8BC-31411A1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CB6C12-A8E2-49B7-AFF5-E7C4320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Find key considerations during design</a:t>
            </a:r>
          </a:p>
          <a:p xmlns:a="http://schemas.openxmlformats.org/drawingml/2006/main"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Measure scheduling overhead &amp; on-chip memory utilization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Target: AMD RX 7900 XTX (RDNA 3, 96 CUs, 24GB VRAM)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BDB90F-E972-4B81-9DA8-63AEBC9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80467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FB70BD-21E1-44DD-BAA6-15F1E613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A64E70-2370-4DD8-9707-5BC7347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Test Case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B5552B-4BFA-452B-BB9E-3E4B0041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Koch Snowflake fractal generation + real-time rendering
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Recursive branching workload: 1 edge → 4 sub-edges per level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21437-C9A8-4D08-B620-6E119EE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55034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D21307-BE64-4FA0-8F09-49D7651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969BF8-279E-476D-BD1B-F1DE477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F4F2E-B785-4D9C-A24D-7C29948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E8B1E2-D927-4FAC-835F-227DBDF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HOST (CPU)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D9EB31-48B9-429B-9E73-DE7A948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64592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E38184-10FA-43A9-8572-43FA59C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7DC7D4-A8EB-437D-A015-662DBC3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Node A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(Seed)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A89836C-4FEF-4DB4-954F-30EEDFC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1E5696-7977-4E2A-90E7-9DA040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BB9D01-0F6E-4F43-9EE8-92EC247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87A181-2D48-411B-85B7-C297EFB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144C6C-5E8B-47CE-B6BE-24A8F97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DAE25A-3635-4A4B-9A5B-287F84C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965960"/>
            <a:ext cx="1645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Node B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(Subdivide)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3CFE9D-26D8-44DB-B415-6971BE2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45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↺ feedback (depth &lt; MAX)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668A08-2AC5-47AF-87ED-6F75E79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C9D7DC4-21E2-4A39-BDE6-BC9B96E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A60363D-4296-48F7-B8A9-34C534F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731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C715EEF-F76B-47A7-8A6B-C5E8EB6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6B6D4"/>
                </a:solidFill>
              </a:rPr>
              <a:t>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9D9F93D-429F-4751-91CC-3A147E1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C64109-7A62-4A0C-964F-AA71406C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1371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Node C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(Write VB)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C6D591-CB04-4611-AE03-286DBF6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06040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6B7D015-2F5D-414F-A854-2667EEC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7C1A33-4277-43E8-A7EA-0641A1D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Vertex Buffer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(SSBO + VB)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FD8F52-97CF-4F7B-8A99-FD59973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Per-Frame Command Buffer Flow: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8654B87-DAA6-4ED5-9F1F-EFC530E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8046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D721B0-0EB7-4D9E-BA7F-E39B13E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9352"/>
            <a:ext cx="7772400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buildCommandBuffers() - per frame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controlBuf, ...);    // 1. GPU Reset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vkCmdFillBuffer(cmd, q1Buf/q2Buf, ...);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vkCmdPipelineBarrier(...TRANSFER → COMPUTE); // 2.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vkCmdDispatch(cmd, 96, 1, 1);             // 3. Compute (3072 threads)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vkCmdPipelineBarrier(...COMPUTE → VERTEX);// 4. Barrier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vkCmdDraw(cmd, 24576, 1, 0, 0);          // 5. Render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4B525EE-1B85-4D76-A25C-2C1863B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12</a:t>
            </a:r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E7490"/>
            </a:solidFill>
            <a:prstDash val="solid"/>
          </a:ln>
        </p:spPr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1554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Graphics Pipeline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→ Display</a:t>
            </a:r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165" y="2978785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31648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CAF1D7-55D7-4548-95AF-0172310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Persistent Thread Model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0CD2F6-21DF-449F-A23C-94BA1BD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graphicFrame>
        <p:nvGraphicFramePr>
          <p:cNvPr id="4" name="Table 0"/>
          <p:cNvGraphicFramePr/>
          <p:nvPr/>
        </p:nvGraphicFramePr>
        <p:xfrm>
          <a:off xmlns:a="http://schemas.openxmlformats.org/drawingml/2006/main" x="548640" y="1097280"/>
          <a:ext xmlns:a="http://schemas.openxmlformats.org/drawingml/2006/main" cx="8046720" cy="1280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438912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Workgroup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Queue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8B5CF6"/>
                          </a:solidFill>
                          <a:latin typeface="Consolas"/>
                          <a:ea typeface="Consolas"/>
                          <a:cs typeface="Consolas"/>
                        </a:rPr>
                        <a:t>WG 0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A +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Seed → Q1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Thread 0 seeds 3 edges, then all do 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</a:rPr>
                        <a:t>WG 1–71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Q1 → Q1 /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Q1, subdivide, push back Q1 or forward Q2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</a:rPr>
                        <a:t>WG 72–95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Node C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Q2 → VB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</a:rPr>
                        <a:t>Pop Q2, write vertices, count → stopFlag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03E85-0449-429F-91B3-542DEC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Single dispatch: vkCmdDispatch(96, 1, 1) = 96 WG × 32 threads = 3,072 persistent threads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117E3-DE1E-4A90-9D0B-D7D5A34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Shader Main Loop Structure: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BA25352-FFBC-4D50-BFFE-C7E0A82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8046720" cy="1762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6C2C87-4120-41F4-AAFF-2E80907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777240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void main()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wgId = gl_WorkGroupID.x;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localId = gl_LocalInvocationID.x;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Node A: WG 0, Thread 0 seeds 3 edges (once)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(wgId == 0 &amp;&amp; localId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(atomicCompSwap(control.seedDone, 0, 1) == 0)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pushQ1(edge_AB); pushQ1(edge_BC); pushQ1(edge_CA);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barrier();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// Main persistent loop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if (wgId &lt; NODE_C_START) { /* Node B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else                     { /* Node C */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6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2467D29-0410-4158-944A-AC3AE33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638046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6B2632-D014-41EA-BF59-EADEED3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Atomic Queue Mechanism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ECB286-30ED-4609-8254-4405C11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F424BA-8D3F-407C-8072-BF788F8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Ring Buffer Structure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8B6D3-B3DD-4FAC-8C68-E1A18B6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200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QueueControl: head / tail / count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Task: payload[6] (4×float + depth + ready)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Push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(reserve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tail (get slot index)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Write payload[0–4]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memoryBarrierBuffer()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5. atomicExchange(ready, 1)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
Pop Protocol: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1. CAS count (claim item)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2. atomicAdd head (get slot)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3. Spin: atomicCompSwap(ready,1,0)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4. Read payload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BA909C-9250-42ED-8FB9-5E09D92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0972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pushQ1() Implementation: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32BA80-705A-44B1-B128-AC074C4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417320"/>
            <a:ext cx="475488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31ADFD-3F36-43B1-8E0B-8C9BB3D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90472"/>
            <a:ext cx="4480560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bool pushQ1(uint p0, uint p1, uint p2,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uint p3, uint p4)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while (control.stopFlag == 0)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uint cur = control.q1.count;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if (cur &lt; QUEUE_SIZE)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// CAS: reserve a slot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if (atomicCompSwap(control.q1.count,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               cur, cur+1) == cur)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uint slot = atomicAdd(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control.q1.tail, 1) % QUEUE_SIZE;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Write payload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queue1.tasks[slot].payload[0] = p0;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queue1.tasks[slot].payload[1] = p1;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queue1.tasks[slot].payload[2] = p2;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queue1.tasks[slot].payload[3] = p3;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queue1.tasks[slot].payload[4] = p4;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memoryBarrierBuffer();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// Signal ready (atomic!)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atomicExchange(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  queue1.tasks[slot].payload[5], 1u);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return false;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7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9C74E0-CB26-420F-964E-65850096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70254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FE14D3-CAF5-4C84-B0DE-0487E01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Cross-Workgroup Memory Sync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1F529A-46CA-40F5-81E8-E255F8C8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270D09-0B83-42AB-AA46-3E536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33829C-728F-4D70-973C-0516B81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261871-3A14-496C-B264-4F55BF4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2412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Bug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E83E4D-2FB2-4F03-9309-82D192C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02412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coherent modifier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59CCDF-DF0B-4ED6-8051-14129A4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C read stale count from L0/L1 cache → no task consumption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3A007F-A899-4426-9364-962BBF7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coherent to all SSBO declarations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790C4C-92A7-4580-9791-6F17DBF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EFCA7BF-0E05-40FA-A67A-D4A3B80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F907AA-797B-42BB-A5DF-807DB9D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13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Bug 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9786CC-79D0-4B8C-A0CC-50A691E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3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Producer-consumer data race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7D5353-D7F1-49E9-9B59-E1B002A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Producer increments count then writes data; consumer reads uninitialized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6E8AC43-5D62-4211-AB2F-56B0590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202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Added per-slot payload[5] ready flag protocol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CC7D63-CD96-4FFA-9473-2F50E60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8046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2A883DA-8A92-42BB-9C9A-CC0E76E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1CEB20-18DF-4DE6-A3F2-D58F0BD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7860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Bug 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E1B45E-E3A5-4D04-BC87-BBA128C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786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Plain store cross-CU unreliable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6C98F2-3F04-4D3F-A5C2-0215948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Plain store of ready flag not visible </a:t>
            </a: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across CUs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44CE61-3BFA-429A-ABED-4206AE5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Fix: All ready flags use atomicExchange / atomicCompSwap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024640-4A83-48E5-8227-EC4EB04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Memory Visibility: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3749040"/>
          <a:ext xmlns:a="http://schemas.openxmlformats.org/drawingml/2006/main" cx="8046720" cy="1097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4688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WF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Cross-CU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0E74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</a:rPr>
                        <a:t>Plain load/store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✘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coherent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~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</a:rPr>
                        <a:t>Atomic (CAS/Exch)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</a:p>
                  </a:txBody>
                  <a:tcPr marL="91440" marR="91440" marT="45720" marB="45720">
                    <a:lnL w="6350">
                      <a:solidFill>
                        <a:srgbClr val="0E7490"/>
                      </a:solidFill>
                      <a:prstDash val="solid"/>
                    </a:lnL>
                    <a:lnR w="6350">
                      <a:solidFill>
                        <a:srgbClr val="0E7490"/>
                      </a:solidFill>
                      <a:prstDash val="solid"/>
                    </a:lnR>
                    <a:lnT w="6350">
                      <a:solidFill>
                        <a:srgbClr val="0E7490"/>
                      </a:solidFill>
                      <a:prstDash val="solid"/>
                    </a:lnT>
                    <a:lnB w="6350">
                      <a:solidFill>
                        <a:srgbClr val="0E749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DAD5B82-70C1-4D65-AF32-007F514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6356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07B490-D2C9-4127-A9ED-233C179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Koch Snowflake Algorithm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193625-515D-4DF8-81AA-70B92F5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26DEF6-2A42-4311-8CC2-8D3828A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Subdivision Rule: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27823-25B5-4B80-A1AA-D77AEB4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Each edge P1→P2 splits into 4 sub-edges:
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  P1 → A → C → B → 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
A, B = 1/3, 2/3 points along P1P2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C = apex point, rotated +60° from A
</a:t>
            </a:r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
Growth: 3 × 4^depth edges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depth=4: 768 edges (1,536 vertices)
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  depth=6: 12,288 edges (24,576 vertices)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BD58F6-766F-4115-8759-16F3EC0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Node B: Subdivision Core: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CCED1A-8BB6-4440-AEC1-C3425F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42062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3E44C1-BC71-4084-8092-9CFB40D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44752"/>
            <a:ext cx="3931920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Koch subdivision: 1 edge -&gt; 4 sub-edges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dx = (x2 - x1)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dy = (y2 - y1) / 3.0;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A = 1/3 point, B = 2/3 point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kax = x1 + dx,   kay = y1 + 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kbx = x1 + 2*dx, kby = y1 + 2*dy;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C = apex (rotate +60° from A)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cos60 = 0.5;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sin60 = 0.8660254037844387;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kcx = kax + dx*cos60 - dy*sin60;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float kcy = kay + dx*sin60 + dy*cos60;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Push 4 sub-edges (depth+1)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pushQ1(P1→A); pushQ1(A→C);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0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pushQ1(C→B);  pushQ1(B→P2);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E4C5A5-4C8A-40B5-98F3-A22622A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GPU Self-Termination: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DF7AC-71B2-4B38-B355-22BA9EF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0292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848D0C-CCD2-4021-A9B8-88E0D0A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4754880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// Node C: auto-shutdown when all edges processed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uint processed = atomicAdd(control.totalProcessed, 1) + 1;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if (processed &gt;= MAX_DEPTH_EDGES) {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    atomicExchange(control.stopFlag, 1u);  // all threads exit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243DCC-BE81-498F-9CFF-3EB8B23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2926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749D9A-B38C-488D-AB42-5012D3B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11480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CA42D1-6F13-40F4-A2E7-9D00A94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33088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Current Config (depth=6)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EA1E04D-DFBC-46A9-BFAE-0AF66B2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343400"/>
            <a:ext cx="2560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12,288 edges
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24,576 vertices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1B9E77-B829-4FB1-BF20-5657E19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639576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336741-163C-4D5D-A1CE-41779E1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Progress &amp; Next Steps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468DF4-293F-4917-AA7F-23689B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28F465-F90D-49D0-8BE1-5099F677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0FCB19-8064-480E-907C-1F84707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882858-E5FD-4608-A341-3E778B8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3288C6-CF2C-4416-89A5-1921631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1-2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6CFBF9-C2A6-4CC7-9527-1576278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Persistent threading, CAS-based queue, CPU monitoring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905124-9FC0-4A73-B795-CDB2236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5B04DB-07A4-435D-9B00-16911045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1455D3-5F6B-482B-8715-F593A775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3911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6E393B-81FF-4569-8940-63771C3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Node A→B→C pipeline, feedback loop, workgroup roles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5004F-1AD3-44A7-B49B-A472245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4114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AEBB19-B999-451A-92D4-A3663FF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6AD5F4-4B5F-498C-8B5D-022E1FF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3347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✔ Phase 4.1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A4D68F-5535-425E-9529-BD1CD2B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GPU self-termination, per-frame compute+render, windowed display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D779F1-0120-4418-AD19-2E4C1BC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Key Achievements: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260690-DF9A-4807-9BCC-3F3630F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114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Cross-CU atomic sync validated on RDNA 3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Zero CPU intervention (GPU self-scheduling)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Single dispatch replaces multi-pass pipeline
</a:t>
            </a: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00">
                <a:solidFill>
                  <a:srgbClr val="F1F5F9"/>
                </a:solidFill>
                <a:latin typeface="Calibri"/>
                <a:ea typeface="Calibri"/>
                <a:cs typeface="Calibri"/>
              </a:rPr>
              <a:t>• Koch snowflake: deterministic output verified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1A7374-50F7-489E-A2B8-06D310E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Next: Phase 4.2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2159BF-EC83-49B0-A556-F53BBD8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94D0084-766E-49A6-BF60-4BA9B46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072FFE-328A-45EF-AF68-2211921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630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Timestamp Queries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C8EE9-1241-4696-B845-E0F06FAD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373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vkCmdWriteTimestamp for compute timing measurement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3F9609-8960-4AEA-9394-F45784D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FB79E1-76BC-4AAD-A38A-981B83F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4028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FDD392B-7AF6-4608-AAFC-EA10BAB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286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 Failure Counters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2A491FC-6195-4EC4-A03B-0AB4C6A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0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Quantify atomic contention &amp; scheduling overhead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261548-01F9-490C-B76B-D004A46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B8F7E6F-7FE5-47D2-86BB-7FF57B2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AA548DA-7636-4947-A2F9-E62FE22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1089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LDS Queues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C9E3246-F1B7-4C3B-B77B-1B8B13A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3832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Intra-workgroup shared memory (10-100× latency reduction)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ED998FD-51E5-4CFF-A551-6014213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573C68D-D20E-49BA-B671-BC79C6C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5486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BFECC63-9250-4933-913A-EB6345A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Subgroup Optimization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7774C9B-5AB6-49BD-8863-ABA98CA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2062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ballot/shuffle for RDNA3 occupancy tuning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62236CA-57E3-4CAB-8E62-4CC37E8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8636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6C5F5BC-5841-4211-9F84-22EB21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7548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032900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2E3A5-6E00-479E-A8FA-5F5E42A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5E82-79AD-439E-AB38-1AF8056A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8D3D1-5A80-4361-9405-F702F62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D3D12 provenance aligned locally to the same Koch snowflake recursion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89FF-CCD1-4AD3-AF4B-86DEAF4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B616-C439-4A86-97E7-38AE3B6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49C5-DADF-4084-BB5D-0E4102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A0D5-E7B2-4524-B3E3-89E5CEF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Baseline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6A6F-32FB-4372-AAAC-4866EB8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GPUOpen WorkGraphPlayground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https://github.com/GPUOpen-LibrariesAndSDKs/WorkGraphPlayground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15BCF-2647-4EAA-8088-4DE6DCD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E622-D259-45AF-AB19-B80332A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1A289-B185-401E-8717-08F43E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Local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61F09-0641-4D55-920E-E6634FF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303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Local clone: C:\CGV\Projects\D3DWorkgraph\workgraph_snowflake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Adjusted to match the snowflake evaluation workload before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5420-347A-45E9-B25A-CA03869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3592E-30B3-4CE7-9640-F2B26EA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959A-F9D6-478E-AD38-0F5BDCE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Reference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6F54E-EC02-4A4A-BA50-92FD36E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tutorials/tutorial-4/Recursion.hlsl</a:t>
            </a:r>
          </a:p>
          <a:p xmlns:a="http://schemas.openxmlformats.org/drawingml/2006/main">
            <a:pPr algn="l">
              <a:defRPr sz="938" b="0">
                <a:solidFill>
                  <a:srgbClr val="F1F5F9"/>
                </a:solidFill>
              </a:defRPr>
            </a:pPr>
            <a:r>
              <a:rPr sz="938" b="0">
                <a:solidFill>
                  <a:srgbClr val="F1F5F9"/>
                </a:solidFill>
              </a:rPr>
              <a:t>Used as the aligned recursion / snowflake baseline inside the local clone.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2788E-74F1-4048-A73C-CF8C176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62050"/>
            <a:ext cx="4800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7a6dfdf2b4ac5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12763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BA76-C665-4E06-83B9-60EFB71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Aligned tutorial-4 snowflake capture from the local WorkGraphPlayground clone.</a:t>
            </a:r>
          </a:p>
        </p:txBody>
      </p:sp>
    </p:spTree>
    <p:extLst>
      <p:ext uri="{BB962C8B-B14F-4D97-AF65-F5344CB8AC3E}">
        <p14:creationId xmlns:p14="http://schemas.microsoft.com/office/powerpoint/2010/main" val="1224032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320EF-63A9-4A9F-8DF2-F28D4E9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3BBD-BE83-48E4-8794-E9E8B5E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BFCA-460C-49CA-B8B7-FE7FD86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Summary from monthly_report_0424_profile_result.md with FPS kept as secondary callouts.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3FAC-81F5-46C0-8315-9FA38AD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 / 12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80391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2047875"/>
                <a:gridCol w="2047875"/>
              </a:tblGrid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06B6D4"/>
                          </a:solidFill>
                        </a:rPr>
                        <a:t>FPS (Hz)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Frame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Compute duration (us)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6,920.1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144.507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34.791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298.6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3,349.001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3,174.813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wg8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6,157.8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162.397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50.183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19.5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51,407.951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51,078.034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6.5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153,038.548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pt8-96x32-reverse-worker</a:t>
                      </a:r>
                    </a:p>
                  </a:txBody>
                  <a:tcPr marL="76200" marR="76200" marT="28575" marB="28575" anchor="middle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6.3 Hz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157,964.844 us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 anchor="middle">
                    <a:lnR w="9525">
                      <a:solidFill>
                        <a:srgbClr val="334155"/>
                      </a:solidFill>
                      <a:prstDash val="solid"/>
                    </a:lnR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EA4-2AD1-4427-804F-9E267D8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4598E-7EA6-44E7-856F-4327224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Frame vs compute duration (us)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3124200"/>
          <a:ext xmlns:a="http://schemas.openxmlformats.org/drawingml/2006/main" cx="4686300" cy="1162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45349ab0c46a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2E327-7476-4E79-86C8-9221D2F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67025"/>
            <a:ext cx="2895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41786-2CC9-49CA-8C56-C157BBF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FPS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5745D-DCB7-49F7-9677-536228A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B948-751A-418A-B0E2-B249466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DB399-F4DF-4791-8FCB-363C4C8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6182-9E29-4DC9-908C-BF34303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6,920.1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39674-7E68-4B36-96F6-46ECCEF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9655-0733-4407-B365-BE2E6C3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2635-5B1B-4E47-87AA-56084BE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pt-96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ECE93-732A-4E42-BB7C-C8662AE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42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298.6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AD304-3FBF-4061-A855-E3D70C9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FA724-C8C3-4406-9D33-8678599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DFB4-AE16-4A12-B3A7-0E81955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wg8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24785-3C56-4036-90EB-6F7423D5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6,157.8 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FABEF-4DD0-4F9E-B7BD-F8AEF6B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26948-D379-434D-A1A8-F3142AC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9663B-6F37-48A0-85C9-83B7D09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7146B-319B-4829-B570-9CA29BA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19.5 Hz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9C2AB-5538-4551-BB34-BB9FA62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87A1-2A21-4244-BB8A-0395B08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499A1-CD24-451C-BD05-5A766EE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D676-A181-4BDB-B165-70FFCB6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6.5 Hz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42EEA-4E4E-42F9-848E-BA43A4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04DFF-BC41-46E3-86EB-29784E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4F3A3-AB77-4754-9EF0-9F72787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pt8-96x32-rw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63AA0-FAB8-430D-B290-F1A7C26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6.3 Hz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B7459-A15B-4661-9250-E8DC37A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Compute duration comes from the selected-compute Duration field.</a:t>
            </a:r>
          </a:p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pt8-96x32 and pt8-96x32-reverse-worker have no compute-duration entry in monthly_report_0424_profile_result.md.</a:t>
            </a:r>
          </a:p>
        </p:txBody>
      </p:sp>
    </p:spTree>
    <p:extLst>
      <p:ext uri="{BB962C8B-B14F-4D97-AF65-F5344CB8AC3E}">
        <p14:creationId xmlns:p14="http://schemas.microsoft.com/office/powerpoint/2010/main" val="100704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(WorkGraphPlayground)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A28D-4E6D-494F-939F-D36E3DA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wavefront capture from the aligned D3D12 baseline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9B4D-6BC1-4BA9-A131-E17130B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04004-E1CB-48DE-8ABA-4E4D198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D0D8A-3820-40BF-9F17-E10FD5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7b71d89eb46ee"/>
          <a:srcRect xmlns:a="http://schemas.openxmlformats.org/drawingml/2006/main" l="14662" t="0" r="146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710E8-9AD5-4EEC-B56A-2C183EC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image-16.png: wavefront - depth 8.</a:t>
            </a:r>
          </a:p>
        </p:txBody>
      </p:sp>
    </p:spTree>
    <p:extLst>
      <p:ext uri="{BB962C8B-B14F-4D97-AF65-F5344CB8AC3E}">
        <p14:creationId xmlns:p14="http://schemas.microsoft.com/office/powerpoint/2010/main" val="253976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7FD2A-8708-443F-83E4-B4A23C6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803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Evaluation - Wavefront (Vulkan Persistent Thread)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35EC-3BF7-464A-8E90-B7DB754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C8DBE-E191-4584-8F49-45A9A2F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Depth 8 / 3072-group wavefront capture from the Vulkan persistent-thread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CFE8-7199-4C83-BF93-8E07E0E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5297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BC47-BB9D-4C46-8631-E946BDF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39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E761-30C6-472C-85EB-16667233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53e39ee14478"/>
          <a:srcRect xmlns:a="http://schemas.openxmlformats.org/drawingml/2006/main" l="14308" t="0" r="14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276350"/>
            <a:ext cx="77343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793D-9A9D-4161-B235-C38BE5E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Matched crop and scale, image-18.png: depth 8, 3072 group, wavefront.</a:t>
            </a:r>
          </a:p>
        </p:txBody>
      </p:sp>
    </p:spTree>
    <p:extLst>
      <p:ext uri="{BB962C8B-B14F-4D97-AF65-F5344CB8AC3E}">
        <p14:creationId xmlns:p14="http://schemas.microsoft.com/office/powerpoint/2010/main" val="13018773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2026-04-23T17:44:27.3520000Z</dcterms:created>
  <dcterms:modified xsi:type="dcterms:W3CDTF">2026-04-23T17:44:27.3520000Z</dcterms:modified>
</coreProperties>
</file>