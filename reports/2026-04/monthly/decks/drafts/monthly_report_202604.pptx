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51ee991bd84a0e" /><Relationship Type="http://schemas.openxmlformats.org/officeDocument/2006/relationships/extended-properties" Target="/docProps/app.xml" Id="R0644a1efd4ab43a7" /><Relationship Type="http://schemas.openxmlformats.org/officeDocument/2006/relationships/officeDocument" Target="/ppt/presentation.xml" Id="Rd6b9b29d4f9a4f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dd2eb51a43449a"/>
  </p:sldMasterIdLst>
  <p:notesMasterIdLst>
    <p:notesMasterId xmlns:r="http://schemas.openxmlformats.org/officeDocument/2006/relationships" r:id="R488c97a7d99b4f9b"/>
  </p:notesMasterIdLst>
  <p:sldIdLst>
    <p:sldId xmlns:r="http://schemas.openxmlformats.org/officeDocument/2006/relationships" id="256" r:id="R576aa4f691024944"/>
    <p:sldId xmlns:r="http://schemas.openxmlformats.org/officeDocument/2006/relationships" id="257" r:id="R5a9870eeeb904a73"/>
    <p:sldId xmlns:r="http://schemas.openxmlformats.org/officeDocument/2006/relationships" id="258" r:id="R611c5bb93acf436d"/>
    <p:sldId xmlns:r="http://schemas.openxmlformats.org/officeDocument/2006/relationships" id="259" r:id="Rc4273811709d4e08"/>
    <p:sldId xmlns:r="http://schemas.openxmlformats.org/officeDocument/2006/relationships" id="260" r:id="R69bc448175fc4f4d"/>
    <p:sldId xmlns:r="http://schemas.openxmlformats.org/officeDocument/2006/relationships" id="261" r:id="R03e233d0f78449a5"/>
    <p:sldId xmlns:r="http://schemas.openxmlformats.org/officeDocument/2006/relationships" id="262" r:id="R6ad170ef7c954585"/>
    <p:sldId xmlns:r="http://schemas.openxmlformats.org/officeDocument/2006/relationships" id="263" r:id="Rde172af01dbe4f8b"/>
    <p:sldId xmlns:r="http://schemas.openxmlformats.org/officeDocument/2006/relationships" id="264" r:id="R608d823437a54576"/>
    <p:sldId xmlns:r="http://schemas.openxmlformats.org/officeDocument/2006/relationships" id="265" r:id="R28a7683950344066"/>
    <p:sldId xmlns:r="http://schemas.openxmlformats.org/officeDocument/2006/relationships" id="266" r:id="R14e96fa8f0df4af5"/>
    <p:sldId xmlns:r="http://schemas.openxmlformats.org/officeDocument/2006/relationships" id="267" r:id="R8e15d02d85c94ff0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d2eb51a43449a" /><Relationship Type="http://schemas.openxmlformats.org/officeDocument/2006/relationships/theme" Target="/ppt/theme/theme1.xml" Id="R3649f1dcf1954a63" /><Relationship Type="http://schemas.openxmlformats.org/officeDocument/2006/relationships/notesMaster" Target="/ppt/notesMasters/notesMaster1.xml" Id="R488c97a7d99b4f9b" /><Relationship Type="http://schemas.openxmlformats.org/officeDocument/2006/relationships/presProps" Target="/ppt/presProps.xml" Id="R6d0be18fffbe497a" /><Relationship Type="http://schemas.openxmlformats.org/officeDocument/2006/relationships/viewProps" Target="/ppt/viewProps.xml" Id="Rcee0bb60a3bb403b" /><Relationship Type="http://schemas.openxmlformats.org/officeDocument/2006/relationships/tableStyles" Target="/ppt/tableStyles.xml" Id="R929d4a16ca0f47f9" /><Relationship Type="http://schemas.openxmlformats.org/officeDocument/2006/relationships/slide" Target="/ppt/slides/slide1.xml" Id="R576aa4f691024944" /><Relationship Type="http://schemas.openxmlformats.org/officeDocument/2006/relationships/slide" Target="/ppt/slides/slide2.xml" Id="R5a9870eeeb904a73" /><Relationship Type="http://schemas.openxmlformats.org/officeDocument/2006/relationships/slide" Target="/ppt/slides/slide3.xml" Id="R611c5bb93acf436d" /><Relationship Type="http://schemas.openxmlformats.org/officeDocument/2006/relationships/slide" Target="/ppt/slides/slide4.xml" Id="Rc4273811709d4e08" /><Relationship Type="http://schemas.openxmlformats.org/officeDocument/2006/relationships/slide" Target="/ppt/slides/slide5.xml" Id="R69bc448175fc4f4d" /><Relationship Type="http://schemas.openxmlformats.org/officeDocument/2006/relationships/slide" Target="/ppt/slides/slide6.xml" Id="R03e233d0f78449a5" /><Relationship Type="http://schemas.openxmlformats.org/officeDocument/2006/relationships/slide" Target="/ppt/slides/slide7.xml" Id="R6ad170ef7c954585" /><Relationship Type="http://schemas.openxmlformats.org/officeDocument/2006/relationships/slide" Target="/ppt/slides/slide8.xml" Id="Rde172af01dbe4f8b" /><Relationship Type="http://schemas.openxmlformats.org/officeDocument/2006/relationships/slide" Target="/ppt/slides/slide9.xml" Id="R608d823437a54576" /><Relationship Type="http://schemas.openxmlformats.org/officeDocument/2006/relationships/slide" Target="/ppt/slides/slide10.xml" Id="R28a7683950344066" /><Relationship Type="http://schemas.openxmlformats.org/officeDocument/2006/relationships/slide" Target="/ppt/slides/slide11.xml" Id="R14e96fa8f0df4af5" /><Relationship Type="http://schemas.openxmlformats.org/officeDocument/2006/relationships/slide" Target="/ppt/slides/slide12.xml" Id="R8e15d02d85c94f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40d4cd15e2f4a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619ff2dbd5443e" /><Relationship Type="http://schemas.openxmlformats.org/officeDocument/2006/relationships/notesMaster" Target="/ppt/notesMasters/notesMaster1.xml" Id="Rf9fccb5a86b34d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a2cace50f44398" /><Relationship Type="http://schemas.openxmlformats.org/officeDocument/2006/relationships/notesMaster" Target="/ppt/notesMasters/notesMaster1.xml" Id="R6249cb3d355248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c6cf3cfa2541b7" /><Relationship Type="http://schemas.openxmlformats.org/officeDocument/2006/relationships/notesMaster" Target="/ppt/notesMasters/notesMaster1.xml" Id="R17922fe0528a4b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29842a69034211" /><Relationship Type="http://schemas.openxmlformats.org/officeDocument/2006/relationships/notesMaster" Target="/ppt/notesMasters/notesMaster1.xml" Id="Rdc1ef2722a7641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0cb8eaea4f4d8a" /><Relationship Type="http://schemas.openxmlformats.org/officeDocument/2006/relationships/notesMaster" Target="/ppt/notesMasters/notesMaster1.xml" Id="R7f0d9365910244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1240904f5b463b" /><Relationship Type="http://schemas.openxmlformats.org/officeDocument/2006/relationships/notesMaster" Target="/ppt/notesMasters/notesMaster1.xml" Id="R9451f3e5d3a046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b48759b0a74046" /><Relationship Type="http://schemas.openxmlformats.org/officeDocument/2006/relationships/notesMaster" Target="/ppt/notesMasters/notesMaster1.xml" Id="Rbd69b273bb1841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4ef1dbb3bf4f78" /><Relationship Type="http://schemas.openxmlformats.org/officeDocument/2006/relationships/notesMaster" Target="/ppt/notesMasters/notesMaster1.xml" Id="Rff4757b6bbc444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a9cb8bc6ef4ada" /><Relationship Type="http://schemas.openxmlformats.org/officeDocument/2006/relationships/notesMaster" Target="/ppt/notesMasters/notesMaster1.xml" Id="R52657d692adf48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0133441d3249f8" /><Relationship Type="http://schemas.openxmlformats.org/officeDocument/2006/relationships/notesMaster" Target="/ppt/notesMasters/notesMaster1.xml" Id="Rda446e95eb9e44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e1538a3d434d37" /><Relationship Type="http://schemas.openxmlformats.org/officeDocument/2006/relationships/notesMaster" Target="/ppt/notesMasters/notesMaster1.xml" Id="R5992c1dbf2ac4f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bdc0bf2ac140b8" /><Relationship Type="http://schemas.openxmlformats.org/officeDocument/2006/relationships/notesMaster" Target="/ppt/notesMasters/notesMaster1.xml" Id="R5d87b51dcaec42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provenance and alignment context.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https://github.com/GPUOpen-LibrariesAndSDKs/WorkGraphPlayground</a:t>
            </a:r>
          </a:p>
          <a:p xmlns:a="http://schemas.openxmlformats.org/drawingml/2006/main">
            <a:r>
              <a:t>- C:\CGV\Projects\D3DWorkgraph\workgraph_snowflake</a:t>
            </a:r>
          </a:p>
          <a:p xmlns:a="http://schemas.openxmlformats.org/drawingml/2006/main">
            <a:r>
              <a:t>- tutorials/tutorial-4/Recursion.hlsl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Profile comparison data used on this slide.</a:t>
            </a:r>
          </a:p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- C:\CGV\Projects\D3DWorkgraph\workgraph_vulkan_poc\monthly_report_0424_profile_result.md</a:t>
            </a:r>
          </a:p>
          <a:p xmlns:a="http://schemas.openxmlformats.org/drawingml/2006/main">
            <a:r>
              <a:t>Compute duration is unavailable for pt8-96x32 and pt8-96x32-reverse-worker.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- Wavefront (WorkGraphPlayground)</a:t>
            </a:r>
          </a:p>
          <a:p xmlns:a="http://schemas.openxmlformats.org/drawingml/2006/main">
            <a:r>
              <a:t>Image: C:\CGV\Projects\D3DWorkgraph\workgraph_vulkan_poc\image-16.png</a:t>
            </a:r>
          </a:p>
          <a:p xmlns:a="http://schemas.openxmlformats.org/drawingml/2006/main">
            <a:r>
              <a:t>Matched crop and scale, image-16.png: wavefront - depth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- Wavefront (Vulkan Persistent Thread)</a:t>
            </a:r>
          </a:p>
          <a:p xmlns:a="http://schemas.openxmlformats.org/drawingml/2006/main">
            <a:r>
              <a:t>Image: C:\CGV\Projects\D3DWorkgraph\workgraph_vulkan_poc\image-18.png</a:t>
            </a:r>
          </a:p>
          <a:p xmlns:a="http://schemas.openxmlformats.org/drawingml/2006/main">
            <a:r>
              <a:t>Matched crop and scale, image-18.png: depth 8, 3072 group, wavefront.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9523441864c4f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a2bce560b43c5" /><Relationship Type="http://schemas.openxmlformats.org/officeDocument/2006/relationships/theme" Target="/ppt/theme/theme1.xml" Id="R9f8fb9048c2d4d7d" /><Relationship Type="http://schemas.openxmlformats.org/officeDocument/2006/relationships/slideLayout" Target="/ppt/slideLayouts/slideLayout2.xml" Id="Rc7c7f905353448b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992a2bce560b43c5"/>
    <p:sldLayoutId xmlns:r="http://schemas.openxmlformats.org/officeDocument/2006/relationships" id="2147483649" r:id="Rc7c7f905353448b7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68326b432a448f" /><Relationship Type="http://schemas.openxmlformats.org/officeDocument/2006/relationships/notesSlide" Target="/ppt/notesSlides/notesSlide1.xml" Id="Rb5737729e9dc40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0f49dae90941f2" /><Relationship Type="http://schemas.openxmlformats.org/officeDocument/2006/relationships/notesSlide" Target="/ppt/notesSlides/notesSlide2.xml" Id="Rb4514e9fa8e749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4603144dc04bbc" /><Relationship Type="http://schemas.openxmlformats.org/officeDocument/2006/relationships/notesSlide" Target="/ppt/notesSlides/notesSlide3.xml" Id="Ra6b608f45c2942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eb32c68cf344ce" /><Relationship Type="http://schemas.openxmlformats.org/officeDocument/2006/relationships/notesSlide" Target="/ppt/notesSlides/notesSlide4.xml" Id="R218ade3deee647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374385f80e4989" /><Relationship Type="http://schemas.openxmlformats.org/officeDocument/2006/relationships/notesSlide" Target="/ppt/notesSlides/notesSlide5.xml" Id="Rb2f307f495254e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a120a892e84530" /><Relationship Type="http://schemas.openxmlformats.org/officeDocument/2006/relationships/notesSlide" Target="/ppt/notesSlides/notesSlide6.xml" Id="R6e3c7369676c46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31195a2fcb4b64" /><Relationship Type="http://schemas.openxmlformats.org/officeDocument/2006/relationships/notesSlide" Target="/ppt/notesSlides/notesSlide7.xml" Id="Rbc6901ecb19542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2d697f4a244053" /><Relationship Type="http://schemas.openxmlformats.org/officeDocument/2006/relationships/notesSlide" Target="/ppt/notesSlides/notesSlide8.xml" Id="R0cde5fd179274b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5321ebe2845d1" /><Relationship Type="http://schemas.openxmlformats.org/officeDocument/2006/relationships/image" Target="/ppt/media/image.png" Id="Rc6d7a6dfdf2b4ac5" /><Relationship Type="http://schemas.openxmlformats.org/officeDocument/2006/relationships/notesSlide" Target="/ppt/notesSlides/notesSlide9.xml" Id="R593ae5b6c9a04e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f68c82b6142bd" /><Relationship Type="http://schemas.openxmlformats.org/officeDocument/2006/relationships/chart" Target="/ppt/slides/charts/chart1.xml" Id="R68c45349ab0c46ac" /><Relationship Type="http://schemas.openxmlformats.org/officeDocument/2006/relationships/notesSlide" Target="/ppt/notesSlides/notesSlide10.xml" Id="Rfb5af5d7041645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38779b8b44af4" /><Relationship Type="http://schemas.openxmlformats.org/officeDocument/2006/relationships/image" Target="/ppt/media/image2.png" Id="R5587b71d89eb46ee" /><Relationship Type="http://schemas.openxmlformats.org/officeDocument/2006/relationships/notesSlide" Target="/ppt/notesSlides/notesSlide11.xml" Id="R59f046e8e2f249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0ad28dead4f24" /><Relationship Type="http://schemas.openxmlformats.org/officeDocument/2006/relationships/image" Target="/ppt/media/image3.png" Id="R0a6553e39ee14478" /><Relationship Type="http://schemas.openxmlformats.org/officeDocument/2006/relationships/notesSlide" Target="/ppt/notesSlides/notesSlide12.xml" Id="Rd19929252d004743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Frame duration</c:v>
          </c:tx>
          <c:spPr>
            <a:solidFill xmlns:a="http://schemas.openxmlformats.org/drawingml/2006/main">
              <a:srgbClr val="06B6D4"/>
            </a:solidFill>
            <a:ln xmlns:a="http://schemas.openxmlformats.org/drawingml/2006/main" w="7144">
              <a:solidFill>
                <a:srgbClr val="06B6D4"/>
              </a:solidFill>
              <a:prstDash val="solid"/>
            </a:ln>
          </c:spPr>
          <c:cat>
            <c:strLit>
              <c:ptCount val="6"/>
              <c:pt idx="0">
                <c:v>wg</c:v>
              </c:pt>
              <c:pt idx="1">
                <c:v>pt-96</c:v>
              </c:pt>
              <c:pt idx="2">
                <c:v>wg8</c:v>
              </c:pt>
              <c:pt idx="3">
                <c:v>pt8-96</c:v>
              </c:pt>
              <c:pt idx="4">
                <c:v>pt8-96x32</c:v>
              </c:pt>
              <c:pt idx="5">
                <c:v>pt8-96x32-rw</c:v>
              </c:pt>
            </c:strLit>
          </c:cat>
          <c:val>
            <c:numLit>
              <c:formatCode/>
              <c:ptCount val="6"/>
              <c:pt idx="0">
                <c:v>144.507</c:v>
              </c:pt>
              <c:pt idx="1">
                <c:v>3349.001</c:v>
              </c:pt>
              <c:pt idx="2">
                <c:v>162.397</c:v>
              </c:pt>
              <c:pt idx="3">
                <c:v>51407.951</c:v>
              </c:pt>
              <c:pt idx="4">
                <c:v>153038.548</c:v>
              </c:pt>
              <c:pt idx="5">
                <c:v>157964.844</c:v>
              </c:pt>
            </c:numLit>
          </c:val>
        </c:ser>
        <c:ser>
          <c:idx val="1"/>
          <c:order val="1"/>
          <c:tx>
            <c:v>Compute duration</c:v>
          </c:tx>
          <c:spPr>
            <a:solidFill xmlns:a="http://schemas.openxmlformats.org/drawingml/2006/main">
              <a:srgbClr val="F59E0B"/>
            </a:solidFill>
            <a:ln xmlns:a="http://schemas.openxmlformats.org/drawingml/2006/main" w="7144">
              <a:solidFill>
                <a:srgbClr val="F59E0B"/>
              </a:solidFill>
              <a:prstDash val="solid"/>
            </a:ln>
          </c:spPr>
          <c:cat>
            <c:strLit>
              <c:ptCount val="6"/>
              <c:pt idx="0">
                <c:v>wg</c:v>
              </c:pt>
              <c:pt idx="1">
                <c:v>pt-96</c:v>
              </c:pt>
              <c:pt idx="2">
                <c:v>wg8</c:v>
              </c:pt>
              <c:pt idx="3">
                <c:v>pt8-96</c:v>
              </c:pt>
              <c:pt idx="4">
                <c:v>pt8-96x32</c:v>
              </c:pt>
              <c:pt idx="5">
                <c:v>pt8-96x32-rw</c:v>
              </c:pt>
            </c:strLit>
          </c:cat>
          <c:val>
            <c:numLit>
              <c:formatCode/>
              <c:ptCount val="6"/>
              <c:pt idx="0">
                <c:v>34.791</c:v>
              </c:pt>
              <c:pt idx="1">
                <c:v>3174.813</c:v>
              </c:pt>
              <c:pt idx="2">
                <c:v>50.183</c:v>
              </c:pt>
              <c:pt idx="3">
                <c:v>51078.034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F1F5F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F1F5F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</c:valAx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F1F5F9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AADF9B9-CE6E-4053-A79B-0ACD0DAA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90FB7E-82E2-44DD-B454-9E59CE78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76809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Vulkan Persistent Thread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Producer-Consumer Network POC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2CE9F-004C-49DD-94B4-469A2C53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7680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Monthly Progress Report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A6D4B78-AB3D-49C4-8681-BF6AEEAA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0"/>
            <a:ext cx="7680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2026 / 04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3793233-DA68-49AD-865F-D2D122C7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LUO-WEN-CHIEN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17C99B-D220-411F-A735-5896052E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E7490"/>
                </a:solidFill>
                <a:latin typeface="Calibri"/>
                <a:ea typeface="Calibri"/>
                <a:cs typeface="Calibri"/>
              </a:rPr>
              <a:t>AMD RX 7900 XTX  |  RDNA 3  |  Vulkan 1.4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9E327F-C1A3-4891-96A9-4D072AAC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 / 12</a:t>
            </a:r>
          </a:p>
        </p:txBody>
      </p:sp>
    </p:spTree>
    <p:extLst>
      <p:ext uri="{BB962C8B-B14F-4D97-AF65-F5344CB8AC3E}">
        <p14:creationId xmlns:p14="http://schemas.microsoft.com/office/powerpoint/2010/main" val="12092647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4F74EA0-19F5-41C3-BEF6-DE814F31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Research Goal &amp; Motivation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EA2DBA8-5595-4227-A3EF-F661BEEC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B73DF6D-47F6-4238-83C4-8672ADAD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8046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0DB9970-6C69-4922-9A43-A440E905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5486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84A6F8A-D846-4777-B0DB-9C671C92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444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Goal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7CAECC7-0B11-4F17-9DEF-9651F09E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Implement a </a:t>
            </a:r>
            <a:r>
              <a:rPr sz="14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D3D12 Work Graph analogue</a:t>
            </a:r>
            <a:r>
              <a:rPr sz="14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 on Vulkan using persistent compute shaders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6FF7C54-1815-4EF4-BAF7-E7508F80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8046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EDD6FF4-B036-464B-BAFB-FE16A578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5486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1D682F3-E969-452E-B8BC-31411A10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2316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Why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9CB6C12-A8E2-49B7-AFF5-E7C4320D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Find key considerations during design</a:t>
            </a:r>
          </a:p>
          <a:p xmlns:a="http://schemas.openxmlformats.org/drawingml/2006/main">
            <a:r>
              <a:rPr sz="13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Measure scheduling overhead &amp; on-chip memory utilization</a:t>
            </a: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Target: AMD RX 7900 XTX (RDNA 3, 96 CUs, 24GB VRAM)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3BDB90F-E972-4B81-9DA8-63AEBC9A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8046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3FB70BD-21E1-44DD-BAA6-15F1E613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5486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5A64E70-2370-4DD8-9707-5BC7347D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1188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Test Case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5B5552B-4BFA-452B-BB9E-3E4B0041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31920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Koch Snowflake fractal generation + real-time rendering
</a:t>
            </a: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Recursive branching workload: 1 edge → 4 sub-edges per level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A721437-C9A8-4D08-B620-6E119EE3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12550345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D21307-BE64-4FA0-8F09-49D76511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 Architecture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969BF8-279E-476D-BD1B-F1DE4770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8BF4F2E-B785-4D9C-A24D-7C299487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828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FE8B1E2-D927-4FAC-835F-227DBDF4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HOST (CPU)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9D9EB31-48B9-429B-9E73-DE7A9482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645920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06B6D4"/>
                </a:solidFill>
              </a:rPr>
              <a:t>▼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8E38184-10FA-43A9-8572-43FA59C6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371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8B5CF6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67DC7D4-A8EB-437D-A015-662DBC3B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371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8B5CF6"/>
                </a:solidFill>
                <a:latin typeface="Calibri"/>
                <a:ea typeface="Calibri"/>
                <a:cs typeface="Calibri"/>
              </a:rPr>
              <a:t>Node A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8B5CF6"/>
                </a:solidFill>
                <a:latin typeface="Calibri"/>
                <a:ea typeface="Calibri"/>
                <a:cs typeface="Calibri"/>
              </a:rPr>
              <a:t>(Seed)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A89836C-4FEF-4DB4-954F-30EEDFCE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103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6B6D4"/>
                </a:solidFill>
              </a:rPr>
              <a:t>▶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E1E5696-7977-4E2A-90E7-9DA040F1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731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0BB9D01-0F6E-4F43-9EE8-92EC247E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731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587A181-2D48-411B-85B7-C297EFB1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103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6B6D4"/>
                </a:solidFill>
              </a:rPr>
              <a:t>▶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6144C6C-5E8B-47CE-B6BE-24A8F97F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965960"/>
            <a:ext cx="16459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DDAE25A-3635-4A4B-9A5B-287F84C2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965960"/>
            <a:ext cx="1645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Node B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(Subdivide)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53CFE9D-26D8-44DB-B415-6971BE24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459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↺ feedback (depth &lt; MAX)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2668A08-2AC5-47AF-87ED-6F75E790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03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6B6D4"/>
                </a:solidFill>
              </a:rPr>
              <a:t>▶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C9D7DC4-21E2-4A39-BDE6-BC9B96E6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057400"/>
            <a:ext cx="731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A60363D-4296-48F7-B8A9-34C534F8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057400"/>
            <a:ext cx="731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Q2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C715EEF-F76B-47A7-8A6B-C5E8EB65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03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6B6D4"/>
                </a:solidFill>
              </a:rPr>
              <a:t>▶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9D9F93D-429F-4751-91CC-3A147E13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65960"/>
            <a:ext cx="1371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FC64109-7A62-4A0C-964F-AA71406C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65960"/>
            <a:ext cx="1371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Node C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(Write VB)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9C6D591-CB04-4611-AE03-286DBF61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06040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06B6D4"/>
                </a:solidFill>
              </a:rPr>
              <a:t>▼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16B7D015-2F5D-414F-A854-2667EEC5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26080"/>
            <a:ext cx="1828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7C1A33-4277-43E8-A7EA-0641A1DB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26080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Vertex Buffer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(SSBO + VB)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AFD8F52-97CF-4F7B-8A99-FD599733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Per-Frame Command Buffer Flow: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98654B87-DAA6-4ED5-9F1F-EFC530E3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86200"/>
            <a:ext cx="80467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4D721B0-0EB7-4D9E-BA7F-E39B13E9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9352"/>
            <a:ext cx="7772400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buildCommandBuffers() - per frame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vkCmdFillBuffer(cmd, controlBuf, ...);    // 1. GPU Reset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vkCmdFillBuffer(cmd, q1Buf/q2Buf, ...);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vkCmdPipelineBarrier(...TRANSFER → COMPUTE); // 2. Barrier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vkCmdDispatch(cmd, 96, 1, 1);             // 3. Compute (3072 threads)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vkCmdPipelineBarrier(...COMPUTE → VERTEX);// 4. Barrier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vkCmdDraw(cmd, 24576, 1, 0, 0);          // 5. Render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4B525EE-1B85-4D76-A25C-2C1863B8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3 / 12</a:t>
            </a:r>
          </a:p>
        </p:txBody>
      </p:sp>
      <p:sp>
        <p:nvSpPr>
          <p:cNvPr id="33" name="Shape 24">
            <a:extLst xmlns:a="http://schemas.openxmlformats.org/drawingml/2006/main">
              <a:ext uri="{FF2B5EF4-FFF2-40B4-BE49-F238E27FC236}">
                <a16:creationId xmlns:a16="http://schemas.microsoft.com/office/drawing/2014/main" id="{C78F7516-B23D-4AFE-8079-CC632C1C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6080"/>
            <a:ext cx="15544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</p:sp>
      <p:sp>
        <p:nvSpPr>
          <p:cNvPr id="34" name="Text 25">
            <a:extLst xmlns:a="http://schemas.openxmlformats.org/drawingml/2006/main">
              <a:ext uri="{FF2B5EF4-FFF2-40B4-BE49-F238E27FC236}">
                <a16:creationId xmlns:a16="http://schemas.microsoft.com/office/drawing/2014/main" id="{5225FBBB-004E-4308-AF44-36D2DB19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6080"/>
            <a:ext cx="1554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Graphics Pipeline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→ Display</a:t>
            </a:r>
          </a:p>
        </p:txBody>
      </p:sp>
      <p:sp>
        <p:nvSpPr>
          <p:cNvPr id="35" name="Text 23">
            <a:extLst xmlns:a="http://schemas.openxmlformats.org/drawingml/2006/main">
              <a:ext uri="{FF2B5EF4-FFF2-40B4-BE49-F238E27FC236}">
                <a16:creationId xmlns:a16="http://schemas.microsoft.com/office/drawing/2014/main" id="{A484865C-3933-4D85-99A3-560D2CA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165" y="2978785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◀</a:t>
            </a:r>
          </a:p>
        </p:txBody>
      </p:sp>
    </p:spTree>
    <p:extLst>
      <p:ext uri="{BB962C8B-B14F-4D97-AF65-F5344CB8AC3E}">
        <p14:creationId xmlns:p14="http://schemas.microsoft.com/office/powerpoint/2010/main" val="1316488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FCAF1D7-55D7-4548-95AF-0172310C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Persistent Thread Model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80CD2F6-21DF-449F-A23C-94BA1BD1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graphicFrame>
        <p:nvGraphicFramePr>
          <p:cNvPr id="4" name="Table 0"/>
          <p:cNvGraphicFramePr/>
          <p:nvPr/>
        </p:nvGraphicFramePr>
        <p:xfrm>
          <a:off xmlns:a="http://schemas.openxmlformats.org/drawingml/2006/main" x="548640" y="1097280"/>
          <a:ext xmlns:a="http://schemas.openxmlformats.org/drawingml/2006/main" cx="8046720" cy="12801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7280"/>
                <a:gridCol w="1188720"/>
                <a:gridCol w="1371600"/>
                <a:gridCol w="4389120"/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Workgroup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Role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Queue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Action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8B5CF6"/>
                          </a:solidFill>
                          <a:latin typeface="Consolas"/>
                          <a:ea typeface="Consolas"/>
                          <a:cs typeface="Consolas"/>
                        </a:rPr>
                        <a:t>WG 0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Node A + B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Seed → Q1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</a:rPr>
                        <a:t>Thread 0 seeds 3 edges, then all do Node B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</a:rPr>
                        <a:t>WG 1–71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Node B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Q1 → Q1 / Q2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</a:rPr>
                        <a:t>Pop Q1, subdivide, push back Q1 or forward Q2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</a:rPr>
                        <a:t>WG 72–95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Node C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Q2 → VB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</a:rPr>
                        <a:t>Pop Q2, write vertices, count → stopFlag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03E85-0449-429F-91B3-542DEC7D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8046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Single dispatch: vkCmdDispatch(96, 1, 1) = 96 WG × 32 threads = 3,072 persistent threads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A3117E3-DE1E-4A90-9D0B-D7D5A345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Shader Main Loop Structure: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BA25352-FFBC-4D50-BFFE-C7E0A829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0"/>
            <a:ext cx="8046720" cy="1762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96C2C87-4120-41F4-AAFF-2E809074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3552"/>
            <a:ext cx="7772400" cy="1408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void main()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uint wgId = gl_WorkGroupID.x;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uint localId = gl_LocalInvocationID.x;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// Node A: WG 0, Thread 0 seeds 3 edges (once)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if (wgId == 0 &amp;&amp; localId == 0)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if (atomicCompSwap(control.seedDone, 0, 1) == 0)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    pushQ1(edge_AB); pushQ1(edge_BC); pushQ1(edge_CA);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barrier(); memoryBarrierBuffer();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// Main persistent loop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while (control.stopFlag == 0)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if (wgId &lt; NODE_C_START) { /* Node B */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else                     { /* Node C */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2467D29-0410-4158-944A-AC3AE33E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638046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6B2632-D014-41EA-BF59-EADEED30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Atomic Queue Mechanism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6ECB286-30ED-4609-8254-4405C11E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DF424BA-8D3F-407C-8072-BF788F84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Ring Buffer Structure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98B6D3-B3DD-4FAC-8C68-E1A18B64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2004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QueueControl: head / tail / count
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Task: payload[6] (4×float + depth + ready)
</a:t>
            </a:r>
          </a:p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
Push Protocol: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1. CAS count (reserve slot)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2. atomicAdd tail (get slot index)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3. Write payload[0–4]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4. memoryBarrierBuffer()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5. atomicExchange(ready, 1)
</a:t>
            </a:r>
          </a:p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
Pop Protocol: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1. CAS count (claim item)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2. atomicAdd head (get slot)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3. Spin: atomicCompSwap(ready,1,0)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4. Read payload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ABA909C-9250-42ED-8FB9-5E09D929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09728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pushQ1() Implementation: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B32BA80-705A-44B1-B128-AC074C47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417320"/>
            <a:ext cx="475488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631ADFD-3F36-43B1-8E0B-8C9BB3D0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490472"/>
            <a:ext cx="4480560" cy="3511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bool pushQ1(uint p0, uint p1, uint p2,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    uint p3, uint p4)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while (control.stopFlag == 0)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uint cur = control.q1.count;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if (cur &lt; QUEUE_SIZE)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// CAS: reserve a slot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if (atomicCompSwap(control.q1.count,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                 cur, cur+1) == cur)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uint slot = atomicAdd(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  control.q1.tail, 1) % QUEUE_SIZE;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// Write payload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queue1.tasks[slot].payload[0] = p0;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queue1.tasks[slot].payload[1] = p1;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queue1.tasks[slot].payload[2] = p2;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queue1.tasks[slot].payload[3] = p3;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queue1.tasks[slot].payload[4] = p4;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memoryBarrierBuffer();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// Signal ready (atomic!)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atomicExchange(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  queue1.tasks[slot].payload[5], 1u);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return true;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return false;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59C74E0-CB26-420F-964E-65850096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17025495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FE14D3-CAF5-4C84-B0DE-0487E015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6400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Cross-Workgroup Memory Sync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51F529A-46CA-40F5-81E8-E255F8C8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4270D09-0B83-42AB-AA46-3E536C09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80467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B33829C-728F-4D70-973C-0516B81A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B261871-3A14-496C-B264-4F55BF4D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02412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Bug 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8E83E4D-2FB2-4F03-9309-82D192C4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02412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Missing coherent modifier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59CCDF-DF0B-4ED6-8051-14129A48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Node C read stale count from L0/L1 cache → no task consumption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53A007F-A899-4426-9364-962BBF7B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14300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Fix: Added coherent to all SSBO declarations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0790C4C-92A7-4580-9791-6F17DBF9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80467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EFCA7BF-0E05-40FA-A67A-D4A3B80A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AF907AA-797B-42BB-A5DF-807DB9DB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013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Bug 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9786CC-79D0-4B8C-A0CC-50A691E0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0136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Producer-consumer data race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A7D5353-D7F1-49E9-9B59-E1B002AB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Producer increments count then writes data; consumer reads uninitialized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6E8AC43-5D62-4211-AB2F-56B05908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9202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Fix: Added per-slot payload[5] ready flag protocol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CCC7D63-CD96-4FFA-9473-2F50E603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0"/>
            <a:ext cx="80467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2A883DA-8A92-42BB-9C9A-CC0E76ED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51CEB20-18DF-4DE6-A3F2-D58F0BD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7860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8B5CF6"/>
                </a:solidFill>
                <a:latin typeface="Consolas"/>
                <a:ea typeface="Consolas"/>
                <a:cs typeface="Consolas"/>
              </a:rPr>
              <a:t>Bug 3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7E1B45E-E3A5-4D04-BC87-BBA128C9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57860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Plain store cross-CU unreliable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96C98F2-3F04-4D3F-A5C2-02159481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3464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Plain store of ready flag not visible </a:t>
            </a: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across CUs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844CE61-3BFA-429A-ABED-4206AE5C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69748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Fix: All ready flags use atomicExchange / atomicCompSwap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3024640-4A83-48E5-8227-EC4EB041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290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Memory Visibility: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48640" y="3749040"/>
          <a:ext xmlns:a="http://schemas.openxmlformats.org/drawingml/2006/main" cx="8046720" cy="1097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  <a:gridCol w="246888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Same WF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Same CU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Cross-CU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Plain load/store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</a:rPr>
                        <a:t>~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</a:rPr>
                        <a:t>✘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</a:rPr>
                        <a:t>coherent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</a:rPr>
                        <a:t>~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</a:rPr>
                        <a:t>Atomic (CAS/Exch)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DAD5B82-70C1-4D65-AF32-007F514C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17635689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F07B490-D2C9-4127-A9ED-233C179E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Koch Snowflake Algorithm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193625-515D-4DF8-81AA-70B92F5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626DEF6-2A42-4311-8CC2-8D3828A2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156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Subdivision Rule: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0C27823-25B5-4B80-A1AA-D77AEB4D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384048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Each edge P1→P2 splits into 4 sub-edges:
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6B6D4"/>
                </a:solidFill>
                <a:latin typeface="Consolas"/>
                <a:ea typeface="Consolas"/>
                <a:cs typeface="Consolas"/>
              </a:rPr>
              <a:t>  P1 → A → C → B → P2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
A, B = 1/3, 2/3 points along P1P2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C = apex point, rotated +60° from A
</a:t>
            </a:r>
          </a:p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
Growth: 3 × 4^depth edges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  depth=4: 768 edges (1,536 vertices)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  depth=6: 12,288 edges (24,576 vertices)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7BD58F6-766F-4115-8759-16F3EC0B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515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Node B: Subdivision Core: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7CCED1A-8BB6-4440-AEC1-C3425F3B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71600"/>
            <a:ext cx="420624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C3E44C1-BC71-4084-8092-9CFB40DE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444752"/>
            <a:ext cx="3931920" cy="1956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Koch subdivision: 1 edge -&gt; 4 sub-edges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dx = (x2 - x1) / 3.0;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dy = (y2 - y1) / 3.0;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A = 1/3 point, B = 2/3 point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kax = x1 + dx,   kay = y1 + dy;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kbx = x1 + 2*dx, kby = y1 + 2*dy;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C = apex (rotate +60° from A)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cos60 = 0.5;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sin60 = 0.8660254037844387;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kcx = kax + dx*cos60 - dy*sin60;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kcy = kay + dx*sin60 + dy*cos60;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Push 4 sub-edges (depth+1)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pushQ1(P1→A); pushQ1(A→C);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pushQ1(C→B);  pushQ1(B→P2);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CE4C5A5-4C8A-40B5-98F3-A22622AE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GPU Self-Termination: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FBDF7AC-71B2-4B38-B355-22BA9EFA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50292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9848D0C-CCD2-4021-A9B8-88E0D0A7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2232"/>
            <a:ext cx="475488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Node C: auto-shutdown when all edges processed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uint processed = atomicAdd(control.totalProcessed, 1) + 1;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if (processed &gt;= MAX_DEPTH_EDGES)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atomicExchange(control.stopFlag, 1u);  // all threads exit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E243DCC-BE81-498F-9CFF-3EB8B23B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114800"/>
            <a:ext cx="29260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9749D9A-B38C-488D-AB42-5012D3B2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114800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5CA42D1-6F13-40F4-A2E7-9D00A94E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133088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Current Config (depth=6)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EA1E04D-DFBC-46A9-BFAE-0AF66B25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343400"/>
            <a:ext cx="25603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12,288 edges
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24,576 vertices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B1B9E77-B829-4FB1-BF20-5657E199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6395766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D336741-163C-4D5D-A1CE-41779E1C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Progress &amp; Next Steps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468DF4-293F-4917-AA7F-23689B03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828F465-F90D-49D0-8BE1-5099F677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1560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Completed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70FCB19-8064-480E-907C-1F847078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4114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F882858-E5FD-4608-A341-3E778B8F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13288C6-CF2C-4416-89A5-1921631F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4475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✔ Phase 1-2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86CFBF9-C2A6-4CC7-9527-15762786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45920"/>
            <a:ext cx="3749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Persistent threading, CAS-based queue, CPU monitoring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0905124-9FC0-4A73-B795-CDB22361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4114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E5B04DB-07A4-435D-9B00-16911045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31455D3-5F6B-482B-8715-F593A775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3911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✔ Phase 3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76E393B-81FF-4569-8940-63771C37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749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Node A→B→C pipeline, feedback loop, workgroup roles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695004F-1AD3-44A7-B49B-A472245E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4114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4AEBB19-B999-451A-92D4-A3663FF0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96AD5F4-4B5F-498C-8B5D-022E1FF8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3347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✔ Phase 4.1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0A4D68F-5535-425E-9529-BD1CD2B9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34640"/>
            <a:ext cx="3749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GPU self-termination, per-frame compute+render, windowed display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3D779F1-0120-4418-AD19-2E4C1BCF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4612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Key Achievements: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6260690-DF9A-4807-9BCC-3F3630FE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41148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• Cross-CU atomic sync validated on RDNA 3
</a:t>
            </a:r>
          </a:p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• Zero CPU intervention (GPU self-scheduling)
</a:t>
            </a:r>
          </a:p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• Single dispatch replaces multi-pass pipeline
</a:t>
            </a:r>
          </a:p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• Koch snowflake: deterministic output verified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11A7374-50F7-489E-A2B8-06D310E4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05156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Next: Phase 4.2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B2159BF-EC83-49B0-A556-F53BBD8B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417320"/>
            <a:ext cx="3840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94D0084-766E-49A6-BF60-4BA9B46B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41732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F072FFE-328A-45EF-AF68-2211921A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46304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GPU Timestamp Queries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C8EE9-1241-4696-B845-E0F06FAD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73736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vkCmdWriteTimestamp for compute timing measurement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C3F9609-8960-4AEA-9394-F45784DF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240280"/>
            <a:ext cx="3840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1FB79E1-76BC-4AAD-A38A-981B83F2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24028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FDD392B-7AF6-4608-AAFC-EA10BAB8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28600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CAS Failure Counters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2A491FC-6195-4EC4-A03B-0AB4C6A4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56032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Quantify atomic contention &amp; scheduling overhead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F261548-01F9-490C-B76B-D004A46F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063240"/>
            <a:ext cx="3840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B8F7E6F-7FE5-47D2-86BB-7FF57B27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06324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AA548DA-7636-4947-A2F9-E62FE227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10896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LDS Queues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C9E3246-F1B7-4C3B-B77B-1B8B13A3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38328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Intra-workgroup shared memory (10-100× latency reduction)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ED998FD-51E5-4CFF-A551-60142131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886200"/>
            <a:ext cx="3840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1573C68D-D20E-49BA-B671-BC79C6C1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88620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BFECC63-9250-4933-913A-EB6345A9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93192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Subgroup Optimization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7774C9B-5AB6-49BD-8863-ABA98CA6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20624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ballot/shuffle for RDNA3 occupancy tuning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E62236CA-57E3-4CAB-8E62-4CC37E8B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88636"/>
            <a:ext cx="91440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16C5F5BC-5841-4211-9F84-22EB21E2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20329009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32E3A5-6E00-479E-A8FA-5F5E42A6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803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Evaluation -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75E82-79AD-439E-AB38-1AF8056A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8D3D1-5A80-4361-9405-F702F621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03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D3D12 provenance aligned locally to the same Koch snowflake recursion workload.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489FF-CCD1-4AD3-AF4B-86DEAF47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52975"/>
            <a:ext cx="91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9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BB616-C439-4A86-97E7-38AE3B67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304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A49C5-DADF-4084-BB5D-0E410259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1A0D5-E7B2-4524-B3E3-89E5CEF7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</a:defRPr>
            </a:pPr>
            <a:r>
              <a:rPr sz="975" b="1">
                <a:solidFill>
                  <a:srgbClr val="06B6D4"/>
                </a:solidFill>
              </a:rPr>
              <a:t>Baseline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76A6F-32FB-4372-AAAC-4866EB89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957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GPUOpen WorkGraphPlayground</a:t>
            </a:r>
          </a:p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https://github.com/GPUOpen-LibrariesAndSDKs/WorkGraphPlayground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15BCF-2647-4EAA-8088-4DE6DCD0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8E622-D259-45AF-AB19-B80332A9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1A289-B185-401E-8717-08F43E67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Local Alignment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61F09-0641-4D55-920E-E6634FFB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303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Local clone: C:\CGV\Projects\D3DWorkgraph\workgraph_snowflake</a:t>
            </a:r>
          </a:p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Adjusted to match the snowflake evaluation workload before comparison.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15420-347A-45E9-B25A-CA038692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E3592E-30B3-4CE7-9640-F2B26EA4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C959A-F9D6-478E-AD38-0F5BDCEE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B981"/>
                </a:solidFill>
              </a:defRPr>
            </a:pPr>
            <a:r>
              <a:rPr sz="975" b="1">
                <a:solidFill>
                  <a:srgbClr val="10B981"/>
                </a:solidFill>
              </a:rPr>
              <a:t>Reference Shader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6F54E-EC02-4A4A-BA50-92FD36EC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tutorials/tutorial-4/Recursion.hlsl</a:t>
            </a:r>
          </a:p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Used as the aligned recursion / snowflake baseline inside the local clone.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2788E-74F1-4048-A73C-CF8C1768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162050"/>
            <a:ext cx="48006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7a6dfdf2b4ac5"/>
          <a:srcRect xmlns:a="http://schemas.openxmlformats.org/drawingml/2006/main" l="0" t="119" r="0" b="1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5250" y="12763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0BA76-C665-4E06-83B9-60EFB71A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Aligned tutorial-4 snowflake capture from the local WorkGraphPlayground clone.</a:t>
            </a:r>
          </a:p>
        </p:txBody>
      </p:sp>
    </p:spTree>
    <p:extLst>
      <p:ext uri="{BB962C8B-B14F-4D97-AF65-F5344CB8AC3E}">
        <p14:creationId xmlns:p14="http://schemas.microsoft.com/office/powerpoint/2010/main" val="12240323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6320EF-63A9-4A9F-8DF2-F28D4E94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803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Evaluation -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B3BBD-BE83-48E4-8794-E9E8B5E9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7BFCA-460C-49CA-B8B7-FE7FD86E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03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Summary from monthly_report_0424_profile_result.md with FPS kept as secondary callouts.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C3FAC-81F5-46C0-8315-9FA38ADD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52975"/>
            <a:ext cx="91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10 / 12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552450" y="1162050"/>
          <a:ext xmlns:a="http://schemas.openxmlformats.org/drawingml/2006/main" cx="80391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524000"/>
                <a:gridCol w="2047875"/>
                <a:gridCol w="2047875"/>
              </a:tblGrid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825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06B6D4"/>
                          </a:solidFill>
                        </a:rPr>
                        <a:t>FPS (Hz)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59E0B"/>
                          </a:solidFill>
                        </a:rPr>
                        <a:t>Frame duration (us)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59E0B"/>
                          </a:solidFill>
                        </a:rPr>
                        <a:t>Compute duration (us)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wg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6,920.1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144.507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34.791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pt-96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298.6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3,349.001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3,174.813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wg8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6,157.8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162.397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50.183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pt8-96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19.5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51,407.951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51,078.034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pt8-96x32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6.5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153,038.548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94A3B8"/>
                          </a:solidFill>
                        </a:rPr>
                        <a:t>N/A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pt8-96x32-reverse-worker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6.3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157,964.844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94A3B8"/>
                          </a:solidFill>
                        </a:rPr>
                        <a:t>N/A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2DEA4-2AD1-4427-804F-9E267D86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7025"/>
            <a:ext cx="4953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4598E-7EA6-44E7-856F-43272248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Frame vs compute duration (us)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85800" y="3124200"/>
          <a:ext xmlns:a="http://schemas.openxmlformats.org/drawingml/2006/main" cx="4686300" cy="1162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c45349ab0c46a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2E327-7476-4E79-86C8-9221D2FD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67025"/>
            <a:ext cx="2895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41786-2CC9-49CA-8C56-C157BBF1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527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FPS 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5745D-DCB7-49F7-9677-536228A1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43250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0B948-751A-418A-B0E2-B249466E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43250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DB399-F4DF-4791-8FCB-363C4C89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19450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wg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16182-9E29-4DC9-908C-BF34303C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24225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6,920.1 Hz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39674-7E68-4B36-96F6-46ECCEF0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43250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69655-0733-4407-B365-BE2E6C3F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43250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C2635-5B1B-4E47-87AA-56084BE1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pt-96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ECE93-732A-4E42-BB7C-C8662AE5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24225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298.6 Hz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AD304-3FBF-4061-A855-E3D70C99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90925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9FA724-C8C3-4406-9D33-86785998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90925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9DFB4-AE16-4A12-B3A7-0E81955A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6712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wg8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C24785-3C56-4036-90EB-6F7423D5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71900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6,157.8 Hz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FABEF-4DD0-4F9E-B7BD-F8AEF6BB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90925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A26948-D379-434D-A1A8-F3142AC8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90925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89663B-6F37-48A0-85C9-83B7D094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6712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pt8-96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17146B-319B-4829-B570-9CA29BA0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71900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19.5 Hz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49C2AB-5538-4551-BB34-BB9FA62E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38600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E287A1-2A21-4244-BB8A-0395B08C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38600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E499A1-CD24-451C-BD05-5A766EEA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14800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pt8-96x32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33D676-A181-4BDB-B165-70FFCB60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9575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6.5 Hz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C42EEA-4E4E-42F9-848E-BA43A41C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38600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904DFF-BC41-46E3-86EB-29784EF5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38600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D4F3A3-AB77-4754-9EF0-9F727871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14800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pt8-96x32-rw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963AA0-FAB8-430D-B290-F1A7C265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19575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6.3 Hz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DB7459-A15B-4661-9250-E8DC37AE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803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Compute duration comes from the selected-compute Duration field.</a:t>
            </a:r>
          </a:p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pt8-96x32 and pt8-96x32-reverse-worker have no compute-duration entry in monthly_report_0424_profile_result.md.</a:t>
            </a:r>
          </a:p>
        </p:txBody>
      </p:sp>
    </p:spTree>
    <p:extLst>
      <p:ext uri="{BB962C8B-B14F-4D97-AF65-F5344CB8AC3E}">
        <p14:creationId xmlns:p14="http://schemas.microsoft.com/office/powerpoint/2010/main" val="1007046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0C6CD4-F8F4-4E0A-BDEB-02CA1D16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803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Evaluation - Wavefront (WorkGraphPlayground)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0719F-918B-4402-B58B-F41D9108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FA28D-4E6D-494F-939F-D36E3DA8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03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Depth 8 wavefront capture from the aligned D3D12 baseline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E9B4D-6BC1-4BA9-A131-E17130B2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52975"/>
            <a:ext cx="91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11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04004-E1CB-48DE-8ABA-4E4D198C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0391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D0D8A-3820-40BF-9F17-E10FD514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76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7b71d89eb46ee"/>
          <a:srcRect xmlns:a="http://schemas.openxmlformats.org/drawingml/2006/main" l="14662" t="0" r="146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276350"/>
            <a:ext cx="7734300" cy="3009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710E8-9AD5-4EEC-B56A-2C183EC6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803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Matched crop and scale, image-16.png: wavefront - depth 8.</a:t>
            </a:r>
          </a:p>
        </p:txBody>
      </p:sp>
    </p:spTree>
    <p:extLst>
      <p:ext uri="{BB962C8B-B14F-4D97-AF65-F5344CB8AC3E}">
        <p14:creationId xmlns:p14="http://schemas.microsoft.com/office/powerpoint/2010/main" val="2539767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87FD2A-8708-443F-83E4-B4A23C61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803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Evaluation - Wavefront (Vulkan Persistent Thread)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535EC-3BF7-464A-8E90-B7DB7544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C8DBE-E191-4584-8F49-45A9A2FD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03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Depth 8 / 3072-group wavefront capture from the Vulkan persistent-thread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6CFE8-7199-4C83-BF93-8E07E0E7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52975"/>
            <a:ext cx="91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12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BBC47-BB9D-4C46-8631-E946BDF3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0391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AE761-30C6-472C-85EB-16667233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76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553e39ee14478"/>
          <a:srcRect xmlns:a="http://schemas.openxmlformats.org/drawingml/2006/main" l="14308" t="0" r="143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276350"/>
            <a:ext cx="7734300" cy="3009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8793D-9A9D-4161-B235-C38BE5E2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803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Matched crop and scale, image-18.png: depth 8, 3072 group, wavefront.</a:t>
            </a:r>
          </a:p>
        </p:txBody>
      </p:sp>
    </p:spTree>
    <p:extLst>
      <p:ext uri="{BB962C8B-B14F-4D97-AF65-F5344CB8AC3E}">
        <p14:creationId xmlns:p14="http://schemas.microsoft.com/office/powerpoint/2010/main" val="130187738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2026-04-23T17:44:27.3520000Z</dcterms:created>
  <dcterms:modified xsi:type="dcterms:W3CDTF">2026-04-23T17:44:27.3520000Z</dcterms:modified>
</coreProperties>
</file>