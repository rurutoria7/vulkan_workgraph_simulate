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6" r:id="rId11"/>
    <p:sldId id="269" r:id="rId12"/>
    <p:sldId id="267" r:id="rId13"/>
    <p:sldId id="268" r:id="rId14"/>
    <p:sldId id="270" r:id="rId15"/>
    <p:sldId id="271" r:id="rId16"/>
    <p:sldId id="272" r:id="rId17"/>
    <p:sldId id="273" r:id="rId18"/>
    <p:sldId id="275" r:id="rId19"/>
    <p:sldId id="277" r:id="rId20"/>
    <p:sldId id="278" r:id="rId21"/>
    <p:sldId id="279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73" autoAdjust="0"/>
    <p:restoredTop sz="94610"/>
  </p:normalViewPr>
  <p:slideViewPr>
    <p:cSldViewPr snapToGrid="0" snapToObjects="1">
      <p:cViewPr varScale="1">
        <p:scale>
          <a:sx n="165" d="100"/>
          <a:sy n="165" d="100"/>
        </p:scale>
        <p:origin x="1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TW"/>
  <c:roundedCorners val="0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Frame duration</c:v>
                </c:pt>
              </c:strCache>
            </c:strRef>
          </c:tx>
          <c:spPr>
            <a:solidFill>
              <a:srgbClr val="06B6D4"/>
            </a:solidFill>
            <a:ln w="7144">
              <a:solidFill>
                <a:srgbClr val="06B6D4"/>
              </a:solidFill>
              <a:prstDash val="solid"/>
            </a:ln>
          </c:spPr>
          <c:invertIfNegative val="1"/>
          <c:cat>
            <c:strRef>
              <c:f>Sheet1!$A$2:$A$7</c:f>
              <c:strCache>
                <c:ptCount val="6"/>
                <c:pt idx="0">
                  <c:v>wg</c:v>
                </c:pt>
                <c:pt idx="1">
                  <c:v>pt-96</c:v>
                </c:pt>
                <c:pt idx="2">
                  <c:v>wg8</c:v>
                </c:pt>
                <c:pt idx="3">
                  <c:v>pt8-96</c:v>
                </c:pt>
                <c:pt idx="4">
                  <c:v>pt8-96x32</c:v>
                </c:pt>
                <c:pt idx="5">
                  <c:v>pt8-96x32-rw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144.50700000000001</c:v>
                </c:pt>
                <c:pt idx="1">
                  <c:v>3349.0010000000002</c:v>
                </c:pt>
                <c:pt idx="2">
                  <c:v>162.39699999999999</c:v>
                </c:pt>
                <c:pt idx="3">
                  <c:v>51407.951000000001</c:v>
                </c:pt>
                <c:pt idx="4">
                  <c:v>153038.54800000001</c:v>
                </c:pt>
                <c:pt idx="5">
                  <c:v>157964.84400000001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7144">
                    <a:solidFill>
                      <a:srgbClr val="06B6D4"/>
                    </a:solidFill>
                    <a:prstDash val="solid"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CC85-460A-9B90-8FA3DA0590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600">
                <a:solidFill>
                  <a:srgbClr val="F1F5F9"/>
                </a:solidFill>
                <a:latin typeface="Calibri"/>
                <a:ea typeface="Calibri"/>
                <a:cs typeface="Calibri"/>
              </a:defRPr>
            </a:pPr>
            <a:endParaRPr lang="zh-TW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legend>
      <c:legendPos val="t"/>
      <c:overlay val="0"/>
      <c:txPr>
        <a:bodyPr anchorCtr="1"/>
        <a:lstStyle/>
        <a:p>
          <a:pPr>
            <a:defRPr sz="750">
              <a:solidFill>
                <a:srgbClr val="F1F5F9"/>
              </a:solidFill>
              <a:latin typeface="Calibri"/>
              <a:ea typeface="Calibri"/>
              <a:cs typeface="Calibri"/>
            </a:defRPr>
          </a:pPr>
          <a:endParaRPr lang="zh-TW"/>
        </a:p>
      </c:txPr>
    </c:legend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18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provenance and alignment context.</a:t>
            </a:r>
          </a:p>
          <a:p>
            <a:r>
              <a:t>Sources:</a:t>
            </a:r>
          </a:p>
          <a:p>
            <a:r>
              <a:t>- https://github.com/GPUOpen-LibrariesAndSDKs/WorkGraphPlayground</a:t>
            </a:r>
          </a:p>
          <a:p>
            <a:r>
              <a:t>- C:\CGV\Projects\D3DWorkgraph\workgraph_snowflake</a:t>
            </a:r>
          </a:p>
          <a:p>
            <a:r>
              <a:t>- tutorials/tutorial-4/Recursion.hlsl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Profile comparison data used on this slide.</a:t>
            </a:r>
          </a:p>
          <a:p>
            <a:r>
              <a:t>Source:</a:t>
            </a:r>
          </a:p>
          <a:p>
            <a:r>
              <a:t>- C:\CGV\Projects\D3DWorkgraph\workgraph_vulkan_poc\monthly_report_0424_profile_result.md</a:t>
            </a:r>
          </a:p>
          <a:p>
            <a:r>
              <a:t>Compute duration is unavailable for pt8-96x32 and pt8-96x32-reverse-worker.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- Wavefront (WorkGraphPlayground)</a:t>
            </a:r>
          </a:p>
          <a:p>
            <a:r>
              <a:t>Image: C:\CGV\Projects\D3DWorkgraph\workgraph_vulkan_poc\image-16.png</a:t>
            </a:r>
          </a:p>
          <a:p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- Wavefront (WorkGraphPlayground)</a:t>
            </a:r>
          </a:p>
          <a:p>
            <a:r>
              <a:t>Image: C:\CGV\Projects\D3DWorkgraph\workgraph_vulkan_poc\image-16.png</a:t>
            </a:r>
          </a:p>
          <a:p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94526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- Wavefront (WorkGraphPlayground)</a:t>
            </a:r>
          </a:p>
          <a:p>
            <a:r>
              <a:t>Image: C:\CGV\Projects\D3DWorkgraph\workgraph_vulkan_poc\image-16.png</a:t>
            </a:r>
          </a:p>
          <a:p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176410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- Wavefront (WorkGraphPlayground)</a:t>
            </a:r>
          </a:p>
          <a:p>
            <a:r>
              <a:t>Image: C:\CGV\Projects\D3DWorkgraph\workgraph_vulkan_poc\image-16.png</a:t>
            </a:r>
          </a:p>
          <a:p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48374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Evaluation - Wavefront (WorkGraphPlayground)</a:t>
            </a:r>
          </a:p>
          <a:p>
            <a:r>
              <a:t>Image: C:\CGV\Projects\D3DWorkgraph\workgraph_vulkan_poc\image-16.png</a:t>
            </a:r>
          </a:p>
          <a:p>
            <a:r>
              <a:t>Matched crop and scale, image-16.png: wavefront - depth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152912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292A2B-EDC6-42F6-8A7B-E4B591FE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4D6C77F-0E5B-49AB-B16D-F29CA6434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724270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8908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563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668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PUOpen-LibrariesAndSDKs/WorkGraphPlayground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Vulkan Persistent Thread</a:t>
            </a:r>
            <a:endParaRPr lang="en-US" sz="3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Network POC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 Work Graphs Monthly </a:t>
            </a: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</a:t>
            </a:r>
            <a:r>
              <a:rPr lang="en-US" sz="18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0424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48920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45719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11118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4558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 </a:t>
            </a: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D3D12 Work Graph analogue</a:t>
            </a: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Vulkan using persistent compute shaders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8920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377440"/>
            <a:ext cx="45719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423160"/>
            <a:ext cx="11118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743200"/>
            <a:ext cx="4558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key considerations during design</a:t>
            </a:r>
          </a:p>
          <a:p>
            <a:pPr marL="0" indent="0">
              <a:buNone/>
            </a:pPr>
            <a:r>
              <a:rPr lang="en-US" altLang="zh-CN" sz="13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basic evaluation</a:t>
            </a:r>
            <a:endParaRPr lang="en-US" sz="1300">
              <a:solidFill>
                <a:srgbClr val="F1F5F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4892040" cy="10058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566160"/>
            <a:ext cx="45719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11880"/>
            <a:ext cx="111182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4558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Snowflake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fractal generation + real-time rendering</a:t>
            </a:r>
            <a:r>
              <a:rPr lang="en-US" sz="13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Recursive </a:t>
            </a: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 workload: 1 edge → 4 sub-edges per level</a:t>
            </a:r>
            <a:endParaRPr lang="en-US" sz="1300" dirty="0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E2D967F1-24E1-4AA2-8B53-217465D6F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98" y="1048098"/>
            <a:ext cx="3284222" cy="34206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13716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(CPU)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53160" y="16779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486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99773" y="21002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10" name="Shape 8"/>
          <p:cNvSpPr/>
          <p:nvPr/>
        </p:nvSpPr>
        <p:spPr>
          <a:xfrm>
            <a:off x="2286000" y="205740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8600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19913" y="20962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13" name="Shape 11"/>
          <p:cNvSpPr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(Subdivide)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↺ feedback (depth &lt; MAX)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13495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17" name="Shape 15"/>
          <p:cNvSpPr/>
          <p:nvPr/>
        </p:nvSpPr>
        <p:spPr>
          <a:xfrm>
            <a:off x="5394960" y="2057400"/>
            <a:ext cx="731520" cy="4572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53949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97917" y="211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→</a:t>
            </a:r>
          </a:p>
        </p:txBody>
      </p:sp>
      <p:sp>
        <p:nvSpPr>
          <p:cNvPr id="20" name="Shape 18"/>
          <p:cNvSpPr/>
          <p:nvPr/>
        </p:nvSpPr>
        <p:spPr>
          <a:xfrm>
            <a:off x="6492240" y="1965960"/>
            <a:ext cx="1371600" cy="64008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19659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(Write VB)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97078" y="26289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</p:txBody>
      </p:sp>
      <p:sp>
        <p:nvSpPr>
          <p:cNvPr id="23" name="Shape 21"/>
          <p:cNvSpPr/>
          <p:nvPr/>
        </p:nvSpPr>
        <p:spPr>
          <a:xfrm>
            <a:off x="6035040" y="2926080"/>
            <a:ext cx="182880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603504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Buffer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Per-Frame Command Buffer Flow: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804672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685800" y="3959352"/>
            <a:ext cx="777240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buildCommandBuffers() - per frame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vkCmdFillBuffer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(cmd, controlBuf, ...);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      // 1. GPU Reset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vkCmdFillBuffer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(cmd, q1Buf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q2Buf, ...);</a:t>
            </a:r>
          </a:p>
          <a:p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vkCmdPipelineBarrier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(...TRANSFER → COMPUTE);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// 2. Barrier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vkCmdDispatch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(cmd,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96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               // 3. Compute (3072 threads)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vkCmdPipelineBarrier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(...COMPUTE → VERTEX);   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4. Barrier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vkCmdDraw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(cmd,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24576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             // 5. Render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C78F7516-B23D-4AFE-8079-CC632C1C8753}"/>
              </a:ext>
            </a:extLst>
          </p:cNvPr>
          <p:cNvSpPr/>
          <p:nvPr/>
        </p:nvSpPr>
        <p:spPr>
          <a:xfrm>
            <a:off x="4114800" y="2926080"/>
            <a:ext cx="155448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5225FBBB-004E-4308-AF44-36D2DB19B9B5}"/>
              </a:ext>
            </a:extLst>
          </p:cNvPr>
          <p:cNvSpPr/>
          <p:nvPr/>
        </p:nvSpPr>
        <p:spPr>
          <a:xfrm>
            <a:off x="4114800" y="29260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Graphics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Display</a:t>
            </a:r>
            <a:endParaRPr lang="en-US" sz="1000" dirty="0"/>
          </a:p>
        </p:txBody>
      </p:sp>
      <p:sp>
        <p:nvSpPr>
          <p:cNvPr id="35" name="Text 23">
            <a:extLst>
              <a:ext uri="{FF2B5EF4-FFF2-40B4-BE49-F238E27FC236}">
                <a16:creationId xmlns:a16="http://schemas.microsoft.com/office/drawing/2014/main" id="{A484865C-3933-4D85-99A3-560D2CA1982E}"/>
              </a:ext>
            </a:extLst>
          </p:cNvPr>
          <p:cNvSpPr/>
          <p:nvPr/>
        </p:nvSpPr>
        <p:spPr>
          <a:xfrm>
            <a:off x="5749925" y="2978785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sz="1600" b="0" i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←</a:t>
            </a:r>
          </a:p>
        </p:txBody>
      </p:sp>
      <p:pic>
        <p:nvPicPr>
          <p:cNvPr id="31" name="Picture 2" descr="construction">
            <a:extLst>
              <a:ext uri="{FF2B5EF4-FFF2-40B4-BE49-F238E27FC236}">
                <a16:creationId xmlns:a16="http://schemas.microsoft.com/office/drawing/2014/main" id="{E56B3879-53A5-4C73-8185-259446871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3440" y="321031"/>
            <a:ext cx="1117600" cy="103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Thread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375952"/>
              </p:ext>
            </p:extLst>
          </p:nvPr>
        </p:nvGraphicFramePr>
        <p:xfrm>
          <a:off x="548640" y="1097280"/>
          <a:ext cx="8046720" cy="1019175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3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8B5CF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</a:t>
                      </a:r>
                      <a:r>
                        <a:rPr lang="en-US" sz="100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/ </a:t>
                      </a: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 → Q1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 0 seeds 3 edges, then all do Node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1–71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→ Q1 / Q2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Q1, subdivide, push back Q1 or forward Q2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36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WG 72–95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→ VB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 Q2, write vertices, count → stopFlag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0904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dispatch: vkCmdDispatch(96, 1, 1) = 96 WG × 32 threads = 3,072 persistent threads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48285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Shader Main Loop Structure: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757170"/>
            <a:ext cx="8046720" cy="23291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85800" y="2829524"/>
            <a:ext cx="7772400" cy="218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wgId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gl_WorkGroupID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localId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gl_LocalInvocationID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(wgId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&amp;&amp;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localId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(control.seedDone,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/* ...*/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/* ...*/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/* ...*/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  /* ...*/</a:t>
            </a: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stopFlag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(wgId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NODE_C_START) {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/* Node B */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                    {</a:t>
            </a: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/* Node C */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</a:t>
            </a: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Mechanism (mutex-free)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972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Buffer 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32004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QueueControl: head / tail / count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payload[6] (4×float + depth + ready)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Push Protocol: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 count (reserve slot)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2</a:t>
            </a: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atomicAdd tail (get slot 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Write payload[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0–4]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memoryBarrierBuffer()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atomicExchange(ready, 1)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Pop Protocol:
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CAS count (claim 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atomicAdd head (get 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Spin: atomicCompSwap(ready,</a:t>
            </a:r>
            <a:r>
              <a:rPr lang="en-US" sz="10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1,0)</a:t>
            </a:r>
            <a:endParaRPr lang="en-US" sz="1100" dirty="0"/>
          </a:p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Read payload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023360" y="1097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pushQ1() Implementation: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1417320"/>
            <a:ext cx="4754880" cy="3429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4160520" y="1490472"/>
            <a:ext cx="4480560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p1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p3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p4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stopFlag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cur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control.q1.count;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(cur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QUEUE_SIZE) {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// CAS: reserve a slot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(control.q1.count,</a:t>
            </a:r>
            <a:r>
              <a:rPr lang="en-US" altLang="zh-TW" sz="800">
                <a:solidFill>
                  <a:srgbClr val="BBBEB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cur, cur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cur) {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slot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atomicAdd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(control.q1.tail,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QUEUE_SIZE;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// Write payload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queue1.tasks[slot].payload[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p0;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queue1.tasks[slot].payload[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p1;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queue1.tasks[slot].payload[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p2;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queue1.tasks[slot].payload[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p3;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queue1.tasks[slot].payload[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8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p4;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memoryBarrierBuffer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8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        // Signal ready (atomic!)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atomicExchange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(queue1.tasks[slot].payload[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TW" sz="8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}</a:t>
            </a: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TW" sz="8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8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altLang="zh-TW" sz="8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8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Cross-Workgroup Memory Sync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7772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1316736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1316736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3350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59E0B"/>
                </a:solidFill>
                <a:latin typeface="Consolas" pitchFamily="34" charset="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1335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Producer-consumer data race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159105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increments count then writes data; consumer reads uninitialized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69280" y="145389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per-slot payload[5] </a:t>
            </a:r>
            <a:r>
              <a:rPr lang="en-US" sz="90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flag protocol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093976"/>
            <a:ext cx="8046720" cy="6858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093976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1122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17320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store cross-CU unreliable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3682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store of ready flag not visible </a:t>
            </a:r>
            <a:r>
              <a:rPr lang="en-US" sz="90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CUs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0" y="2231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All ready flags use atomicExchange / atomicCompSwap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Visibility: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402622"/>
              </p:ext>
            </p:extLst>
          </p:nvPr>
        </p:nvGraphicFramePr>
        <p:xfrm>
          <a:off x="548640" y="3749040"/>
          <a:ext cx="8046720" cy="10972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WF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4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load/store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TW" sz="1200" b="1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altLang="zh-TW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coherent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Atomic (CAS/Exch)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E74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Snowflake Algorithm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Subdivision Rule: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Each edge P1-&gt;P2 splits into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sub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edges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P1 -&gt; A -&gt; C -&gt; B -&gt; P2</a:t>
            </a: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A, B 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points along P1P2</a:t>
            </a: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 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apex point, rotated 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deg from A</a:t>
            </a: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Growth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^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depth edges</a:t>
            </a:r>
          </a:p>
          <a:p>
            <a:r>
              <a:rPr lang="en-US" altLang="zh-TW" sz="1050">
                <a:solidFill>
                  <a:srgbClr val="BBBEB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depth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768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edges (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536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vertices)</a:t>
            </a:r>
          </a:p>
          <a:p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  depth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288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edges (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24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576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vertices)</a:t>
            </a:r>
          </a:p>
          <a:p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    depth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196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608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edges (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393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216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vertices)</a:t>
            </a: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097780" y="1051560"/>
            <a:ext cx="36804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B: Subdivision Core: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97780" y="1371599"/>
            <a:ext cx="3680460" cy="2446021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200650" y="1444752"/>
            <a:ext cx="344043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Koch subdivision: 1 edge -&gt; 4 sub-edges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(x2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x1)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(y2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y1)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3.0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A = 1/3 point, B = 2/3 point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kax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x1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dx,       kay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y1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dy;</a:t>
            </a: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kbx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x1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dx, kby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y1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dy;</a:t>
            </a: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C = apex (shader orientation)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cos60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sin60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0.8660254037844387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kcx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kax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cos60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sin60;</a:t>
            </a: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kcy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kay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dx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sin60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dy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cos60;</a:t>
            </a: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Push 4 sub-edges (depth+1)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(P1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(A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(B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-&gt;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P2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Self-Termination: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069080"/>
            <a:ext cx="8229600" cy="8001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142232"/>
            <a:ext cx="475488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Node C: auto-shutdown when all edges processed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processed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atomicAdd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control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totalProcessed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(processed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MAX_DEPTH_EDGES) 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atomicExchange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(control.stopFlag,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  // all threads exit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7" name="Picture 2" descr="construction">
            <a:extLst>
              <a:ext uri="{FF2B5EF4-FFF2-40B4-BE49-F238E27FC236}">
                <a16:creationId xmlns:a16="http://schemas.microsoft.com/office/drawing/2014/main" id="{93E2E0BB-79C4-4797-8B27-B0E790F14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6268" y="1794509"/>
            <a:ext cx="861432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GPU-side termination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330032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2"/>
                </a:solidFill>
                <a:latin typeface="Calibri"/>
              </a:rPr>
              <a:t>Completion is decided by Node C using a global processed-edge counter.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16362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headless.comp:153-160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36402"/>
            <a:ext cx="4114800" cy="1696105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73562"/>
            <a:ext cx="3903633" cy="14773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base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atomicAdd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(control.vertexCount,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output_vb.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[base]    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(x1, y1);</a:t>
            </a:r>
          </a:p>
          <a:p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output_vb.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vertices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[base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vec2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(x2, y2);</a:t>
            </a: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processed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atomicAdd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(control.totalProcessed,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(processed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MAX_DEPTH_EDGES) 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atomicExchange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(control.stopFlag,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7760" y="1316362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316362"/>
            <a:ext cx="54864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389514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63834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The GPU terminates itself after the expected number of output edges.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523370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2523370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59652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7084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>
                <a:solidFill>
                  <a:srgbClr val="F1F5F9"/>
                </a:solidFill>
                <a:latin typeface="Calibri"/>
              </a:rPr>
              <a:t>Fail </a:t>
            </a:r>
            <a:r>
              <a:rPr sz="1200" b="0">
                <a:solidFill>
                  <a:srgbClr val="F1F5F9"/>
                </a:solidFill>
                <a:latin typeface="Calibri"/>
              </a:rPr>
              <a:t>if MAX_DEPTH_EDGES or workload shape is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730378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3730378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80353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Calibri"/>
              </a:rPr>
              <a:t>Possible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77850"/>
            <a:ext cx="33741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Add queue-drain or in-flight accounting as a second termination condition.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94320"/>
            <a:ext cx="2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Risk &amp; Mitigation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Static role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627916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2"/>
                </a:solidFill>
                <a:latin typeface="Calibri"/>
              </a:rPr>
              <a:t>Workgroup ID hard-partitions producer and consumer roles.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3330"/>
            <a:ext cx="363323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chemeClr val="bg2"/>
                </a:solidFill>
                <a:latin typeface="Calibri"/>
              </a:rPr>
              <a:t>workgraph_poc.cpp:12-13, headless.comp:92-138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63370"/>
            <a:ext cx="4114800" cy="2168485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00530"/>
            <a:ext cx="371856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TW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NUM_WORKGROUPS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96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TW" sz="105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NODE_C_START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72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(control.stopFlag 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5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(wgId </a:t>
            </a:r>
            <a:r>
              <a:rPr lang="en-US" altLang="zh-TW" sz="105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NODE_C_START) {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NODE B: Subdivider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zh-TW" sz="105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{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05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NODE C: Writer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5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05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105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7760" y="1243330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243330"/>
            <a:ext cx="54864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31648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590802"/>
            <a:ext cx="3291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Current role split is fixed: 72 workgroups for subdivision, 24 for output writes.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50338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2450338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52349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97810"/>
            <a:ext cx="3474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Fixed B/C ratio can become imbalanced when queue pressure changes.</a:t>
            </a:r>
            <a:endParaRPr lang="en-US" sz="1200" b="0">
              <a:solidFill>
                <a:srgbClr val="F1F5F9"/>
              </a:solidFill>
              <a:latin typeface="Calibri"/>
            </a:endParaRPr>
          </a:p>
          <a:p>
            <a:r>
              <a:rPr lang="en-US" sz="1200" b="0">
                <a:solidFill>
                  <a:srgbClr val="F1F5F9"/>
                </a:solidFill>
                <a:latin typeface="Calibri"/>
              </a:rPr>
              <a:t>Role switching </a:t>
            </a:r>
            <a:r>
              <a:rPr lang="en-US" sz="1200">
                <a:solidFill>
                  <a:srgbClr val="F1F5F9"/>
                </a:solidFill>
                <a:latin typeface="Calibri"/>
                <a:sym typeface="Wingdings" panose="05000000000000000000" pitchFamily="2" charset="2"/>
              </a:rPr>
              <a:t> Cache Utilization</a:t>
            </a:r>
            <a:endParaRPr lang="en-US" sz="12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37760" y="3657346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3657346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73049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Calibri"/>
              </a:rPr>
              <a:t>Possible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04818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>
                <a:solidFill>
                  <a:srgbClr val="F1F5F9"/>
                </a:solidFill>
                <a:latin typeface="Calibri"/>
              </a:rPr>
              <a:t>P</a:t>
            </a:r>
            <a:r>
              <a:rPr sz="1200" b="0">
                <a:solidFill>
                  <a:srgbClr val="F1F5F9"/>
                </a:solidFill>
                <a:latin typeface="Calibri"/>
              </a:rPr>
              <a:t>ressure-driven role switching</a:t>
            </a:r>
            <a:r>
              <a:rPr lang="en-US" sz="1200" b="0">
                <a:solidFill>
                  <a:srgbClr val="F1F5F9"/>
                </a:solidFill>
                <a:latin typeface="Calibri"/>
              </a:rPr>
              <a:t>;</a:t>
            </a:r>
            <a:endParaRPr lang="en-US" sz="1200">
              <a:solidFill>
                <a:srgbClr val="F1F5F9"/>
              </a:solidFill>
              <a:latin typeface="Calibri"/>
            </a:endParaRPr>
          </a:p>
          <a:p>
            <a:r>
              <a:rPr lang="en-US" sz="1200" b="0">
                <a:solidFill>
                  <a:srgbClr val="F1F5F9"/>
                </a:solidFill>
                <a:latin typeface="Calibri"/>
              </a:rPr>
              <a:t>Working item dependencies sensitive </a:t>
            </a:r>
            <a:r>
              <a:rPr lang="en-US" sz="1200">
                <a:solidFill>
                  <a:srgbClr val="F1F5F9"/>
                </a:solidFill>
                <a:latin typeface="Calibri"/>
              </a:rPr>
              <a:t>role switching.</a:t>
            </a:r>
            <a:endParaRPr sz="12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94320"/>
            <a:ext cx="2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Risk &amp; Mitigation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Spin wait risk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509787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2"/>
                </a:solidFill>
                <a:latin typeface="Calibri"/>
              </a:rPr>
              <a:t>Consumers busy-spin on ready flags; cost is identified but not measured in this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headless.comp:99-101, 143-145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4114800" cy="2537817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3840480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Q1 consumer waits for producer publish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1000">
                <a:solidFill>
                  <a:srgbClr val="BBBEB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queue1.</a:t>
            </a:r>
            <a:r>
              <a:rPr lang="en-US" altLang="zh-TW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[slot].</a:t>
            </a:r>
            <a:r>
              <a:rPr lang="en-US" altLang="zh-TW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0u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endParaRPr lang="en-US" altLang="zh-TW" sz="1000" b="0">
              <a:solidFill>
                <a:srgbClr val="C9D1D9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(control.stopFlag </a:t>
            </a:r>
            <a:r>
              <a:rPr lang="en-US" altLang="zh-TW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0u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10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Q2 uses the same ready-flag spin protocol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10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queue2.</a:t>
            </a:r>
            <a:r>
              <a:rPr lang="en-US" altLang="zh-TW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[slot].</a:t>
            </a:r>
            <a:r>
              <a:rPr lang="en-US" altLang="zh-TW" sz="10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0u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(control.stopFlag </a:t>
            </a:r>
            <a:r>
              <a:rPr lang="en-US" altLang="zh-TW" sz="10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0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0u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0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0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10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10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7760" y="1280160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280160"/>
            <a:ext cx="54864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35331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2763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Busy-spin is part of the current correctness-first design.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87168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2487168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56032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34640"/>
            <a:ext cx="3429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Under producer-consumer imbalance, retries may reduce effective throughput before arithmetic saturates.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694176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3694176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76732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Calibri"/>
              </a:rPr>
              <a:t>Possible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41648"/>
            <a:ext cx="3429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>
                <a:solidFill>
                  <a:srgbClr val="F1F5F9"/>
                </a:solidFill>
                <a:latin typeface="Calibri"/>
              </a:rPr>
              <a:t>Wave sleep instructions.</a:t>
            </a:r>
            <a:endParaRPr sz="1200" b="0">
              <a:solidFill>
                <a:srgbClr val="F1F5F9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94320"/>
            <a:ext cx="2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Risk &amp; Mitigation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Fixed-size backing queues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4086375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2"/>
                </a:solidFill>
                <a:latin typeface="Calibri"/>
              </a:rPr>
              <a:t>Queue capacity is fixed and producers spin when no slot is available.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57300"/>
            <a:ext cx="3463320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chemeClr val="bg2"/>
                </a:solidFill>
                <a:latin typeface="Calibri"/>
              </a:rPr>
              <a:t>workgraph_poc.cpp:9-11, headless.comp:29-45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77340"/>
            <a:ext cx="4114800" cy="284988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14500"/>
            <a:ext cx="47548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EXPECTED_EDGES (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3u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&lt;&lt;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2u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MAX_DEPTH)))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altLang="zh-TW" sz="900" b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QUEUE_SIZE EXPECTED_EDGES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bool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pushQ1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(...) 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(control.stopFlag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cur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control.q1.count;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(cur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QUEUE_SIZE) 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900">
                <a:solidFill>
                  <a:srgbClr val="C9D1D9"/>
                </a:solidFill>
                <a:latin typeface="Consolas" panose="020B0609020204030204" pitchFamily="49" charset="0"/>
              </a:rPr>
              <a:t>                    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control.q1.count, cur, cur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cur) 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slot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atomicAdd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  <a:b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                        control.q1.tail,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QUEUE_SIZE;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    ...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    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7760" y="1257300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257300"/>
            <a:ext cx="54864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33045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604772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A global ring buffer backs cross-workgroup producer-consumer handoff.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64308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2464308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53746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796540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chemeClr val="bg2"/>
                </a:solidFill>
                <a:latin typeface="Calibri"/>
              </a:rPr>
              <a:t>Too small increases retries and progress risk;</a:t>
            </a:r>
          </a:p>
          <a:p>
            <a:r>
              <a:rPr sz="1200" b="0">
                <a:solidFill>
                  <a:schemeClr val="bg2"/>
                </a:solidFill>
                <a:latin typeface="Calibri"/>
              </a:rPr>
              <a:t>Too large increases memory footprint</a:t>
            </a:r>
            <a:r>
              <a:rPr lang="en-US" sz="1200" b="0">
                <a:solidFill>
                  <a:schemeClr val="bg2"/>
                </a:solidFill>
                <a:latin typeface="Calibri"/>
              </a:rPr>
              <a:t>.</a:t>
            </a:r>
            <a:endParaRPr sz="1200" b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937760" y="3671316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3671316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74446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Calibri"/>
              </a:rPr>
              <a:t>Possible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18788"/>
            <a:ext cx="33741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chemeClr val="bg2"/>
                </a:solidFill>
                <a:latin typeface="Calibri"/>
              </a:rPr>
              <a:t>Define sizing from worst-case frontier growth</a:t>
            </a:r>
            <a:r>
              <a:rPr lang="en-US" sz="1200" b="0">
                <a:solidFill>
                  <a:schemeClr val="bg2"/>
                </a:solidFill>
                <a:latin typeface="Calibri"/>
              </a:rPr>
              <a:t>.</a:t>
            </a:r>
            <a:endParaRPr sz="1200" b="0">
              <a:solidFill>
                <a:schemeClr val="bg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94320"/>
            <a:ext cx="2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Risk &amp; Mitigation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Atomic queue handoff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378821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chemeClr val="bg2"/>
                </a:solidFill>
                <a:latin typeface="Calibri"/>
              </a:rPr>
              <a:t>Ready flag publishes a slot only after payload writes are visible.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496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headless.comp:33-41, 97-101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69720"/>
            <a:ext cx="4114800" cy="2441448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706880"/>
            <a:ext cx="38404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Producer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(control.q1.count, cur, cur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cur) 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>
                <a:solidFill>
                  <a:srgbClr val="FF7B72"/>
                </a:solidFill>
                <a:effectLst/>
                <a:latin typeface="Consolas" panose="020B0609020204030204" pitchFamily="49" charset="0"/>
              </a:rPr>
              <a:t>uint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slot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atomicAdd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                   control.q1.tail,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%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QUEUE_SIZE;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queue1.tasks[slot].payload[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 p0;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...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memoryBarrierBuffer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();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atomicExchange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(queue1.tasks[slot].payload[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r>
              <a:rPr lang="en-US" altLang="zh-TW" sz="900" b="0">
                <a:solidFill>
                  <a:srgbClr val="8B949E"/>
                </a:solidFill>
                <a:effectLst/>
                <a:latin typeface="Consolas" panose="020B0609020204030204" pitchFamily="49" charset="0"/>
              </a:rPr>
              <a:t>// Consumer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TW" sz="900" b="0">
                <a:solidFill>
                  <a:srgbClr val="D2A8FF"/>
                </a:solidFill>
                <a:effectLst/>
                <a:latin typeface="Consolas" panose="020B0609020204030204" pitchFamily="49" charset="0"/>
              </a:rPr>
              <a:t>atomicCompSwap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US" altLang="zh-TW" sz="900">
                <a:solidFill>
                  <a:srgbClr val="BBBEB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queue1.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tasks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[slot].</a:t>
            </a:r>
            <a:r>
              <a:rPr lang="en-US" altLang="zh-TW" sz="900" b="0">
                <a:solidFill>
                  <a:srgbClr val="FFA657"/>
                </a:solidFill>
                <a:effectLst/>
                <a:latin typeface="Consolas" panose="020B0609020204030204" pitchFamily="49" charset="0"/>
              </a:rPr>
              <a:t>payload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0u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!=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1u</a:t>
            </a:r>
            <a: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900" b="0">
                <a:solidFill>
                  <a:srgbClr val="C9D1D9"/>
                </a:solidFill>
                <a:effectLst/>
                <a:latin typeface="Consolas" panose="020B0609020204030204" pitchFamily="49" charset="0"/>
              </a:rPr>
              <a:t>{ ... }</a:t>
            </a: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TW" sz="900" b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</a:br>
            <a:endParaRPr lang="en-US" altLang="zh-TW" sz="900" b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937760" y="1249680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937760" y="1249680"/>
            <a:ext cx="54864" cy="10058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1322832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6B6D4"/>
                </a:solidFill>
                <a:latin typeface="Calibri"/>
              </a:rPr>
              <a:t>What it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597152"/>
            <a:ext cx="3368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Correctness relies on atomics plus per-slot publish/consume protocol.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2456688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937760" y="2456688"/>
            <a:ext cx="54864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66360" y="2529840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Calibri"/>
              </a:rPr>
              <a:t>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2804160"/>
            <a:ext cx="3368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Global counters and ready flags can become contention hotspots as worker count scales.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663696"/>
            <a:ext cx="3840480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937760" y="3663696"/>
            <a:ext cx="54864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3736848"/>
            <a:ext cx="3474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Calibri"/>
              </a:rPr>
              <a:t>Possible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4011168"/>
            <a:ext cx="33680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1F5F9"/>
                </a:solidFill>
                <a:latin typeface="Calibri"/>
              </a:rPr>
              <a:t>Reduce global atomic pressure with batching, per-WG staging, or LDS/local queues.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94320"/>
            <a:ext cx="22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6B6D4"/>
                </a:solidFill>
              </a:rPr>
              <a:t>Risk &amp; Mitigation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6732E3A5-6E00-479E-A8FA-5F5E42A6DCB0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Evaluation - Baseline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475E82-79AD-439E-AB38-1AF8056A4F16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0D8D3D1-5A80-4361-9405-F702F6218A17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803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94A3B8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D3D12 provenance aligned locally to the same Koch snowflake recursion workload.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2BB616-C439-4A86-97E7-38AE3B67BA65}"/>
              </a:ext>
            </a:extLst>
          </p:cNvPr>
          <p:cNvSpPr>
            <a:spLocks noGrp="1"/>
          </p:cNvSpPr>
          <p:nvPr/>
        </p:nvSpPr>
        <p:spPr>
          <a:xfrm>
            <a:off x="507626" y="1438275"/>
            <a:ext cx="3048000" cy="7429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3A49C5-DADF-4084-BB5D-0E41025913E9}"/>
              </a:ext>
            </a:extLst>
          </p:cNvPr>
          <p:cNvSpPr>
            <a:spLocks noGrp="1"/>
          </p:cNvSpPr>
          <p:nvPr/>
        </p:nvSpPr>
        <p:spPr>
          <a:xfrm>
            <a:off x="507626" y="1438275"/>
            <a:ext cx="57150" cy="74295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31A0D5-E7B2-4524-B3E3-89E5CEF7ED3C}"/>
              </a:ext>
            </a:extLst>
          </p:cNvPr>
          <p:cNvSpPr>
            <a:spLocks noGrp="1"/>
          </p:cNvSpPr>
          <p:nvPr/>
        </p:nvSpPr>
        <p:spPr>
          <a:xfrm>
            <a:off x="698126" y="1552575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06B6D4"/>
                </a:solidFill>
              </a:defRPr>
            </a:pPr>
            <a:r>
              <a:rPr kumimoji="0" lang="en-US" sz="975" b="1" i="0" u="none" strike="noStrike" kern="1200" cap="none" spc="0" normalizeH="0" baseline="0" noProof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GPUOpen WorkGraphPlayground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C276A6F-32FB-4372-AAAC-4866EB891C61}"/>
              </a:ext>
            </a:extLst>
          </p:cNvPr>
          <p:cNvSpPr>
            <a:spLocks noGrp="1"/>
          </p:cNvSpPr>
          <p:nvPr/>
        </p:nvSpPr>
        <p:spPr>
          <a:xfrm>
            <a:off x="698126" y="1800225"/>
            <a:ext cx="2762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4957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0">
                <a:solidFill>
                  <a:srgbClr val="F1F5F9"/>
                </a:solidFill>
              </a:defRPr>
            </a:pPr>
            <a:r>
              <a:rPr kumimoji="0" lang="en-US" sz="938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Calibri"/>
                <a:cs typeface="Calibri"/>
                <a:hlinkClick r:id="rId3"/>
              </a:rPr>
              <a:t>github.com/GPUOpen-LibrariesAndSDKs/WorkGraphPlayground</a:t>
            </a:r>
            <a:endParaRPr kumimoji="0" lang="en-US" sz="938" b="0" i="0" u="none" strike="noStrike" kern="1200" cap="none" spc="0" normalizeH="0" baseline="0" noProof="0">
              <a:ln>
                <a:noFill/>
              </a:ln>
              <a:solidFill>
                <a:srgbClr val="F1F5F9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F15BCF-2647-4EAA-8088-4DE6DCD0F0B3}"/>
              </a:ext>
            </a:extLst>
          </p:cNvPr>
          <p:cNvSpPr>
            <a:spLocks noGrp="1"/>
          </p:cNvSpPr>
          <p:nvPr/>
        </p:nvSpPr>
        <p:spPr>
          <a:xfrm>
            <a:off x="507626" y="2543175"/>
            <a:ext cx="3048000" cy="819150"/>
          </a:xfrm>
          <a:prstGeom prst="rect">
            <a:avLst/>
          </a:prstGeom>
          <a:solidFill>
            <a:srgbClr val="1E293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A8E622-D259-45AF-AB19-B80332A90927}"/>
              </a:ext>
            </a:extLst>
          </p:cNvPr>
          <p:cNvSpPr>
            <a:spLocks noGrp="1"/>
          </p:cNvSpPr>
          <p:nvPr/>
        </p:nvSpPr>
        <p:spPr>
          <a:xfrm>
            <a:off x="507626" y="2543175"/>
            <a:ext cx="57150" cy="819150"/>
          </a:xfrm>
          <a:prstGeom prst="rect">
            <a:avLst/>
          </a:prstGeom>
          <a:solidFill>
            <a:srgbClr val="F59E0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691A289-B185-401E-8717-08F43E67A093}"/>
              </a:ext>
            </a:extLst>
          </p:cNvPr>
          <p:cNvSpPr>
            <a:spLocks noGrp="1"/>
          </p:cNvSpPr>
          <p:nvPr/>
        </p:nvSpPr>
        <p:spPr>
          <a:xfrm>
            <a:off x="698126" y="2657475"/>
            <a:ext cx="2743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75" b="1">
                <a:solidFill>
                  <a:srgbClr val="F59E0B"/>
                </a:solidFill>
              </a:defRPr>
            </a:pPr>
            <a:r>
              <a:rPr kumimoji="0" sz="975" b="1" i="0" u="none" strike="noStrike" kern="1200" cap="none" spc="0" normalizeH="0" baseline="0" noProof="0">
                <a:ln>
                  <a:noFill/>
                </a:ln>
                <a:solidFill>
                  <a:srgbClr val="F59E0B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Local Alignment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F61F09-0641-4D55-920E-E6634FFB4E61}"/>
              </a:ext>
            </a:extLst>
          </p:cNvPr>
          <p:cNvSpPr>
            <a:spLocks noGrp="1"/>
          </p:cNvSpPr>
          <p:nvPr/>
        </p:nvSpPr>
        <p:spPr>
          <a:xfrm>
            <a:off x="698126" y="2905125"/>
            <a:ext cx="2762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9303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38" b="0">
                <a:solidFill>
                  <a:srgbClr val="F1F5F9"/>
                </a:solidFill>
              </a:defRPr>
            </a:pPr>
            <a:r>
              <a:rPr kumimoji="0" sz="938" b="0" i="0" u="none" strike="noStrike" kern="1200" cap="none" spc="0" normalizeH="0" baseline="0" noProof="0">
                <a:ln>
                  <a:noFill/>
                </a:ln>
                <a:solidFill>
                  <a:srgbClr val="F1F5F9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Adjusted to match the snowflake evaluation workload before comparison.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D2788E-74F1-4048-A73C-CF8C17680C56}"/>
              </a:ext>
            </a:extLst>
          </p:cNvPr>
          <p:cNvSpPr>
            <a:spLocks noGrp="1"/>
          </p:cNvSpPr>
          <p:nvPr/>
        </p:nvSpPr>
        <p:spPr>
          <a:xfrm>
            <a:off x="3746126" y="1438275"/>
            <a:ext cx="4800600" cy="29337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4"/>
          <a:srcRect t="119" b="119"/>
          <a:stretch>
            <a:fillRect/>
          </a:stretch>
        </p:blipFill>
        <p:spPr>
          <a:xfrm>
            <a:off x="3860426" y="1552575"/>
            <a:ext cx="4572000" cy="257175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44B0BA76-C665-4E06-83B9-60EFB71ADCF2}"/>
              </a:ext>
            </a:extLst>
          </p:cNvPr>
          <p:cNvSpPr>
            <a:spLocks noGrp="1"/>
          </p:cNvSpPr>
          <p:nvPr/>
        </p:nvSpPr>
        <p:spPr>
          <a:xfrm>
            <a:off x="3860426" y="4181475"/>
            <a:ext cx="4572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25" b="0">
                <a:solidFill>
                  <a:srgbClr val="94A3B8"/>
                </a:solidFill>
              </a:defRPr>
            </a:pPr>
            <a:r>
              <a:rPr kumimoji="0" sz="82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Aligned snowflake capture from the local WorkGraphPlayground clone.</a:t>
            </a:r>
          </a:p>
        </p:txBody>
      </p:sp>
    </p:spTree>
    <p:extLst>
      <p:ext uri="{BB962C8B-B14F-4D97-AF65-F5344CB8AC3E}">
        <p14:creationId xmlns:p14="http://schemas.microsoft.com/office/powerpoint/2010/main" val="1224032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>
            <a:extLst>
              <a:ext uri="{FF2B5EF4-FFF2-40B4-BE49-F238E27FC236}">
                <a16:creationId xmlns:a16="http://schemas.microsoft.com/office/drawing/2014/main" id="{E16320EF-63A9-4A9F-8DF2-F28D4E949B3D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Evaluation - Profile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B2B3BBD-BE83-48E4-8794-E9E8B5E903AE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E7BFCA-460C-49CA-B8B7-FE7FD86EAB99}"/>
              </a:ext>
            </a:extLst>
          </p:cNvPr>
          <p:cNvSpPr>
            <a:spLocks noGrp="1"/>
          </p:cNvSpPr>
          <p:nvPr/>
        </p:nvSpPr>
        <p:spPr>
          <a:xfrm>
            <a:off x="552450" y="971550"/>
            <a:ext cx="803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5" b="0">
                <a:solidFill>
                  <a:srgbClr val="94A3B8"/>
                </a:solidFill>
              </a:defRPr>
            </a:pP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Summary from monthly_report_0424_profile_result.md with FPS kept as secondary callouts.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552450" y="1162050"/>
          <a:ext cx="8001000" cy="1523998"/>
        </p:xfrm>
        <a:graphic>
          <a:graphicData uri="http://schemas.openxmlformats.org/drawingml/2006/table">
            <a:tbl>
              <a:tblPr/>
              <a:tblGrid>
                <a:gridCol w="238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825" b="1">
                          <a:solidFill>
                            <a:srgbClr val="FFFFFF"/>
                          </a:solidFill>
                        </a:rPr>
                        <a:t>Config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06B6D4"/>
                          </a:solidFill>
                        </a:rPr>
                        <a:t>FPS (Hz)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Frame duration (us)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25" b="1">
                          <a:solidFill>
                            <a:srgbClr val="F59E0B"/>
                          </a:solidFill>
                        </a:rPr>
                        <a:t>Compute duration (us)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>
                      <a:solidFill>
                        <a:srgbClr val="334155"/>
                      </a:solidFill>
                      <a:prstDash val="soli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6,920.1 Hz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144.507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34.791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pt-96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298.6 Hz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3,349.001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3,174.813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wg8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6,157.8 Hz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162.397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50.183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19.5 Hz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51,407.951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51,078.034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6.5 Hz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153,038.548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714">
                <a:tc>
                  <a:txBody>
                    <a:bodyPr/>
                    <a:lstStyle/>
                    <a:p>
                      <a:pPr algn="l"/>
                      <a:r>
                        <a:rPr sz="788" b="1">
                          <a:solidFill>
                            <a:srgbClr val="FFFFFF"/>
                          </a:solidFill>
                        </a:rPr>
                        <a:t>pt8-96x32-reverse-worker</a:t>
                      </a:r>
                    </a:p>
                  </a:txBody>
                  <a:tcPr marL="76200" marR="76200" marT="28575" marB="28575">
                    <a:lnL w="9525">
                      <a:solidFill>
                        <a:srgbClr val="334155"/>
                      </a:solidFill>
                      <a:prstDash val="soli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6.3 Hz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F1F5F9"/>
                          </a:solidFill>
                        </a:rPr>
                        <a:t>157,964.844 us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88" b="0">
                          <a:solidFill>
                            <a:srgbClr val="94A3B8"/>
                          </a:solidFill>
                        </a:rPr>
                        <a:t>N/A</a:t>
                      </a:r>
                    </a:p>
                  </a:txBody>
                  <a:tcPr marL="76200" marR="76200" marT="28575" marB="28575">
                    <a:lnL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334155"/>
                      </a:solidFill>
                      <a:prstDash val="solid"/>
                    </a:lnR>
                    <a:lnT w="9525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334155"/>
                      </a:solidFill>
                      <a:prstDash val="solid"/>
                    </a:lnB>
                    <a:solidFill>
                      <a:srgbClr val="162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2132DEA4-2AD1-4427-804F-9E267D86CD7F}"/>
              </a:ext>
            </a:extLst>
          </p:cNvPr>
          <p:cNvSpPr>
            <a:spLocks noGrp="1"/>
          </p:cNvSpPr>
          <p:nvPr/>
        </p:nvSpPr>
        <p:spPr>
          <a:xfrm>
            <a:off x="552450" y="2867025"/>
            <a:ext cx="8001000" cy="15621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354598E-7EA6-44E7-856F-432722480E02}"/>
              </a:ext>
            </a:extLst>
          </p:cNvPr>
          <p:cNvSpPr>
            <a:spLocks noGrp="1"/>
          </p:cNvSpPr>
          <p:nvPr/>
        </p:nvSpPr>
        <p:spPr>
          <a:xfrm>
            <a:off x="742949" y="2952750"/>
            <a:ext cx="3692769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/>
          </a:bodyPr>
          <a:lstStyle/>
          <a:p>
            <a:r>
              <a:rPr sz="863" b="1" i="0">
                <a:solidFill>
                  <a:schemeClr val="bg2"/>
                </a:solidFill>
                <a:latin typeface="Calibri"/>
              </a:rPr>
              <a:t>Frame duration (us)</a:t>
            </a:r>
          </a:p>
        </p:txBody>
      </p:sp>
      <p:graphicFrame>
        <p:nvGraphicFramePr>
          <p:cNvPr id="8" name="Chart"/>
          <p:cNvGraphicFramePr/>
          <p:nvPr/>
        </p:nvGraphicFramePr>
        <p:xfrm>
          <a:off x="685799" y="3124200"/>
          <a:ext cx="7570177" cy="1162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00704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Wavefront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– Work Graph / Depth 6</a:t>
            </a:r>
            <a:endParaRPr kumimoji="0" sz="28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5019A79A-EF90-4F47-A3E8-B7DD635B3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79" y="1274669"/>
            <a:ext cx="5913242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76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Wavefront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- Work Graph /  Depth 8</a:t>
            </a:r>
            <a:endParaRPr kumimoji="0" sz="28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A621813-DA0A-42CC-A7D9-9AB86A1F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14238"/>
            <a:ext cx="9144000" cy="251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61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Wavefront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– </a:t>
            </a:r>
            <a:r>
              <a:rPr kumimoji="0" lang="en-US" altLang="zh-CN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Persistent Thread 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/Depth 6</a:t>
            </a:r>
            <a:endParaRPr kumimoji="0" sz="28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1E480D-AFAF-4AA3-A983-A5B046042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3318" y="1076325"/>
            <a:ext cx="6257364" cy="347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012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Wavefront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– </a:t>
            </a:r>
            <a:r>
              <a:rPr kumimoji="0" lang="en-US" altLang="zh-CN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Persistent Thread 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/Depth 8</a:t>
            </a:r>
            <a:endParaRPr kumimoji="0" sz="28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7EBCEABC-A01E-49DC-8D4B-DA8025F7A9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18226"/>
            <a:ext cx="9144000" cy="2107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636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2C0C6CD4-F8F4-4E0A-BDEB-02CA1D162B9A}"/>
              </a:ext>
            </a:extLst>
          </p:cNvPr>
          <p:cNvSpPr>
            <a:spLocks noGrp="1"/>
          </p:cNvSpPr>
          <p:nvPr/>
        </p:nvSpPr>
        <p:spPr>
          <a:xfrm>
            <a:off x="552450" y="276225"/>
            <a:ext cx="80391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rmAutofit lnSpcReduction="10000"/>
          </a:bodyPr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50" b="1">
                <a:solidFill>
                  <a:srgbClr val="FFFFFF"/>
                </a:solidFill>
              </a:defRPr>
            </a:pPr>
            <a:r>
              <a:rPr kumimoji="0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Wavefront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 – </a:t>
            </a:r>
            <a:r>
              <a:rPr kumimoji="0" lang="en-US" altLang="zh-CN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Persistent Thread </a:t>
            </a:r>
            <a:r>
              <a:rPr kumimoji="0" lang="en-US" sz="28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/ Depth 8 / MaxWave</a:t>
            </a:r>
            <a:endParaRPr kumimoji="0" sz="285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60719F-918B-4402-B58B-F41D9108744A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807E498-4312-4E1D-93A5-0199053CA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1632"/>
            <a:ext cx="9144000" cy="2540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218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Content 2"/>
          <p:cNvSpPr txBox="1"/>
          <p:nvPr/>
        </p:nvSpPr>
        <p:spPr>
          <a:xfrm>
            <a:off x="495300" y="1188720"/>
            <a:ext cx="7917180" cy="3017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342900" indent="-171450" algn="l">
              <a:lnSpc>
                <a:spcPct val="125000"/>
              </a:lnSpc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validated a Vulkan persistent-thread producer-consumer network as a D3D12 Work Graph analogue on RDNA 3.</a:t>
            </a:r>
            <a:endParaRPr lang="en-US" sz="1500" dirty="0"/>
          </a:p>
          <a:p>
            <a:pPr marL="342900" indent="-171450" algn="l">
              <a:lnSpc>
                <a:spcPct val="125000"/>
              </a:lnSpc>
              <a:spcBef>
                <a:spcPts val="1400"/>
              </a:spcBef>
              <a:buChar char="•"/>
            </a:pP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POC runs end-to-end for a recursive branching workload with deterministic output.</a:t>
            </a:r>
            <a:endParaRPr lang="en-US" sz="1500" dirty="0"/>
          </a:p>
          <a:p>
            <a:pPr marL="800100" lvl="1" indent="-171450">
              <a:lnSpc>
                <a:spcPct val="125000"/>
              </a:lnSpc>
              <a:spcBef>
                <a:spcPts val="1400"/>
              </a:spcBef>
              <a:buChar char="•"/>
            </a:pPr>
            <a:r>
              <a:rPr lang="en-US" altLang="zh-CN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erformance is still under investigation.</a:t>
            </a:r>
            <a:endParaRPr lang="en-US" sz="1500"/>
          </a:p>
          <a:p>
            <a:pPr marL="342900" indent="-171450" algn="l">
              <a:lnSpc>
                <a:spcPct val="125000"/>
              </a:lnSpc>
              <a:spcBef>
                <a:spcPts val="1400"/>
              </a:spcBef>
              <a:buChar char="•"/>
            </a:pPr>
            <a:r>
              <a:rPr lang="en-US" altLang="zh-CN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50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ighlights </a:t>
            </a:r>
            <a:r>
              <a:rPr lang="en-US" sz="15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considerations in synchronization, queue sizing, role partitioning, and spin-based handoff cost.</a:t>
            </a:r>
            <a:endParaRPr lang="en-US" sz="15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D915F73-7355-423A-A91D-42B3C0D60C09}"/>
              </a:ext>
            </a:extLst>
          </p:cNvPr>
          <p:cNvSpPr>
            <a:spLocks noGrp="1"/>
          </p:cNvSpPr>
          <p:nvPr/>
        </p:nvSpPr>
        <p:spPr>
          <a:xfrm>
            <a:off x="552450" y="866775"/>
            <a:ext cx="1095375" cy="38100"/>
          </a:xfrm>
          <a:prstGeom prst="rect">
            <a:avLst/>
          </a:prstGeom>
          <a:solidFill>
            <a:srgbClr val="06B6D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2704</Words>
  <Application>Microsoft Office PowerPoint</Application>
  <PresentationFormat>如螢幕大小 (16:9)</PresentationFormat>
  <Paragraphs>365</Paragraphs>
  <Slides>20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Consolas</vt:lpstr>
      <vt:lpstr>Office Theme</vt:lpstr>
      <vt:lpstr>Office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Vulkan Persistent Thread Producer-Consumer Network POC - Monthly Report 2026/04</dc:title>
  <dc:subject>PptxGenJS Presentation</dc:subject>
  <dc:creator>LUO-WEN-CHIEN</dc:creator>
  <cp:lastModifiedBy>羅文謙</cp:lastModifiedBy>
  <cp:revision>46</cp:revision>
  <dcterms:created xsi:type="dcterms:W3CDTF">2026-04-23T10:56:43Z</dcterms:created>
  <dcterms:modified xsi:type="dcterms:W3CDTF">2026-04-24T09:04:47Z</dcterms:modified>
</cp:coreProperties>
</file>